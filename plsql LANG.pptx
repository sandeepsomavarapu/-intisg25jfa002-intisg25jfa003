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38"/>
  </p:notesMasterIdLst>
  <p:sldIdLst>
    <p:sldId id="256" r:id="rId2"/>
    <p:sldId id="339" r:id="rId3"/>
    <p:sldId id="257" r:id="rId4"/>
    <p:sldId id="297" r:id="rId5"/>
    <p:sldId id="258" r:id="rId6"/>
    <p:sldId id="259" r:id="rId7"/>
    <p:sldId id="260" r:id="rId8"/>
    <p:sldId id="261" r:id="rId9"/>
    <p:sldId id="262" r:id="rId10"/>
    <p:sldId id="398" r:id="rId11"/>
    <p:sldId id="400" r:id="rId12"/>
    <p:sldId id="399" r:id="rId13"/>
    <p:sldId id="401" r:id="rId14"/>
    <p:sldId id="263" r:id="rId15"/>
    <p:sldId id="264" r:id="rId16"/>
    <p:sldId id="394" r:id="rId17"/>
    <p:sldId id="417" r:id="rId18"/>
    <p:sldId id="418" r:id="rId19"/>
    <p:sldId id="419" r:id="rId20"/>
    <p:sldId id="396" r:id="rId21"/>
    <p:sldId id="397" r:id="rId22"/>
    <p:sldId id="420" r:id="rId23"/>
    <p:sldId id="421" r:id="rId24"/>
    <p:sldId id="343" r:id="rId25"/>
    <p:sldId id="344" r:id="rId26"/>
    <p:sldId id="345" r:id="rId27"/>
    <p:sldId id="346" r:id="rId28"/>
    <p:sldId id="347" r:id="rId29"/>
    <p:sldId id="348" r:id="rId30"/>
    <p:sldId id="349" r:id="rId31"/>
    <p:sldId id="350" r:id="rId32"/>
    <p:sldId id="351" r:id="rId33"/>
    <p:sldId id="352" r:id="rId34"/>
    <p:sldId id="353" r:id="rId35"/>
    <p:sldId id="354" r:id="rId36"/>
    <p:sldId id="355" r:id="rId37"/>
    <p:sldId id="356" r:id="rId38"/>
    <p:sldId id="403" r:id="rId39"/>
    <p:sldId id="404" r:id="rId40"/>
    <p:sldId id="405" r:id="rId41"/>
    <p:sldId id="406" r:id="rId42"/>
    <p:sldId id="407" r:id="rId43"/>
    <p:sldId id="408" r:id="rId44"/>
    <p:sldId id="409" r:id="rId45"/>
    <p:sldId id="410" r:id="rId46"/>
    <p:sldId id="411" r:id="rId47"/>
    <p:sldId id="412" r:id="rId48"/>
    <p:sldId id="413" r:id="rId49"/>
    <p:sldId id="414" r:id="rId50"/>
    <p:sldId id="415" r:id="rId51"/>
    <p:sldId id="422" r:id="rId52"/>
    <p:sldId id="423" r:id="rId53"/>
    <p:sldId id="368" r:id="rId54"/>
    <p:sldId id="369" r:id="rId55"/>
    <p:sldId id="370" r:id="rId56"/>
    <p:sldId id="371" r:id="rId57"/>
    <p:sldId id="372" r:id="rId58"/>
    <p:sldId id="373" r:id="rId59"/>
    <p:sldId id="374" r:id="rId60"/>
    <p:sldId id="375" r:id="rId61"/>
    <p:sldId id="376" r:id="rId62"/>
    <p:sldId id="377" r:id="rId63"/>
    <p:sldId id="360" r:id="rId64"/>
    <p:sldId id="361" r:id="rId65"/>
    <p:sldId id="362" r:id="rId66"/>
    <p:sldId id="363" r:id="rId67"/>
    <p:sldId id="364" r:id="rId68"/>
    <p:sldId id="428" r:id="rId69"/>
    <p:sldId id="429" r:id="rId70"/>
    <p:sldId id="430" r:id="rId71"/>
    <p:sldId id="431" r:id="rId72"/>
    <p:sldId id="432" r:id="rId73"/>
    <p:sldId id="433" r:id="rId74"/>
    <p:sldId id="434" r:id="rId75"/>
    <p:sldId id="435" r:id="rId76"/>
    <p:sldId id="436" r:id="rId77"/>
    <p:sldId id="437" r:id="rId78"/>
    <p:sldId id="438" r:id="rId79"/>
    <p:sldId id="424" r:id="rId80"/>
    <p:sldId id="425" r:id="rId81"/>
    <p:sldId id="336" r:id="rId82"/>
    <p:sldId id="280" r:id="rId83"/>
    <p:sldId id="281" r:id="rId84"/>
    <p:sldId id="282" r:id="rId85"/>
    <p:sldId id="283" r:id="rId86"/>
    <p:sldId id="284" r:id="rId87"/>
    <p:sldId id="337" r:id="rId88"/>
    <p:sldId id="286" r:id="rId89"/>
    <p:sldId id="287" r:id="rId90"/>
    <p:sldId id="288" r:id="rId91"/>
    <p:sldId id="334" r:id="rId92"/>
    <p:sldId id="290" r:id="rId93"/>
    <p:sldId id="291" r:id="rId94"/>
    <p:sldId id="292" r:id="rId95"/>
    <p:sldId id="293" r:id="rId96"/>
    <p:sldId id="294" r:id="rId97"/>
    <p:sldId id="295" r:id="rId98"/>
    <p:sldId id="426" r:id="rId99"/>
    <p:sldId id="427" r:id="rId100"/>
    <p:sldId id="379" r:id="rId101"/>
    <p:sldId id="380" r:id="rId102"/>
    <p:sldId id="381" r:id="rId103"/>
    <p:sldId id="382" r:id="rId104"/>
    <p:sldId id="383" r:id="rId105"/>
    <p:sldId id="384" r:id="rId106"/>
    <p:sldId id="387" r:id="rId107"/>
    <p:sldId id="388" r:id="rId108"/>
    <p:sldId id="389" r:id="rId109"/>
    <p:sldId id="391" r:id="rId110"/>
    <p:sldId id="393" r:id="rId111"/>
    <p:sldId id="392" r:id="rId112"/>
    <p:sldId id="310" r:id="rId113"/>
    <p:sldId id="311" r:id="rId114"/>
    <p:sldId id="312" r:id="rId115"/>
    <p:sldId id="314" r:id="rId116"/>
    <p:sldId id="315" r:id="rId117"/>
    <p:sldId id="316" r:id="rId118"/>
    <p:sldId id="317" r:id="rId119"/>
    <p:sldId id="318" r:id="rId120"/>
    <p:sldId id="319" r:id="rId121"/>
    <p:sldId id="320" r:id="rId122"/>
    <p:sldId id="321" r:id="rId123"/>
    <p:sldId id="322" r:id="rId124"/>
    <p:sldId id="323" r:id="rId125"/>
    <p:sldId id="324" r:id="rId126"/>
    <p:sldId id="325" r:id="rId127"/>
    <p:sldId id="326" r:id="rId128"/>
    <p:sldId id="327" r:id="rId129"/>
    <p:sldId id="328" r:id="rId130"/>
    <p:sldId id="329" r:id="rId131"/>
    <p:sldId id="330" r:id="rId132"/>
    <p:sldId id="331" r:id="rId133"/>
    <p:sldId id="332" r:id="rId134"/>
    <p:sldId id="333" r:id="rId135"/>
    <p:sldId id="439" r:id="rId136"/>
    <p:sldId id="276" r:id="rId1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9548" autoAdjust="0"/>
    <p:restoredTop sz="94660" autoAdjust="0"/>
  </p:normalViewPr>
  <p:slideViewPr>
    <p:cSldViewPr>
      <p:cViewPr>
        <p:scale>
          <a:sx n="68" d="100"/>
          <a:sy n="68" d="100"/>
        </p:scale>
        <p:origin x="-1284" y="-480"/>
      </p:cViewPr>
      <p:guideLst>
        <p:guide orient="horz" pos="2160"/>
        <p:guide pos="2880"/>
      </p:guideLst>
    </p:cSldViewPr>
  </p:slideViewPr>
  <p:outlineViewPr>
    <p:cViewPr>
      <p:scale>
        <a:sx n="33" d="100"/>
        <a:sy n="33" d="100"/>
      </p:scale>
      <p:origin x="84" y="107802"/>
    </p:cViewPr>
  </p:outlineViewPr>
  <p:notesTextViewPr>
    <p:cViewPr>
      <p:scale>
        <a:sx n="100" d="100"/>
        <a:sy n="100" d="100"/>
      </p:scale>
      <p:origin x="0" y="0"/>
    </p:cViewPr>
  </p:notesTextViewPr>
  <p:sorterViewPr>
    <p:cViewPr>
      <p:scale>
        <a:sx n="20" d="100"/>
        <a:sy n="20"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968DAB-135D-433B-88FD-10003E61B950}" type="datetimeFigureOut">
              <a:rPr lang="en-US" smtClean="0"/>
              <a:pPr/>
              <a:t>05-Jun-17</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403341-AE23-4EC1-B35B-ABB23A97CD07}" type="slidenum">
              <a:rPr lang="en-IN" smtClean="0"/>
              <a:pPr/>
              <a:t>‹#›</a:t>
            </a:fld>
            <a:endParaRPr lang="en-IN"/>
          </a:p>
        </p:txBody>
      </p:sp>
    </p:spTree>
    <p:extLst>
      <p:ext uri="{BB962C8B-B14F-4D97-AF65-F5344CB8AC3E}">
        <p14:creationId xmlns="" xmlns:p14="http://schemas.microsoft.com/office/powerpoint/2010/main" val="4266078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4403341-AE23-4EC1-B35B-ABB23A97CD07}" type="slidenum">
              <a:rPr lang="en-IN" smtClean="0"/>
              <a:pPr/>
              <a:t>3</a:t>
            </a:fld>
            <a:endParaRPr lang="en-IN"/>
          </a:p>
        </p:txBody>
      </p:sp>
    </p:spTree>
    <p:extLst>
      <p:ext uri="{BB962C8B-B14F-4D97-AF65-F5344CB8AC3E}">
        <p14:creationId xmlns="" xmlns:p14="http://schemas.microsoft.com/office/powerpoint/2010/main" val="1668973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4403341-AE23-4EC1-B35B-ABB23A97CD07}" type="slidenum">
              <a:rPr lang="en-IN" smtClean="0"/>
              <a:pPr/>
              <a:t>20</a:t>
            </a:fld>
            <a:endParaRPr lang="en-IN"/>
          </a:p>
        </p:txBody>
      </p:sp>
    </p:spTree>
    <p:extLst>
      <p:ext uri="{BB962C8B-B14F-4D97-AF65-F5344CB8AC3E}">
        <p14:creationId xmlns="" xmlns:p14="http://schemas.microsoft.com/office/powerpoint/2010/main" val="3695945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b="0" kern="1200" baseline="0" dirty="0" smtClean="0">
                <a:solidFill>
                  <a:schemeClr val="tx1"/>
                </a:solidFill>
                <a:latin typeface="Times New Roman" pitchFamily="18" charset="0"/>
                <a:ea typeface="+mn-ea"/>
                <a:cs typeface="Times New Roman" pitchFamily="18" charset="0"/>
              </a:rPr>
              <a:t>i.e., In a program, if a condition is met then we wanted to execute certain portion of code and if condition is</a:t>
            </a:r>
          </a:p>
          <a:p>
            <a:r>
              <a:rPr lang="en-IN" sz="1200" b="0" kern="1200" baseline="0" dirty="0" smtClean="0">
                <a:solidFill>
                  <a:schemeClr val="tx1"/>
                </a:solidFill>
                <a:latin typeface="Times New Roman" pitchFamily="18" charset="0"/>
                <a:ea typeface="+mn-ea"/>
                <a:cs typeface="Times New Roman" pitchFamily="18" charset="0"/>
              </a:rPr>
              <a:t>not met then we wanted to execute different portion of code.</a:t>
            </a:r>
            <a:endParaRPr lang="en-IN" b="0"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ECFFFA80-F4E7-4D5F-99CE-4BB92FD4AF8E}" type="slidenum">
              <a:rPr lang="en-IN" smtClean="0"/>
              <a:pPr/>
              <a:t>24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From the above statement, Emp_rec is created with type Emp_type;</a:t>
            </a:r>
            <a:endParaRPr lang="en-IN" dirty="0"/>
          </a:p>
        </p:txBody>
      </p:sp>
      <p:sp>
        <p:nvSpPr>
          <p:cNvPr id="4" name="Slide Number Placeholder 3"/>
          <p:cNvSpPr>
            <a:spLocks noGrp="1"/>
          </p:cNvSpPr>
          <p:nvPr>
            <p:ph type="sldNum" sz="quarter" idx="10"/>
          </p:nvPr>
        </p:nvSpPr>
        <p:spPr/>
        <p:txBody>
          <a:bodyPr/>
          <a:lstStyle/>
          <a:p>
            <a:fld id="{ECFFFA80-F4E7-4D5F-99CE-4BB92FD4AF8E}" type="slidenum">
              <a:rPr lang="en-IN" smtClean="0"/>
              <a:pPr/>
              <a:t>66</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p:spPr>
      </p:sp>
      <p:sp>
        <p:nvSpPr>
          <p:cNvPr id="153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dirty="0" smtClean="0"/>
          </a:p>
        </p:txBody>
      </p:sp>
      <p:sp>
        <p:nvSpPr>
          <p:cNvPr id="15364"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IN" dirty="0" smtClean="0"/>
              <a:t>Proven </a:t>
            </a:r>
            <a:r>
              <a:rPr lang="en-IN" dirty="0" err="1" smtClean="0"/>
              <a:t>dw</a:t>
            </a:r>
            <a:endParaRPr lang="en-IN" smtClean="0"/>
          </a:p>
        </p:txBody>
      </p:sp>
      <p:sp>
        <p:nvSpPr>
          <p:cNvPr id="15365" name="Slide Number Placeholder 4"/>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0CD1BC-E0CB-4F5C-9EB1-EEAFDCE8055D}" type="slidenum">
              <a:rPr lang="en-IN" smtClean="0"/>
              <a:pPr/>
              <a:t>68</a:t>
            </a:fld>
            <a:endParaRPr lang="en-I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89B17456-54F7-4B4F-A651-CC282C15A037}" type="slidenum">
              <a:rPr lang="en-IN" smtClean="0"/>
              <a:pPr/>
              <a:t>84</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EEF25E56-E317-4CE0-86B2-A8202BBEDFFF}" type="slidenum">
              <a:rPr lang="en-IN" smtClean="0"/>
              <a:pPr/>
              <a:t>124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83958DE1-F092-40E9-8A36-07E4EA88A441}" type="datetime1">
              <a:rPr lang="en-US" smtClean="0"/>
              <a:pPr/>
              <a:t>05-Jun-17</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r>
              <a:rPr lang="en-US" smtClean="0"/>
              <a:t>www.provendwconsultant.com</a:t>
            </a:r>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FDB8AAE-2B2D-4FD0-97D7-D43AC58C5550}" type="datetime1">
              <a:rPr lang="en-US" smtClean="0"/>
              <a:pPr/>
              <a:t>05-Jun-17</a:t>
            </a:fld>
            <a:endParaRPr lang="en-US"/>
          </a:p>
        </p:txBody>
      </p:sp>
      <p:sp>
        <p:nvSpPr>
          <p:cNvPr id="5" name="Footer Placeholder 4"/>
          <p:cNvSpPr>
            <a:spLocks noGrp="1"/>
          </p:cNvSpPr>
          <p:nvPr>
            <p:ph type="ftr" sz="quarter" idx="11"/>
          </p:nvPr>
        </p:nvSpPr>
        <p:spPr/>
        <p:txBody>
          <a:bodyPr/>
          <a:lstStyle>
            <a:extLst/>
          </a:lstStyle>
          <a:p>
            <a:r>
              <a:rPr kumimoji="0" lang="en-US" smtClean="0"/>
              <a:t>www.provendwconsultant.com</a:t>
            </a:r>
            <a:endParaRPr kumimoji="0"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DCA6D004-910F-4986-9126-20FED1432FD4}" type="datetime1">
              <a:rPr lang="en-US" smtClean="0"/>
              <a:pPr/>
              <a:t>05-Jun-17</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r>
              <a:rPr kumimoji="0" lang="en-US" smtClean="0">
                <a:solidFill>
                  <a:schemeClr val="tx2"/>
                </a:solidFill>
              </a:rPr>
              <a:t>www.provendwconsultant.com</a:t>
            </a:r>
            <a:endParaRPr kumimoji="0" lang="en-US" dirty="0">
              <a:solidFill>
                <a:schemeClr val="tx2"/>
              </a:solidFill>
            </a:endParaRPr>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9C79EC5-F36A-4FDA-93A1-273BFF8A752B}" type="datetime1">
              <a:rPr lang="en-US" smtClean="0"/>
              <a:pPr/>
              <a:t>05-Jun-17</a:t>
            </a:fld>
            <a:endParaRPr lang="en-US"/>
          </a:p>
        </p:txBody>
      </p:sp>
      <p:sp>
        <p:nvSpPr>
          <p:cNvPr id="6" name="Footer Placeholder 5"/>
          <p:cNvSpPr>
            <a:spLocks noGrp="1"/>
          </p:cNvSpPr>
          <p:nvPr>
            <p:ph type="ftr" sz="quarter" idx="11"/>
          </p:nvPr>
        </p:nvSpPr>
        <p:spPr/>
        <p:txBody>
          <a:bodyPr/>
          <a:lstStyle>
            <a:extLst/>
          </a:lstStyle>
          <a:p>
            <a:r>
              <a:rPr kumimoji="0" lang="en-US" smtClean="0"/>
              <a:t>www.provendwconsultant.com</a:t>
            </a:r>
            <a:endParaRPr kumimoji="0"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13BF8BC-7B10-4CBC-A1F5-85616F8426E6}" type="datetime1">
              <a:rPr lang="en-US" smtClean="0"/>
              <a:pPr/>
              <a:t>05-Jun-17</a:t>
            </a:fld>
            <a:endParaRPr lang="en-US"/>
          </a:p>
        </p:txBody>
      </p:sp>
      <p:sp>
        <p:nvSpPr>
          <p:cNvPr id="8" name="Footer Placeholder 7"/>
          <p:cNvSpPr>
            <a:spLocks noGrp="1"/>
          </p:cNvSpPr>
          <p:nvPr>
            <p:ph type="ftr" sz="quarter" idx="11"/>
          </p:nvPr>
        </p:nvSpPr>
        <p:spPr/>
        <p:txBody>
          <a:bodyPr/>
          <a:lstStyle>
            <a:extLst/>
          </a:lstStyle>
          <a:p>
            <a:r>
              <a:rPr kumimoji="0" lang="en-US" smtClean="0"/>
              <a:t>www.provendwconsultant.com</a:t>
            </a:r>
            <a:endParaRPr kumimoji="0"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3CD0F48-1B69-40F6-A848-419E1416CDCB}" type="datetime1">
              <a:rPr lang="en-US" smtClean="0"/>
              <a:pPr/>
              <a:t>05-Jun-17</a:t>
            </a:fld>
            <a:endParaRPr lang="en-US"/>
          </a:p>
        </p:txBody>
      </p:sp>
      <p:sp>
        <p:nvSpPr>
          <p:cNvPr id="4" name="Footer Placeholder 3"/>
          <p:cNvSpPr>
            <a:spLocks noGrp="1"/>
          </p:cNvSpPr>
          <p:nvPr>
            <p:ph type="ftr" sz="quarter" idx="11"/>
          </p:nvPr>
        </p:nvSpPr>
        <p:spPr/>
        <p:txBody>
          <a:bodyPr/>
          <a:lstStyle>
            <a:extLst/>
          </a:lstStyle>
          <a:p>
            <a:r>
              <a:rPr kumimoji="0" lang="en-US" smtClean="0"/>
              <a:t>www.provendwconsultant.com</a:t>
            </a:r>
            <a:endParaRPr kumimoji="0"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E14A00E-DAA6-4347-839C-7A10075FB094}" type="datetime1">
              <a:rPr lang="en-US" smtClean="0"/>
              <a:pPr/>
              <a:t>05-Jun-17</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r>
              <a:rPr kumimoji="0" lang="en-US" smtClean="0">
                <a:solidFill>
                  <a:schemeClr val="tx2"/>
                </a:solidFill>
              </a:rPr>
              <a:t>www.provendwconsultant.com</a:t>
            </a:r>
            <a:endParaRPr kumimoji="0" lang="en-US" dirty="0">
              <a:solidFill>
                <a:schemeClr val="tx2"/>
              </a:solidFill>
            </a:endParaRPr>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30FD340-3537-4972-BD32-D0C87EA223A1}" type="datetime1">
              <a:rPr lang="en-US" smtClean="0"/>
              <a:pPr/>
              <a:t>05-Jun-17</a:t>
            </a:fld>
            <a:endParaRPr lang="en-US"/>
          </a:p>
        </p:txBody>
      </p:sp>
      <p:sp>
        <p:nvSpPr>
          <p:cNvPr id="6" name="Footer Placeholder 5"/>
          <p:cNvSpPr>
            <a:spLocks noGrp="1"/>
          </p:cNvSpPr>
          <p:nvPr>
            <p:ph type="ftr" sz="quarter" idx="11"/>
          </p:nvPr>
        </p:nvSpPr>
        <p:spPr/>
        <p:txBody>
          <a:bodyPr/>
          <a:lstStyle>
            <a:extLst/>
          </a:lstStyle>
          <a:p>
            <a:r>
              <a:rPr kumimoji="0" lang="en-US" smtClean="0"/>
              <a:t>www.provendwconsultant.com</a:t>
            </a:r>
            <a:endParaRPr kumimoji="0"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65C62AFE-0FB7-46AB-B6AE-CC5F427E585C}" type="datetime1">
              <a:rPr lang="en-US" smtClean="0"/>
              <a:pPr/>
              <a:t>05-Jun-17</a:t>
            </a:fld>
            <a:endParaRPr lang="en-US"/>
          </a:p>
        </p:txBody>
      </p:sp>
      <p:sp>
        <p:nvSpPr>
          <p:cNvPr id="6" name="Footer Placeholder 5"/>
          <p:cNvSpPr>
            <a:spLocks noGrp="1"/>
          </p:cNvSpPr>
          <p:nvPr>
            <p:ph type="ftr" sz="quarter" idx="11"/>
          </p:nvPr>
        </p:nvSpPr>
        <p:spPr/>
        <p:txBody>
          <a:bodyPr/>
          <a:lstStyle>
            <a:extLst/>
          </a:lstStyle>
          <a:p>
            <a:r>
              <a:rPr kumimoji="0" lang="en-US" smtClean="0"/>
              <a:t>www.provendwconsultant.com</a:t>
            </a:r>
            <a:endParaRPr kumimoji="0"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875AC43-41EF-46E1-AE5C-E4EE2710F93E}" type="datetime1">
              <a:rPr lang="en-US" smtClean="0"/>
              <a:pPr/>
              <a:t>05-Jun-17</a:t>
            </a:fld>
            <a:endParaRPr lang="en-US"/>
          </a:p>
        </p:txBody>
      </p:sp>
      <p:sp>
        <p:nvSpPr>
          <p:cNvPr id="5" name="Footer Placeholder 4"/>
          <p:cNvSpPr>
            <a:spLocks noGrp="1"/>
          </p:cNvSpPr>
          <p:nvPr>
            <p:ph type="ftr" sz="quarter" idx="11"/>
          </p:nvPr>
        </p:nvSpPr>
        <p:spPr/>
        <p:txBody>
          <a:bodyPr/>
          <a:lstStyle>
            <a:extLst/>
          </a:lstStyle>
          <a:p>
            <a:r>
              <a:rPr kumimoji="0" lang="en-US" smtClean="0"/>
              <a:t>www.provendwconsultant.com</a:t>
            </a:r>
            <a:endParaRPr kumimoji="0"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4D6E1ECC-6CCC-49CA-822A-E8CFB3FD3ED7}" type="datetime1">
              <a:rPr lang="en-US" smtClean="0"/>
              <a:pPr/>
              <a:t>05-Jun-17</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r>
              <a:rPr kumimoji="0" lang="en-US" smtClean="0"/>
              <a:t>www.provendwconsultant.com</a:t>
            </a:r>
            <a:endParaRPr kumimoji="0"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E4E947DE-57CB-4E06-AF96-C2FFC3A6FCAE}" type="datetime1">
              <a:rPr lang="en-US" smtClean="0"/>
              <a:pPr/>
              <a:t>05-Jun-17</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pPr algn="r" eaLnBrk="1" latinLnBrk="0" hangingPunct="1"/>
            <a:r>
              <a:rPr kumimoji="0" lang="en-US" sz="1000" smtClean="0">
                <a:solidFill>
                  <a:schemeClr val="tx2"/>
                </a:solidFill>
              </a:rPr>
              <a:t>www.provendwconsultant.com</a:t>
            </a:r>
            <a:endParaRPr kumimoji="0" lang="en-US" sz="1000" dirty="0">
              <a:solidFill>
                <a:schemeClr val="tx2"/>
              </a:solidFill>
            </a:endParaRPr>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9.gif"/></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hyperlink" Target="EXAMPLES/package%20body.txt"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EXAMPLES/package%20body.txt" TargetMode="External"/><Relationship Id="rId1" Type="http://schemas.openxmlformats.org/officeDocument/2006/relationships/slideLayout" Target="../slideLayouts/slideLayout2.xml"/><Relationship Id="rId5" Type="http://schemas.openxmlformats.org/officeDocument/2006/relationships/hyperlink" Target="EXAMPLES/package%20specification.txt" TargetMode="Externa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10" descr="image001.png"/>
          <p:cNvPicPr>
            <a:picLocks noChangeAspect="1"/>
          </p:cNvPicPr>
          <p:nvPr/>
        </p:nvPicPr>
        <p:blipFill>
          <a:blip r:embed="rId2" cstate="print"/>
          <a:srcRect/>
          <a:stretch>
            <a:fillRect/>
          </a:stretch>
        </p:blipFill>
        <p:spPr bwMode="auto">
          <a:xfrm>
            <a:off x="2895600" y="1981200"/>
            <a:ext cx="5575475" cy="2049364"/>
          </a:xfrm>
          <a:prstGeom prst="rect">
            <a:avLst/>
          </a:prstGeom>
          <a:noFill/>
          <a:ln w="9525">
            <a:noFill/>
            <a:miter lim="800000"/>
            <a:headEnd/>
            <a:tailEnd/>
          </a:ln>
        </p:spPr>
      </p:pic>
      <p:sp>
        <p:nvSpPr>
          <p:cNvPr id="4"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11" name="Title 1"/>
          <p:cNvSpPr txBox="1">
            <a:spLocks/>
          </p:cNvSpPr>
          <p:nvPr/>
        </p:nvSpPr>
        <p:spPr bwMode="auto">
          <a:xfrm>
            <a:off x="3048000" y="1828800"/>
            <a:ext cx="7239000" cy="2438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5400" b="1" i="0" u="none" strike="noStrike" kern="0" cap="none" spc="0" normalizeH="0" baseline="0" noProof="0" dirty="0" smtClean="0">
                <a:ln>
                  <a:noFill/>
                </a:ln>
                <a:solidFill>
                  <a:schemeClr val="bg1"/>
                </a:solidFill>
                <a:effectLst/>
                <a:uLnTx/>
                <a:uFillTx/>
                <a:latin typeface="Times New Roman" pitchFamily="18" charset="0"/>
                <a:ea typeface="+mj-ea"/>
                <a:cs typeface="Times New Roman" pitchFamily="18" charset="0"/>
                <a:sym typeface="Arial" charset="0"/>
              </a:rPr>
              <a:t>PL/SQL</a:t>
            </a:r>
            <a:endParaRPr kumimoji="0" lang="en-IN" sz="5400" b="1" i="0" u="none" strike="noStrike" kern="0" cap="none" spc="0" normalizeH="0" baseline="0" noProof="0" dirty="0">
              <a:ln>
                <a:noFill/>
              </a:ln>
              <a:solidFill>
                <a:schemeClr val="bg1"/>
              </a:solidFill>
              <a:effectLst/>
              <a:uLnTx/>
              <a:uFillTx/>
              <a:latin typeface="Times New Roman" pitchFamily="18" charset="0"/>
              <a:ea typeface="+mj-ea"/>
              <a:cs typeface="Times New Roman" pitchFamily="18" charset="0"/>
              <a:sym typeface="Arial" charset="0"/>
            </a:endParaRPr>
          </a:p>
        </p:txBody>
      </p:sp>
      <p:pic>
        <p:nvPicPr>
          <p:cNvPr id="12"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13" name="Rounded Rectangle 12"/>
          <p:cNvSpPr/>
          <p:nvPr/>
        </p:nvSpPr>
        <p:spPr>
          <a:xfrm>
            <a:off x="5486400" y="5029200"/>
            <a:ext cx="36576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SRIKANTH KESHAVENA</a:t>
            </a:r>
            <a:endParaRPr lang="en-IN" dirty="0"/>
          </a:p>
        </p:txBody>
      </p:sp>
      <p:sp>
        <p:nvSpPr>
          <p:cNvPr id="15" name="Rounded Rectangle 14"/>
          <p:cNvSpPr/>
          <p:nvPr/>
        </p:nvSpPr>
        <p:spPr>
          <a:xfrm>
            <a:off x="4038600" y="5029200"/>
            <a:ext cx="1295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NAME:</a:t>
            </a:r>
            <a:endParaRPr lang="en-IN" dirty="0"/>
          </a:p>
        </p:txBody>
      </p:sp>
      <p:sp>
        <p:nvSpPr>
          <p:cNvPr id="16" name="Rounded Rectangle 15"/>
          <p:cNvSpPr/>
          <p:nvPr/>
        </p:nvSpPr>
        <p:spPr>
          <a:xfrm>
            <a:off x="4038600" y="5715000"/>
            <a:ext cx="12954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EMAIL ID:</a:t>
            </a:r>
            <a:endParaRPr lang="en-IN" dirty="0"/>
          </a:p>
        </p:txBody>
      </p:sp>
      <p:sp>
        <p:nvSpPr>
          <p:cNvPr id="18" name="Rounded Rectangle 17"/>
          <p:cNvSpPr/>
          <p:nvPr/>
        </p:nvSpPr>
        <p:spPr>
          <a:xfrm>
            <a:off x="5486400" y="5715000"/>
            <a:ext cx="36576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srikanth@provendw.co.in</a:t>
            </a:r>
            <a:endParaRPr lang="en-IN" dirty="0"/>
          </a:p>
        </p:txBody>
      </p:sp>
      <p:sp>
        <p:nvSpPr>
          <p:cNvPr id="10"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IN" dirty="0" smtClean="0">
                <a:latin typeface="Times New Roman" pitchFamily="18" charset="0"/>
                <a:cs typeface="Times New Roman" pitchFamily="18" charset="0"/>
              </a:rPr>
              <a:t>AGENDA</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sz="2400" dirty="0" smtClean="0">
                <a:latin typeface="Times New Roman" pitchFamily="18" charset="0"/>
                <a:cs typeface="Times New Roman" pitchFamily="18" charset="0"/>
              </a:rPr>
              <a:t>INTRODUCTION ABOUT PL/SQL</a:t>
            </a:r>
          </a:p>
          <a:p>
            <a:r>
              <a:rPr lang="en-IN" sz="2400" dirty="0" smtClean="0">
                <a:latin typeface="Times New Roman" pitchFamily="18" charset="0"/>
                <a:cs typeface="Times New Roman" pitchFamily="18" charset="0"/>
              </a:rPr>
              <a:t>ADVANTAGES OF PL/SQL</a:t>
            </a:r>
          </a:p>
          <a:p>
            <a:r>
              <a:rPr lang="en-IN" sz="2400" dirty="0" smtClean="0">
                <a:latin typeface="Times New Roman" pitchFamily="18" charset="0"/>
                <a:cs typeface="Times New Roman" pitchFamily="18" charset="0"/>
              </a:rPr>
              <a:t>VARIABLES AND DATA TYPES</a:t>
            </a:r>
          </a:p>
          <a:p>
            <a:r>
              <a:rPr lang="en-IN" sz="2400" dirty="0" smtClean="0">
                <a:latin typeface="Times New Roman" pitchFamily="18" charset="0"/>
                <a:cs typeface="Times New Roman" pitchFamily="18" charset="0"/>
              </a:rPr>
              <a:t>CONDITIONAL STATEMENTS</a:t>
            </a:r>
          </a:p>
          <a:p>
            <a:r>
              <a:rPr lang="en-IN" sz="2400" dirty="0" smtClean="0">
                <a:latin typeface="Times New Roman" pitchFamily="18" charset="0"/>
                <a:cs typeface="Times New Roman" pitchFamily="18" charset="0"/>
              </a:rPr>
              <a:t>ITERATIVE STATEMENTS</a:t>
            </a:r>
          </a:p>
          <a:p>
            <a:r>
              <a:rPr lang="en-IN" sz="2400" dirty="0" smtClean="0">
                <a:latin typeface="Times New Roman" pitchFamily="18" charset="0"/>
                <a:cs typeface="Times New Roman" pitchFamily="18" charset="0"/>
              </a:rPr>
              <a:t>CURSORS </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latin typeface="Times New Roman" pitchFamily="18" charset="0"/>
                <a:cs typeface="Times New Roman" pitchFamily="18" charset="0"/>
              </a:rPr>
              <a:t>AGENDA</a:t>
            </a:r>
            <a:endParaRPr lang="en-IN"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US" sz="2800" dirty="0" smtClean="0">
                <a:latin typeface="Times New Roman" pitchFamily="18" charset="0"/>
                <a:cs typeface="Times New Roman" pitchFamily="18" charset="0"/>
              </a:rPr>
              <a:t>RECORD TYPES</a:t>
            </a:r>
          </a:p>
          <a:p>
            <a:r>
              <a:rPr lang="en-US" sz="2800" dirty="0" smtClean="0">
                <a:latin typeface="Times New Roman" pitchFamily="18" charset="0"/>
                <a:cs typeface="Times New Roman" pitchFamily="18" charset="0"/>
              </a:rPr>
              <a:t>EXCEPTIONS</a:t>
            </a:r>
          </a:p>
          <a:p>
            <a:r>
              <a:rPr lang="en-US" sz="2800" dirty="0" smtClean="0">
                <a:latin typeface="Times New Roman" pitchFamily="18" charset="0"/>
                <a:cs typeface="Times New Roman" pitchFamily="18" charset="0"/>
              </a:rPr>
              <a:t>PROCEDURE</a:t>
            </a:r>
          </a:p>
          <a:p>
            <a:r>
              <a:rPr lang="en-US" sz="2800" dirty="0" smtClean="0">
                <a:latin typeface="Times New Roman" pitchFamily="18" charset="0"/>
                <a:cs typeface="Times New Roman" pitchFamily="18" charset="0"/>
              </a:rPr>
              <a:t>FUNCTION</a:t>
            </a:r>
          </a:p>
          <a:p>
            <a:r>
              <a:rPr lang="en-US" sz="2800" dirty="0" smtClean="0">
                <a:latin typeface="Times New Roman" pitchFamily="18" charset="0"/>
                <a:cs typeface="Times New Roman" pitchFamily="18" charset="0"/>
              </a:rPr>
              <a:t>PACKAGES</a:t>
            </a:r>
          </a:p>
          <a:p>
            <a:r>
              <a:rPr lang="en-US" sz="2800" dirty="0" smtClean="0">
                <a:latin typeface="Times New Roman" pitchFamily="18" charset="0"/>
                <a:cs typeface="Times New Roman" pitchFamily="18" charset="0"/>
              </a:rPr>
              <a:t>TRIGGERS</a:t>
            </a: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INTRODUNTION OF PL/SQL</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dirty="0" smtClean="0">
                <a:latin typeface="Times New Roman" pitchFamily="18" charset="0"/>
                <a:cs typeface="Times New Roman" pitchFamily="18" charset="0"/>
              </a:rPr>
              <a:t> Pl/sql is a procedural language to extention of sql</a:t>
            </a:r>
          </a:p>
          <a:p>
            <a:r>
              <a:rPr lang="en-IN" dirty="0" smtClean="0">
                <a:latin typeface="Times New Roman" pitchFamily="18" charset="0"/>
                <a:cs typeface="Times New Roman" pitchFamily="18" charset="0"/>
              </a:rPr>
              <a:t>A set of SQL and PL/SQL statements are grouped together as a unit called BLOCK to solve a specific problem or to perform set of actions.</a:t>
            </a:r>
          </a:p>
          <a:p>
            <a:endParaRPr lang="en-IN"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A PL/SQL Block consists of three sections:</a:t>
            </a:r>
          </a:p>
          <a:p>
            <a:r>
              <a:rPr lang="en-IN" dirty="0" smtClean="0">
                <a:latin typeface="Times New Roman" pitchFamily="18" charset="0"/>
                <a:cs typeface="Times New Roman" pitchFamily="18" charset="0"/>
              </a:rPr>
              <a:t>The Declaration section (Optional).</a:t>
            </a:r>
          </a:p>
          <a:p>
            <a:r>
              <a:rPr lang="en-IN" dirty="0" smtClean="0">
                <a:latin typeface="Times New Roman" pitchFamily="18" charset="0"/>
                <a:cs typeface="Times New Roman" pitchFamily="18" charset="0"/>
              </a:rPr>
              <a:t>The Execution section (Mandatory).</a:t>
            </a:r>
          </a:p>
          <a:p>
            <a:r>
              <a:rPr lang="en-IN" dirty="0" smtClean="0">
                <a:latin typeface="Times New Roman" pitchFamily="18" charset="0"/>
                <a:cs typeface="Times New Roman" pitchFamily="18" charset="0"/>
              </a:rPr>
              <a:t>The Exception (or Error) Handling section (Optional).</a:t>
            </a:r>
          </a:p>
          <a:p>
            <a:pPr>
              <a:buNone/>
            </a:pP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ransition spd="slow">
    <p:pull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smtClean="0">
                <a:latin typeface="Times New Roman" pitchFamily="18" charset="0"/>
                <a:cs typeface="Times New Roman" pitchFamily="18" charset="0"/>
              </a:rPr>
              <a:t>ANONYMOUS BLOCKS:</a:t>
            </a:r>
            <a:endParaRPr lang="en-IN" dirty="0">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tretch>
            <a:fillRect/>
          </a:stretch>
        </p:blipFill>
        <p:spPr bwMode="auto">
          <a:xfrm>
            <a:off x="1676400" y="1752600"/>
            <a:ext cx="4233244" cy="4267200"/>
          </a:xfrm>
          <a:prstGeom prst="rect">
            <a:avLst/>
          </a:prstGeom>
          <a:noFill/>
          <a:ln w="9525">
            <a:noFill/>
            <a:miter lim="800000"/>
            <a:headEnd/>
            <a:tailEnd/>
          </a:ln>
          <a:effectLst/>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dirty="0" smtClean="0">
                <a:latin typeface="Times New Roman" pitchFamily="18" charset="0"/>
                <a:cs typeface="Times New Roman" pitchFamily="18" charset="0"/>
              </a:rPr>
              <a:t>BASIC PROGRAM</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IN" dirty="0" smtClean="0">
                <a:latin typeface="Times New Roman" pitchFamily="18" charset="0"/>
                <a:cs typeface="Times New Roman" pitchFamily="18" charset="0"/>
              </a:rPr>
              <a:t>DECLARE</a:t>
            </a:r>
          </a:p>
          <a:p>
            <a:pPr>
              <a:buNone/>
            </a:pPr>
            <a:r>
              <a:rPr lang="en-IN" dirty="0" smtClean="0">
                <a:latin typeface="Times New Roman" pitchFamily="18" charset="0"/>
                <a:cs typeface="Times New Roman" pitchFamily="18" charset="0"/>
              </a:rPr>
              <a:t>myvariable varchar2(100);</a:t>
            </a:r>
          </a:p>
          <a:p>
            <a:pPr>
              <a:buNone/>
            </a:pPr>
            <a:r>
              <a:rPr lang="en-IN" dirty="0" smtClean="0">
                <a:latin typeface="Times New Roman" pitchFamily="18" charset="0"/>
                <a:cs typeface="Times New Roman" pitchFamily="18" charset="0"/>
              </a:rPr>
              <a:t>BEGIN</a:t>
            </a:r>
          </a:p>
          <a:p>
            <a:pPr>
              <a:buNone/>
            </a:pPr>
            <a:r>
              <a:rPr lang="en-IN" dirty="0" smtClean="0">
                <a:latin typeface="Times New Roman" pitchFamily="18" charset="0"/>
                <a:cs typeface="Times New Roman" pitchFamily="18" charset="0"/>
              </a:rPr>
              <a:t>myvariable := 'provendw';</a:t>
            </a:r>
          </a:p>
          <a:p>
            <a:pPr>
              <a:buNone/>
            </a:pPr>
            <a:r>
              <a:rPr lang="en-IN" dirty="0" smtClean="0">
                <a:latin typeface="Times New Roman" pitchFamily="18" charset="0"/>
                <a:cs typeface="Times New Roman" pitchFamily="18" charset="0"/>
              </a:rPr>
              <a:t>DBMS_OUTPUT.PUT_LINE('Welcome to ---'||myvariable );</a:t>
            </a:r>
          </a:p>
          <a:p>
            <a:pPr>
              <a:buNone/>
            </a:pPr>
            <a:r>
              <a:rPr lang="en-IN" dirty="0" smtClean="0">
                <a:latin typeface="Times New Roman" pitchFamily="18" charset="0"/>
                <a:cs typeface="Times New Roman" pitchFamily="18" charset="0"/>
              </a:rPr>
              <a:t>END;</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images (15).jpg"/>
          <p:cNvPicPr>
            <a:picLocks noChangeAspect="1"/>
          </p:cNvPicPr>
          <p:nvPr/>
        </p:nvPicPr>
        <p:blipFill>
          <a:blip r:embed="rId3" cstate="print"/>
          <a:stretch>
            <a:fillRect/>
          </a:stretch>
        </p:blipFill>
        <p:spPr>
          <a:xfrm>
            <a:off x="5105400" y="4648200"/>
            <a:ext cx="1983851" cy="148597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Times New Roman" pitchFamily="18" charset="0"/>
                <a:cs typeface="Times New Roman" pitchFamily="18" charset="0"/>
              </a:rPr>
              <a:t>ADVANTAGES OF PL/SQL</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Integration with SQL</a:t>
            </a:r>
          </a:p>
          <a:p>
            <a:r>
              <a:rPr lang="en-IN" dirty="0" smtClean="0">
                <a:latin typeface="Times New Roman" pitchFamily="18" charset="0"/>
                <a:cs typeface="Times New Roman" pitchFamily="18" charset="0"/>
              </a:rPr>
              <a:t>Better Performance</a:t>
            </a:r>
          </a:p>
          <a:p>
            <a:r>
              <a:rPr lang="en-IN" dirty="0" smtClean="0">
                <a:latin typeface="Times New Roman" pitchFamily="18" charset="0"/>
                <a:cs typeface="Times New Roman" pitchFamily="18" charset="0"/>
              </a:rPr>
              <a:t>Full Portability</a:t>
            </a:r>
          </a:p>
          <a:p>
            <a:r>
              <a:rPr lang="en-IN" dirty="0" smtClean="0">
                <a:latin typeface="Times New Roman" pitchFamily="18" charset="0"/>
                <a:cs typeface="Times New Roman" pitchFamily="18" charset="0"/>
              </a:rPr>
              <a:t>Tight Security</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Tight Integration with SQL</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PL/SQL </a:t>
            </a:r>
            <a:r>
              <a:rPr lang="en-US" dirty="0"/>
              <a:t>allows us to use SQL data manipulation, cursor control, and transaction control commands, as </a:t>
            </a:r>
            <a:r>
              <a:rPr lang="en-US" dirty="0" smtClean="0"/>
              <a:t>well as </a:t>
            </a:r>
            <a:r>
              <a:rPr lang="en-US" dirty="0"/>
              <a:t>all the SQL functions, operators, and pseudocolumns.</a:t>
            </a:r>
          </a:p>
          <a:p>
            <a:r>
              <a:rPr lang="en-US" dirty="0" smtClean="0"/>
              <a:t>This </a:t>
            </a:r>
            <a:r>
              <a:rPr lang="en-US" dirty="0"/>
              <a:t>extensive SQL support allows us to manipulate Oracle data flexibly and safely.</a:t>
            </a:r>
          </a:p>
          <a:p>
            <a:r>
              <a:rPr lang="en-US" dirty="0" smtClean="0"/>
              <a:t>PL/SQL </a:t>
            </a:r>
            <a:r>
              <a:rPr lang="en-US" dirty="0"/>
              <a:t>fully supports SQL datatypes, reducing the need to convert data which is passed between </a:t>
            </a:r>
            <a:r>
              <a:rPr lang="en-US" dirty="0" smtClean="0"/>
              <a:t>our applications </a:t>
            </a:r>
            <a:r>
              <a:rPr lang="en-US" dirty="0"/>
              <a:t>and the database</a:t>
            </a:r>
            <a:r>
              <a:rPr lang="en-US" dirty="0" smtClean="0"/>
              <a:t>.</a:t>
            </a:r>
            <a:endParaRPr lang="en-US" dirty="0"/>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4" name="Rectangle 3"/>
          <p:cNvSpPr/>
          <p:nvPr/>
        </p:nvSpPr>
        <p:spPr>
          <a:xfrm>
            <a:off x="5715000" y="5334000"/>
            <a:ext cx="1828800" cy="11123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PL/SQL</a:t>
            </a:r>
          </a:p>
          <a:p>
            <a:pPr algn="ctr"/>
            <a:endParaRPr lang="en-US" dirty="0"/>
          </a:p>
          <a:p>
            <a:pPr algn="ctr"/>
            <a:endParaRPr lang="en-US" dirty="0" smtClean="0"/>
          </a:p>
          <a:p>
            <a:pPr algn="ctr"/>
            <a:endParaRPr lang="en-US" dirty="0"/>
          </a:p>
        </p:txBody>
      </p:sp>
      <p:sp>
        <p:nvSpPr>
          <p:cNvPr id="7" name="Rounded Rectangle 6"/>
          <p:cNvSpPr/>
          <p:nvPr/>
        </p:nvSpPr>
        <p:spPr>
          <a:xfrm>
            <a:off x="6096000" y="5715000"/>
            <a:ext cx="1143000" cy="4572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SQL</a:t>
            </a:r>
            <a:endParaRPr lang="en-US" dirty="0"/>
          </a:p>
        </p:txBody>
      </p:sp>
    </p:spTree>
    <p:extLst>
      <p:ext uri="{BB962C8B-B14F-4D97-AF65-F5344CB8AC3E}">
        <p14:creationId xmlns="" xmlns:p14="http://schemas.microsoft.com/office/powerpoint/2010/main" val="3430251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Better Performance</a:t>
            </a:r>
            <a:r>
              <a:rPr lang="en-US" dirty="0" smtClean="0"/>
              <a:t>:</a:t>
            </a:r>
            <a:endParaRPr lang="en-US" dirty="0"/>
          </a:p>
        </p:txBody>
      </p:sp>
      <p:sp>
        <p:nvSpPr>
          <p:cNvPr id="3" name="Content Placeholder 2"/>
          <p:cNvSpPr>
            <a:spLocks noGrp="1"/>
          </p:cNvSpPr>
          <p:nvPr>
            <p:ph idx="1"/>
          </p:nvPr>
        </p:nvSpPr>
        <p:spPr/>
        <p:txBody>
          <a:bodyPr/>
          <a:lstStyle/>
          <a:p>
            <a:r>
              <a:rPr lang="en-US" dirty="0" smtClean="0"/>
              <a:t>A </a:t>
            </a:r>
            <a:r>
              <a:rPr lang="en-US" dirty="0"/>
              <a:t>single SQL statement causes two trips on the network</a:t>
            </a:r>
          </a:p>
          <a:p>
            <a:r>
              <a:rPr lang="en-US" dirty="0" smtClean="0"/>
              <a:t>If </a:t>
            </a:r>
            <a:r>
              <a:rPr lang="en-US" dirty="0"/>
              <a:t>multiple SELECT statements are issued, network traffic increases significantly very fast.</a:t>
            </a:r>
          </a:p>
          <a:p>
            <a:r>
              <a:rPr lang="en-US" dirty="0" smtClean="0"/>
              <a:t>Hence </a:t>
            </a:r>
            <a:r>
              <a:rPr lang="en-US" dirty="0"/>
              <a:t>PL/SQL overcomes this problem because entire block of statements can be sent to Oracle at </a:t>
            </a:r>
            <a:r>
              <a:rPr lang="en-US" dirty="0" smtClean="0"/>
              <a:t>one time</a:t>
            </a:r>
            <a:r>
              <a:rPr lang="en-US" dirty="0"/>
              <a:t>, so therefore it reduces the network traffic between the Database and the Application</a:t>
            </a:r>
          </a:p>
          <a:p>
            <a:endParaRPr lang="en-US" dirty="0"/>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4" name="Rectangle 3"/>
          <p:cNvSpPr/>
          <p:nvPr/>
        </p:nvSpPr>
        <p:spPr>
          <a:xfrm>
            <a:off x="1905000" y="5486400"/>
            <a:ext cx="1295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User application</a:t>
            </a:r>
            <a:endParaRPr lang="en-US" dirty="0"/>
          </a:p>
        </p:txBody>
      </p:sp>
      <p:sp>
        <p:nvSpPr>
          <p:cNvPr id="7" name="Rectangle 6"/>
          <p:cNvSpPr/>
          <p:nvPr/>
        </p:nvSpPr>
        <p:spPr>
          <a:xfrm>
            <a:off x="5562600" y="5486400"/>
            <a:ext cx="1295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Database</a:t>
            </a:r>
            <a:endParaRPr lang="en-US" dirty="0"/>
          </a:p>
        </p:txBody>
      </p:sp>
      <p:sp>
        <p:nvSpPr>
          <p:cNvPr id="8" name="Rounded Rectangle 7"/>
          <p:cNvSpPr/>
          <p:nvPr/>
        </p:nvSpPr>
        <p:spPr>
          <a:xfrm>
            <a:off x="3810000" y="5257800"/>
            <a:ext cx="1066800" cy="1066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IF,IF ELSE,ELSIF….</a:t>
            </a:r>
          </a:p>
          <a:p>
            <a:pPr algn="ctr"/>
            <a:r>
              <a:rPr lang="en-US" sz="1200" dirty="0" smtClean="0"/>
              <a:t>LOOP,FORLOOP</a:t>
            </a:r>
            <a:endParaRPr lang="en-US" sz="1200" dirty="0"/>
          </a:p>
        </p:txBody>
      </p:sp>
      <p:cxnSp>
        <p:nvCxnSpPr>
          <p:cNvPr id="10" name="Straight Arrow Connector 9"/>
          <p:cNvCxnSpPr/>
          <p:nvPr/>
        </p:nvCxnSpPr>
        <p:spPr>
          <a:xfrm>
            <a:off x="3200400" y="5857728"/>
            <a:ext cx="609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876800" y="5886156"/>
            <a:ext cx="685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1096173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Full Portability</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smtClean="0"/>
              <a:t>Programs </a:t>
            </a:r>
            <a:r>
              <a:rPr lang="en-US" dirty="0"/>
              <a:t>written in PL/SQL can run in any Operating System </a:t>
            </a:r>
            <a:r>
              <a:rPr lang="en-US" dirty="0" smtClean="0"/>
              <a:t>where ever </a:t>
            </a:r>
            <a:r>
              <a:rPr lang="en-US" dirty="0"/>
              <a:t>our oracle </a:t>
            </a:r>
            <a:r>
              <a:rPr lang="en-US" dirty="0" smtClean="0"/>
              <a:t>Database </a:t>
            </a:r>
            <a:r>
              <a:rPr lang="en-US" dirty="0"/>
              <a:t>got installed.</a:t>
            </a:r>
          </a:p>
          <a:p>
            <a:r>
              <a:rPr lang="en-US" dirty="0" smtClean="0"/>
              <a:t>With </a:t>
            </a:r>
            <a:r>
              <a:rPr lang="en-US" dirty="0"/>
              <a:t>PL/SQL we can write portable programs which we can reuse in different environments.</a:t>
            </a:r>
          </a:p>
          <a:p>
            <a:pPr marL="0" indent="0">
              <a:buNone/>
            </a:pPr>
            <a:endParaRPr lang="en-US" dirty="0"/>
          </a:p>
          <a:p>
            <a:endParaRPr lang="en-US" dirty="0"/>
          </a:p>
          <a:p>
            <a:endParaRPr lang="en-US" dirty="0"/>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191000" y="4092224"/>
            <a:ext cx="3352800" cy="2370546"/>
          </a:xfrm>
          <a:prstGeom prst="rect">
            <a:avLst/>
          </a:prstGeom>
        </p:spPr>
      </p:pic>
    </p:spTree>
    <p:extLst>
      <p:ext uri="{BB962C8B-B14F-4D97-AF65-F5344CB8AC3E}">
        <p14:creationId xmlns="" xmlns:p14="http://schemas.microsoft.com/office/powerpoint/2010/main" val="23862846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Tight Security</a:t>
            </a:r>
            <a:r>
              <a:rPr lang="en-US" dirty="0" smtClean="0"/>
              <a:t>:</a:t>
            </a:r>
            <a:endParaRPr lang="en-US" dirty="0"/>
          </a:p>
        </p:txBody>
      </p:sp>
      <p:sp>
        <p:nvSpPr>
          <p:cNvPr id="3" name="Content Placeholder 2"/>
          <p:cNvSpPr>
            <a:spLocks noGrp="1"/>
          </p:cNvSpPr>
          <p:nvPr>
            <p:ph idx="1"/>
          </p:nvPr>
        </p:nvSpPr>
        <p:spPr/>
        <p:txBody>
          <a:bodyPr/>
          <a:lstStyle/>
          <a:p>
            <a:r>
              <a:rPr lang="en-US" dirty="0" smtClean="0"/>
              <a:t>While </a:t>
            </a:r>
            <a:r>
              <a:rPr lang="en-US" dirty="0"/>
              <a:t>moving PL/SQL stored procedures from client to the server we can protect out programs </a:t>
            </a:r>
            <a:r>
              <a:rPr lang="en-US" dirty="0" smtClean="0"/>
              <a:t>from network </a:t>
            </a:r>
            <a:r>
              <a:rPr lang="en-US" dirty="0"/>
              <a:t>tampering, and also we can restrict to the access of programs.</a:t>
            </a:r>
          </a:p>
          <a:p>
            <a:r>
              <a:rPr lang="en-US" dirty="0" smtClean="0"/>
              <a:t>Triggers </a:t>
            </a:r>
            <a:r>
              <a:rPr lang="en-US" dirty="0"/>
              <a:t>written in PL/SQL can obey the business rules for the changes which we made in database</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7" name="Picture 6" descr="download (8).jpg"/>
          <p:cNvPicPr>
            <a:picLocks noChangeAspect="1"/>
          </p:cNvPicPr>
          <p:nvPr/>
        </p:nvPicPr>
        <p:blipFill>
          <a:blip r:embed="rId3" cstate="print"/>
          <a:stretch>
            <a:fillRect/>
          </a:stretch>
        </p:blipFill>
        <p:spPr>
          <a:xfrm>
            <a:off x="5715000" y="4648200"/>
            <a:ext cx="1207241" cy="1743075"/>
          </a:xfrm>
          <a:prstGeom prst="rect">
            <a:avLst/>
          </a:prstGeom>
        </p:spPr>
      </p:pic>
    </p:spTree>
    <p:extLst>
      <p:ext uri="{BB962C8B-B14F-4D97-AF65-F5344CB8AC3E}">
        <p14:creationId xmlns="" xmlns:p14="http://schemas.microsoft.com/office/powerpoint/2010/main" val="15728834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b="1" dirty="0" smtClean="0">
                <a:latin typeface="Times New Roman" pitchFamily="18" charset="0"/>
                <a:cs typeface="Times New Roman" pitchFamily="18" charset="0"/>
              </a:rPr>
              <a:t>What is a Variable ?</a:t>
            </a:r>
          </a:p>
          <a:p>
            <a:r>
              <a:rPr lang="en-IN" dirty="0" smtClean="0">
                <a:latin typeface="Times New Roman" pitchFamily="18" charset="0"/>
                <a:cs typeface="Times New Roman" pitchFamily="18" charset="0"/>
              </a:rPr>
              <a:t> Variables are like placeholders or temporary storage locations in database, we use them to store/manipulate data at the time of PL/SQL block execution.</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dirty="0" smtClean="0">
                <a:latin typeface="Times New Roman" pitchFamily="18" charset="0"/>
                <a:cs typeface="Times New Roman" pitchFamily="18" charset="0"/>
              </a:rPr>
              <a:t>PL/SQL  DATA TYPES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SCALAR DATA TYPE</a:t>
            </a:r>
          </a:p>
          <a:p>
            <a:pPr>
              <a:buNone/>
            </a:pP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REFERENCE DATA TYPE</a:t>
            </a:r>
          </a:p>
          <a:p>
            <a:pPr>
              <a:buNone/>
            </a:pP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COMPOSITE DATA TYPE</a:t>
            </a:r>
          </a:p>
          <a:p>
            <a:pPr>
              <a:buNone/>
            </a:pP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LOB DATA TYPE</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Scalar datatypes are the same data types that we use in SQL. These can be used in PL/SQL </a:t>
            </a:r>
            <a:r>
              <a:rPr lang="en-US" dirty="0" smtClean="0"/>
              <a:t>to define </a:t>
            </a:r>
            <a:r>
              <a:rPr lang="en-US" dirty="0"/>
              <a:t>variables</a:t>
            </a:r>
            <a:r>
              <a:rPr lang="en-US" dirty="0" smtClean="0"/>
              <a:t>.</a:t>
            </a:r>
          </a:p>
          <a:p>
            <a:r>
              <a:rPr lang="en-US" dirty="0"/>
              <a:t>Scalar Data Type holds a single value.</a:t>
            </a:r>
          </a:p>
          <a:p>
            <a:r>
              <a:rPr lang="en-US" dirty="0" smtClean="0"/>
              <a:t>Scalar </a:t>
            </a:r>
            <a:r>
              <a:rPr lang="en-US" dirty="0"/>
              <a:t>Data Types supports Boolean variables.</a:t>
            </a:r>
          </a:p>
          <a:p>
            <a:pPr marL="0" indent="0">
              <a:buNone/>
            </a:pPr>
            <a:r>
              <a:rPr lang="en-US" b="1" dirty="0"/>
              <a:t>Examples for Scalar Data Types</a:t>
            </a:r>
            <a:r>
              <a:rPr lang="en-US" dirty="0"/>
              <a:t>:-</a:t>
            </a:r>
          </a:p>
          <a:p>
            <a:r>
              <a:rPr lang="en-US" dirty="0"/>
              <a:t>DECLARE</a:t>
            </a:r>
          </a:p>
          <a:p>
            <a:pPr marL="0" indent="0">
              <a:buNone/>
            </a:pPr>
            <a:r>
              <a:rPr lang="en-US" dirty="0"/>
              <a:t>name VARCHAR2(10):=’SMITH’;</a:t>
            </a:r>
          </a:p>
          <a:p>
            <a:pPr marL="0" indent="0">
              <a:buNone/>
            </a:pPr>
            <a:r>
              <a:rPr lang="en-US" dirty="0"/>
              <a:t>empno NUMBER;</a:t>
            </a:r>
          </a:p>
          <a:p>
            <a:pPr marL="0" indent="0">
              <a:buNone/>
            </a:pPr>
            <a:r>
              <a:rPr lang="en-US" dirty="0"/>
              <a:t>hiredate DATE;</a:t>
            </a:r>
          </a:p>
          <a:p>
            <a:pPr marL="0" indent="0">
              <a:buNone/>
            </a:pPr>
            <a:r>
              <a:rPr lang="en-US" dirty="0" smtClean="0"/>
              <a:t>---</a:t>
            </a:r>
            <a:endParaRPr lang="en-US" dirty="0"/>
          </a:p>
          <a:p>
            <a:endParaRPr lang="en-US" dirty="0" smtClean="0"/>
          </a:p>
          <a:p>
            <a:endParaRPr lang="en-US" dirty="0"/>
          </a:p>
          <a:p>
            <a:endParaRPr lang="en-US" dirty="0" smtClean="0"/>
          </a:p>
          <a:p>
            <a:endParaRPr lang="en-US" dirty="0"/>
          </a:p>
          <a:p>
            <a:pPr marL="0" indent="0">
              <a:buNone/>
            </a:pPr>
            <a:endParaRPr lang="en-US" dirty="0" smtClean="0"/>
          </a:p>
          <a:p>
            <a:endParaRPr lang="en-US" dirty="0"/>
          </a:p>
        </p:txBody>
      </p:sp>
      <p:sp>
        <p:nvSpPr>
          <p:cNvPr id="4" name="Title 1"/>
          <p:cNvSpPr txBox="1">
            <a:spLocks/>
          </p:cNvSpPr>
          <p:nvPr/>
        </p:nvSpPr>
        <p:spPr>
          <a:xfrm>
            <a:off x="609600" y="472440"/>
            <a:ext cx="7239000"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IN" sz="4000" dirty="0" smtClean="0">
                <a:latin typeface="Times New Roman" pitchFamily="18" charset="0"/>
                <a:cs typeface="Times New Roman" pitchFamily="18" charset="0"/>
              </a:rPr>
              <a:t>scalar  DATA TYPE</a:t>
            </a:r>
            <a:endParaRPr lang="en-IN" sz="4000" dirty="0">
              <a:latin typeface="Times New Roman" pitchFamily="18" charset="0"/>
              <a:cs typeface="Times New Roman" pitchFamily="18" charset="0"/>
            </a:endParaRPr>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7118268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We use reference datatypes when we wanted to refer to the type of some database column</a:t>
            </a:r>
            <a:r>
              <a:rPr lang="en-US" dirty="0" smtClean="0"/>
              <a:t>.</a:t>
            </a:r>
          </a:p>
          <a:p>
            <a:endParaRPr lang="en-US" dirty="0" smtClean="0"/>
          </a:p>
          <a:p>
            <a:r>
              <a:rPr lang="en-US" dirty="0"/>
              <a:t>There are two types of Reference Types </a:t>
            </a:r>
            <a:r>
              <a:rPr lang="en-US" dirty="0" smtClean="0"/>
              <a:t>:</a:t>
            </a:r>
          </a:p>
          <a:p>
            <a:endParaRPr lang="en-US" dirty="0"/>
          </a:p>
          <a:p>
            <a:r>
              <a:rPr lang="en-US" b="1" dirty="0"/>
              <a:t>%</a:t>
            </a:r>
            <a:r>
              <a:rPr lang="en-US" b="1" dirty="0" smtClean="0"/>
              <a:t>TYPE</a:t>
            </a:r>
          </a:p>
          <a:p>
            <a:r>
              <a:rPr lang="en-US" b="1" dirty="0" smtClean="0"/>
              <a:t>%ROWTYPE</a:t>
            </a:r>
            <a:endParaRPr lang="en-US" dirty="0"/>
          </a:p>
          <a:p>
            <a:pPr marL="0" indent="0">
              <a:buNone/>
            </a:pPr>
            <a:endParaRPr lang="en-US" dirty="0"/>
          </a:p>
          <a:p>
            <a:endParaRPr lang="en-US" dirty="0"/>
          </a:p>
        </p:txBody>
      </p:sp>
      <p:sp>
        <p:nvSpPr>
          <p:cNvPr id="4" name="Title 1"/>
          <p:cNvSpPr txBox="1">
            <a:spLocks noGrp="1"/>
          </p:cNvSpPr>
          <p:nvPr>
            <p:ph type="title"/>
          </p:nvPr>
        </p:nvSpPr>
        <p:spPr>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IN" sz="4000" dirty="0">
                <a:latin typeface="Times New Roman" pitchFamily="18" charset="0"/>
                <a:cs typeface="Times New Roman" pitchFamily="18" charset="0"/>
              </a:rPr>
              <a:t>REFERENCE DATA TYPE</a:t>
            </a: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reference.png"/>
          <p:cNvPicPr>
            <a:picLocks noChangeAspect="1"/>
          </p:cNvPicPr>
          <p:nvPr/>
        </p:nvPicPr>
        <p:blipFill>
          <a:blip r:embed="rId3" cstate="print"/>
          <a:stretch>
            <a:fillRect/>
          </a:stretch>
        </p:blipFill>
        <p:spPr>
          <a:xfrm>
            <a:off x="5334000" y="4114800"/>
            <a:ext cx="2152650" cy="2124075"/>
          </a:xfrm>
          <a:prstGeom prst="rect">
            <a:avLst/>
          </a:prstGeom>
        </p:spPr>
      </p:pic>
    </p:spTree>
    <p:extLst>
      <p:ext uri="{BB962C8B-B14F-4D97-AF65-F5344CB8AC3E}">
        <p14:creationId xmlns="" xmlns:p14="http://schemas.microsoft.com/office/powerpoint/2010/main" val="24880125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%TYPE </a:t>
            </a:r>
            <a:r>
              <a:rPr lang="en-US" dirty="0"/>
              <a:t>– ‘%TYPE’ is used to copy the data type of a column in a database table.</a:t>
            </a:r>
          </a:p>
          <a:p>
            <a:r>
              <a:rPr lang="en-US" b="1" dirty="0"/>
              <a:t>%ROWTYPE </a:t>
            </a:r>
            <a:r>
              <a:rPr lang="en-US" dirty="0"/>
              <a:t>– ‘ROW%TYPE’ is used to copy the structure of entire record in a database table. We will discussing more about %ROWTYPE in Record using %ROWTYPE lesson</a:t>
            </a:r>
          </a:p>
          <a:p>
            <a:endParaRPr lang="en-US"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40695673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Syntax for %TYPE :-</a:t>
            </a:r>
          </a:p>
          <a:p>
            <a:pPr marL="0" indent="0">
              <a:buNone/>
            </a:pPr>
            <a:r>
              <a:rPr lang="en-US" dirty="0"/>
              <a:t>DECLARE</a:t>
            </a:r>
          </a:p>
          <a:p>
            <a:pPr marL="0" indent="0">
              <a:buNone/>
            </a:pPr>
            <a:r>
              <a:rPr lang="en-US" dirty="0"/>
              <a:t>&lt;variable name&gt; &lt;table name&gt;.&lt;column name&gt;%TYPE;</a:t>
            </a:r>
          </a:p>
          <a:p>
            <a:pPr marL="0" indent="0">
              <a:buNone/>
            </a:pPr>
            <a:r>
              <a:rPr lang="en-US" dirty="0"/>
              <a:t>---</a:t>
            </a:r>
          </a:p>
          <a:p>
            <a:pPr marL="0" indent="0">
              <a:buNone/>
            </a:pPr>
            <a:r>
              <a:rPr lang="en-US" dirty="0"/>
              <a:t>---</a:t>
            </a:r>
          </a:p>
          <a:p>
            <a:pPr marL="0" indent="0">
              <a:buNone/>
            </a:pPr>
            <a:r>
              <a:rPr lang="en-US" b="1" dirty="0"/>
              <a:t>Example for %TYPE :-</a:t>
            </a:r>
          </a:p>
          <a:p>
            <a:pPr marL="0" indent="0">
              <a:buNone/>
            </a:pPr>
            <a:r>
              <a:rPr lang="en-US" dirty="0"/>
              <a:t>DECLARE</a:t>
            </a:r>
          </a:p>
          <a:p>
            <a:pPr marL="0" indent="0">
              <a:buNone/>
            </a:pPr>
            <a:r>
              <a:rPr lang="en-US" dirty="0"/>
              <a:t>v_deptno dept.deptno%TYPE;</a:t>
            </a:r>
          </a:p>
          <a:p>
            <a:pPr marL="0" indent="0">
              <a:buNone/>
            </a:pPr>
            <a:r>
              <a:rPr lang="en-US" dirty="0"/>
              <a:t>v_dname dept.dname%TYPE;</a:t>
            </a:r>
          </a:p>
          <a:p>
            <a:pPr marL="0" indent="0">
              <a:buNone/>
            </a:pPr>
            <a:r>
              <a:rPr lang="en-US" dirty="0"/>
              <a:t>BEGIN</a:t>
            </a:r>
          </a:p>
          <a:p>
            <a:pPr marL="0" indent="0">
              <a:buNone/>
            </a:pPr>
            <a:r>
              <a:rPr lang="en-US" dirty="0"/>
              <a:t>SELECT deptno, dname</a:t>
            </a:r>
          </a:p>
          <a:p>
            <a:pPr marL="0" indent="0">
              <a:buNone/>
            </a:pPr>
            <a:r>
              <a:rPr lang="en-US" dirty="0"/>
              <a:t>INTO v_deptno, v_dname</a:t>
            </a:r>
          </a:p>
          <a:p>
            <a:pPr marL="0" indent="0">
              <a:buNone/>
            </a:pPr>
            <a:r>
              <a:rPr lang="en-US" dirty="0"/>
              <a:t>FROM dept</a:t>
            </a:r>
          </a:p>
          <a:p>
            <a:pPr marL="0" indent="0">
              <a:buNone/>
            </a:pPr>
            <a:r>
              <a:rPr lang="en-US" dirty="0"/>
              <a:t>WHERE deptno = 10;</a:t>
            </a:r>
          </a:p>
          <a:p>
            <a:pPr marL="0" indent="0">
              <a:buNone/>
            </a:pPr>
            <a:r>
              <a:rPr lang="en-US" dirty="0"/>
              <a:t>DBMS_OUTPUT.PUT_LINE (v_deptno || ' '|| v_dname);</a:t>
            </a:r>
          </a:p>
          <a:p>
            <a:pPr marL="0" indent="0">
              <a:buNone/>
            </a:pPr>
            <a:r>
              <a:rPr lang="en-US" dirty="0"/>
              <a:t>END;</a:t>
            </a:r>
          </a:p>
          <a:p>
            <a:pPr marL="0" indent="0">
              <a:buNone/>
            </a:pPr>
            <a:endParaRPr lang="en-US"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009539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Composite data types are part of advanced PL/SQL, we will be learning them in coming chapters.</a:t>
            </a:r>
          </a:p>
          <a:p>
            <a:endParaRPr lang="en-US" dirty="0"/>
          </a:p>
          <a:p>
            <a:endParaRPr lang="en-US" dirty="0"/>
          </a:p>
          <a:p>
            <a:endParaRPr lang="en-US" dirty="0"/>
          </a:p>
          <a:p>
            <a:r>
              <a:rPr lang="en-US" dirty="0"/>
              <a:t>We use LOB datatypes when we wanted to store large object information like </a:t>
            </a:r>
            <a:r>
              <a:rPr lang="en-US" dirty="0" err="1" smtClean="0"/>
              <a:t>images,vidoes</a:t>
            </a:r>
            <a:r>
              <a:rPr lang="en-US" dirty="0"/>
              <a:t>…..</a:t>
            </a:r>
            <a:r>
              <a:rPr lang="en-US" dirty="0" err="1"/>
              <a:t>etc</a:t>
            </a:r>
            <a:endParaRPr lang="en-US" dirty="0"/>
          </a:p>
          <a:p>
            <a:endParaRPr lang="en-US" dirty="0"/>
          </a:p>
        </p:txBody>
      </p:sp>
      <p:sp>
        <p:nvSpPr>
          <p:cNvPr id="4" name="Title 1"/>
          <p:cNvSpPr txBox="1">
            <a:spLocks/>
          </p:cNvSpPr>
          <p:nvPr/>
        </p:nvSpPr>
        <p:spPr>
          <a:xfrm>
            <a:off x="609600" y="472440"/>
            <a:ext cx="7239000"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IN" sz="4000" dirty="0">
                <a:latin typeface="Times New Roman" pitchFamily="18" charset="0"/>
                <a:cs typeface="Times New Roman" pitchFamily="18" charset="0"/>
              </a:rPr>
              <a:t>COMPOSITE DATA TYPE</a:t>
            </a:r>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
        <p:nvSpPr>
          <p:cNvPr id="5" name="Title 1"/>
          <p:cNvSpPr txBox="1">
            <a:spLocks/>
          </p:cNvSpPr>
          <p:nvPr/>
        </p:nvSpPr>
        <p:spPr>
          <a:xfrm>
            <a:off x="592015" y="3124200"/>
            <a:ext cx="7239000"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IN" sz="4000" dirty="0">
                <a:latin typeface="Times New Roman" pitchFamily="18" charset="0"/>
                <a:cs typeface="Times New Roman" pitchFamily="18" charset="0"/>
              </a:rPr>
              <a:t>LOB DATA TYPE</a:t>
            </a: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5762099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Different LOB Data Types:</a:t>
            </a:r>
          </a:p>
          <a:p>
            <a:r>
              <a:rPr lang="en-US" b="1" dirty="0"/>
              <a:t>BLOB</a:t>
            </a:r>
          </a:p>
          <a:p>
            <a:pPr marL="0" indent="0">
              <a:buNone/>
            </a:pPr>
            <a:r>
              <a:rPr lang="en-US" dirty="0" smtClean="0"/>
              <a:t>Binary </a:t>
            </a:r>
            <a:r>
              <a:rPr lang="en-US" dirty="0"/>
              <a:t>Large Object – column or variable of type BLOB can store up to 4GB of binary data in each record.</a:t>
            </a:r>
          </a:p>
          <a:p>
            <a:r>
              <a:rPr lang="en-US" b="1" dirty="0"/>
              <a:t>CLOB</a:t>
            </a:r>
          </a:p>
          <a:p>
            <a:pPr marL="0" indent="0">
              <a:buNone/>
            </a:pPr>
            <a:r>
              <a:rPr lang="en-US" dirty="0"/>
              <a:t>Character Large Object – column or variable of type CLOB can store up to 4GB of character data in each record.</a:t>
            </a:r>
          </a:p>
          <a:p>
            <a:endParaRPr lang="en-US" dirty="0"/>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5762099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CONSTANT VARIABLE</a:t>
            </a:r>
            <a:endParaRPr lang="en-US" dirty="0"/>
          </a:p>
        </p:txBody>
      </p:sp>
      <p:sp>
        <p:nvSpPr>
          <p:cNvPr id="3" name="Content Placeholder 2"/>
          <p:cNvSpPr>
            <a:spLocks noGrp="1"/>
          </p:cNvSpPr>
          <p:nvPr>
            <p:ph idx="1"/>
          </p:nvPr>
        </p:nvSpPr>
        <p:spPr/>
        <p:txBody>
          <a:bodyPr>
            <a:normAutofit/>
          </a:bodyPr>
          <a:lstStyle/>
          <a:p>
            <a:r>
              <a:rPr lang="en-US" sz="2400" dirty="0"/>
              <a:t>A </a:t>
            </a:r>
            <a:r>
              <a:rPr lang="en-US" sz="2400" b="1" dirty="0"/>
              <a:t>CONSTANT VARIABLE </a:t>
            </a:r>
            <a:r>
              <a:rPr lang="en-US" sz="2400" dirty="0"/>
              <a:t>is a variable that is defined in the declaration section of the block</a:t>
            </a:r>
          </a:p>
          <a:p>
            <a:r>
              <a:rPr lang="en-US" sz="2400" dirty="0"/>
              <a:t>which remains unchanged throughout the program. To define a CONSTANT variable we </a:t>
            </a:r>
            <a:r>
              <a:rPr lang="en-US" sz="2400" dirty="0" smtClean="0"/>
              <a:t>need to </a:t>
            </a:r>
            <a:r>
              <a:rPr lang="en-US" sz="2400" dirty="0"/>
              <a:t>explicitly specify a keyword called ‘CONSTANT’ when declaring the variable.</a:t>
            </a:r>
          </a:p>
          <a:p>
            <a:r>
              <a:rPr lang="en-US" sz="2400" dirty="0"/>
              <a:t>DECLARE</a:t>
            </a:r>
          </a:p>
          <a:p>
            <a:pPr marL="0" indent="0">
              <a:buNone/>
            </a:pPr>
            <a:r>
              <a:rPr lang="en-US" sz="2400" dirty="0"/>
              <a:t>&lt;variable name&gt; CONSTANT &lt;data type&gt; := &lt;value&gt;;</a:t>
            </a:r>
          </a:p>
          <a:p>
            <a:pPr marL="0" indent="0">
              <a:buNone/>
            </a:pPr>
            <a:r>
              <a:rPr lang="en-US" sz="2400" dirty="0"/>
              <a:t>---</a:t>
            </a:r>
          </a:p>
          <a:p>
            <a:pPr marL="0" indent="0">
              <a:buNone/>
            </a:pPr>
            <a:r>
              <a:rPr lang="en-US" sz="2400" dirty="0"/>
              <a:t>---</a:t>
            </a:r>
          </a:p>
          <a:p>
            <a:endParaRPr lang="en-US"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3393899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pPr marL="0" indent="0">
              <a:buNone/>
            </a:pPr>
            <a:r>
              <a:rPr lang="en-US" sz="2000" dirty="0"/>
              <a:t>DECLARE</a:t>
            </a:r>
          </a:p>
          <a:p>
            <a:pPr marL="0" indent="0">
              <a:buNone/>
            </a:pPr>
            <a:r>
              <a:rPr lang="en-US" sz="2000" dirty="0" smtClean="0"/>
              <a:t>/* </a:t>
            </a:r>
            <a:r>
              <a:rPr lang="en-US" sz="2000" dirty="0"/>
              <a:t>Declaring constant variable */</a:t>
            </a:r>
          </a:p>
          <a:p>
            <a:pPr marL="0" indent="0">
              <a:buNone/>
            </a:pPr>
            <a:r>
              <a:rPr lang="en-US" sz="2000" dirty="0" smtClean="0"/>
              <a:t>v_tax </a:t>
            </a:r>
            <a:r>
              <a:rPr lang="en-US" sz="2000" dirty="0"/>
              <a:t>CONSTANT number (3):= 5;</a:t>
            </a:r>
          </a:p>
          <a:p>
            <a:pPr marL="0" indent="0">
              <a:buNone/>
            </a:pPr>
            <a:r>
              <a:rPr lang="en-US" sz="2000" dirty="0" smtClean="0"/>
              <a:t>BEGIN</a:t>
            </a:r>
            <a:endParaRPr lang="en-US" sz="2000" dirty="0"/>
          </a:p>
          <a:p>
            <a:pPr marL="0" indent="0">
              <a:buNone/>
            </a:pPr>
            <a:r>
              <a:rPr lang="en-US" sz="2000" dirty="0" smtClean="0"/>
              <a:t>v_tax </a:t>
            </a:r>
            <a:r>
              <a:rPr lang="en-US" sz="2000" dirty="0"/>
              <a:t>:= 10;</a:t>
            </a:r>
          </a:p>
          <a:p>
            <a:pPr marL="0" indent="0">
              <a:buNone/>
            </a:pPr>
            <a:r>
              <a:rPr lang="en-US" sz="2000" dirty="0" smtClean="0"/>
              <a:t>/* </a:t>
            </a:r>
            <a:r>
              <a:rPr lang="en-US" sz="2000" dirty="0"/>
              <a:t>System will raise an error as we are trying to assign a </a:t>
            </a:r>
            <a:r>
              <a:rPr lang="en-US" sz="2000" dirty="0" smtClean="0"/>
              <a:t>different value </a:t>
            </a:r>
            <a:r>
              <a:rPr lang="en-US" sz="2000" dirty="0"/>
              <a:t>other than constant */</a:t>
            </a:r>
          </a:p>
          <a:p>
            <a:pPr marL="0" indent="0">
              <a:buNone/>
            </a:pPr>
            <a:r>
              <a:rPr lang="en-US" sz="2000" dirty="0"/>
              <a:t>DBMS_OUTPUT.PUT_LINE (v_tax);</a:t>
            </a:r>
          </a:p>
          <a:p>
            <a:pPr marL="0" indent="0">
              <a:buNone/>
            </a:pPr>
            <a:r>
              <a:rPr lang="en-US" sz="2000" dirty="0"/>
              <a:t>END;</a:t>
            </a:r>
          </a:p>
          <a:p>
            <a:pPr marL="0" indent="0">
              <a:buNone/>
            </a:pPr>
            <a:r>
              <a:rPr lang="en-US" sz="2000" b="1" dirty="0"/>
              <a:t>Output:</a:t>
            </a:r>
          </a:p>
          <a:p>
            <a:pPr marL="0" indent="0">
              <a:buNone/>
            </a:pPr>
            <a:r>
              <a:rPr lang="en-US" sz="2000" dirty="0"/>
              <a:t>PLS-00363: expression 'V_TAX' cannot be used as an assignment target.</a:t>
            </a:r>
          </a:p>
          <a:p>
            <a:pPr marL="0" indent="0">
              <a:buNone/>
            </a:pPr>
            <a:endParaRPr lang="en-US" sz="20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951236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fontScale="90000"/>
          </a:bodyPr>
          <a:lstStyle/>
          <a:p>
            <a:r>
              <a:rPr lang="en-IN" sz="4000" dirty="0" smtClean="0">
                <a:latin typeface="Times New Roman" pitchFamily="18" charset="0"/>
                <a:cs typeface="Times New Roman" pitchFamily="18" charset="0"/>
              </a:rPr>
              <a:t>CONDITIONAL STATEMENTS</a:t>
            </a:r>
            <a:endParaRPr lang="en-IN" sz="40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285861"/>
            <a:ext cx="8229600" cy="1428760"/>
          </a:xfrm>
        </p:spPr>
        <p:txBody>
          <a:bodyPr/>
          <a:lstStyle/>
          <a:p>
            <a:endParaRPr lang="en-IN" sz="2000" b="0" dirty="0" smtClean="0">
              <a:solidFill>
                <a:srgbClr val="000000"/>
              </a:solidFill>
              <a:effectLst/>
              <a:latin typeface="Times New Roman" pitchFamily="18" charset="0"/>
              <a:cs typeface="Times New Roman" pitchFamily="18" charset="0"/>
            </a:endParaRP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A conditional statement refers to the ability to process a portion of code depending on whether certain criteria is met or not.</a:t>
            </a:r>
          </a:p>
          <a:p>
            <a:pPr>
              <a:buNone/>
            </a:pPr>
            <a:endParaRPr lang="en-US" sz="2000" b="0" dirty="0" smtClean="0">
              <a:solidFill>
                <a:srgbClr val="000000"/>
              </a:solidFill>
              <a:effectLst/>
              <a:latin typeface="Times New Roman" pitchFamily="18" charset="0"/>
              <a:cs typeface="Times New Roman" pitchFamily="18" charset="0"/>
            </a:endParaRPr>
          </a:p>
          <a:p>
            <a:pPr>
              <a:buNone/>
            </a:pPr>
            <a:endParaRPr lang="en-IN" sz="2000" b="0" dirty="0">
              <a:solidFill>
                <a:srgbClr val="000000"/>
              </a:solidFill>
              <a:effectLst/>
              <a:latin typeface="Times New Roman" pitchFamily="18" charset="0"/>
              <a:cs typeface="Times New Roman" pitchFamily="18" charset="0"/>
            </a:endParaRPr>
          </a:p>
        </p:txBody>
      </p:sp>
      <p:sp>
        <p:nvSpPr>
          <p:cNvPr id="4" name="TextBox 3"/>
          <p:cNvSpPr txBox="1"/>
          <p:nvPr/>
        </p:nvSpPr>
        <p:spPr>
          <a:xfrm>
            <a:off x="428596" y="2643182"/>
            <a:ext cx="4421595" cy="2554545"/>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Different types of conditional statements.</a:t>
            </a:r>
          </a:p>
          <a:p>
            <a:endParaRPr lang="en-US" sz="2000" dirty="0" smtClean="0">
              <a:solidFill>
                <a:srgbClr val="000000"/>
              </a:solidFill>
              <a:latin typeface="Times New Roman" pitchFamily="18" charset="0"/>
              <a:cs typeface="Times New Roman" pitchFamily="18" charset="0"/>
            </a:endParaRPr>
          </a:p>
          <a:p>
            <a:endParaRPr lang="en-US" sz="2000" dirty="0" smtClean="0">
              <a:solidFill>
                <a:srgbClr val="000000"/>
              </a:solidFill>
              <a:latin typeface="Times New Roman" pitchFamily="18" charset="0"/>
              <a:cs typeface="Times New Roman" pitchFamily="18" charset="0"/>
            </a:endParaRPr>
          </a:p>
          <a:p>
            <a:pPr>
              <a:buFont typeface="Wingdings" pitchFamily="2" charset="2"/>
              <a:buChar char="ü"/>
            </a:pPr>
            <a:r>
              <a:rPr lang="en-US" sz="2000" b="1" dirty="0" smtClean="0">
                <a:solidFill>
                  <a:srgbClr val="000000"/>
                </a:solidFill>
                <a:latin typeface="Times New Roman" pitchFamily="18" charset="0"/>
                <a:cs typeface="Times New Roman" pitchFamily="18" charset="0"/>
              </a:rPr>
              <a:t> IF</a:t>
            </a:r>
            <a:r>
              <a:rPr lang="en-US" sz="2000" dirty="0" smtClean="0">
                <a:solidFill>
                  <a:srgbClr val="000000"/>
                </a:solidFill>
                <a:latin typeface="Times New Roman" pitchFamily="18" charset="0"/>
                <a:cs typeface="Times New Roman" pitchFamily="18" charset="0"/>
              </a:rPr>
              <a:t> Statement.</a:t>
            </a:r>
          </a:p>
          <a:p>
            <a:pPr>
              <a:buFont typeface="Wingdings" pitchFamily="2" charset="2"/>
              <a:buChar char="ü"/>
            </a:pPr>
            <a:r>
              <a:rPr lang="en-US" sz="2000" b="1" dirty="0" smtClean="0">
                <a:solidFill>
                  <a:srgbClr val="000000"/>
                </a:solidFill>
                <a:latin typeface="Times New Roman" pitchFamily="18" charset="0"/>
                <a:cs typeface="Times New Roman" pitchFamily="18" charset="0"/>
              </a:rPr>
              <a:t> IF-ELSE</a:t>
            </a:r>
            <a:r>
              <a:rPr lang="en-US" sz="2000" dirty="0" smtClean="0">
                <a:solidFill>
                  <a:srgbClr val="000000"/>
                </a:solidFill>
                <a:latin typeface="Times New Roman" pitchFamily="18" charset="0"/>
                <a:cs typeface="Times New Roman" pitchFamily="18" charset="0"/>
              </a:rPr>
              <a:t>.</a:t>
            </a:r>
          </a:p>
          <a:p>
            <a:pPr>
              <a:buFont typeface="Wingdings" pitchFamily="2" charset="2"/>
              <a:buChar char="ü"/>
            </a:pPr>
            <a:r>
              <a:rPr lang="en-US" sz="2000" b="1" dirty="0" smtClean="0">
                <a:solidFill>
                  <a:srgbClr val="000000"/>
                </a:solidFill>
                <a:latin typeface="Times New Roman" pitchFamily="18" charset="0"/>
                <a:cs typeface="Times New Roman" pitchFamily="18" charset="0"/>
              </a:rPr>
              <a:t> NESTEDIF</a:t>
            </a:r>
            <a:r>
              <a:rPr lang="en-US" sz="2000" dirty="0" smtClean="0">
                <a:solidFill>
                  <a:srgbClr val="000000"/>
                </a:solidFill>
                <a:latin typeface="Times New Roman" pitchFamily="18" charset="0"/>
                <a:cs typeface="Times New Roman" pitchFamily="18" charset="0"/>
              </a:rPr>
              <a:t>.</a:t>
            </a:r>
          </a:p>
          <a:p>
            <a:pPr>
              <a:buFont typeface="Wingdings" pitchFamily="2" charset="2"/>
              <a:buChar char="ü"/>
            </a:pPr>
            <a:r>
              <a:rPr lang="en-US" sz="2000" b="1" dirty="0" smtClean="0">
                <a:solidFill>
                  <a:srgbClr val="000000"/>
                </a:solidFill>
                <a:latin typeface="Times New Roman" pitchFamily="18" charset="0"/>
                <a:cs typeface="Times New Roman" pitchFamily="18" charset="0"/>
              </a:rPr>
              <a:t> ELSEIF</a:t>
            </a:r>
            <a:r>
              <a:rPr lang="en-US" sz="2000" dirty="0" smtClean="0">
                <a:solidFill>
                  <a:srgbClr val="000000"/>
                </a:solidFill>
                <a:latin typeface="Times New Roman" pitchFamily="18" charset="0"/>
                <a:cs typeface="Times New Roman" pitchFamily="18" charset="0"/>
              </a:rPr>
              <a:t>.</a:t>
            </a:r>
          </a:p>
          <a:p>
            <a:pPr>
              <a:buFont typeface="Wingdings" pitchFamily="2" charset="2"/>
              <a:buChar char="ü"/>
            </a:pPr>
            <a:r>
              <a:rPr lang="en-US" sz="2000" b="1" dirty="0" smtClean="0">
                <a:solidFill>
                  <a:srgbClr val="000000"/>
                </a:solidFill>
                <a:latin typeface="Times New Roman" pitchFamily="18" charset="0"/>
                <a:cs typeface="Times New Roman" pitchFamily="18" charset="0"/>
              </a:rPr>
              <a:t> CASE</a:t>
            </a:r>
            <a:r>
              <a:rPr lang="en-US" sz="2000" dirty="0" smtClean="0">
                <a:solidFill>
                  <a:srgbClr val="000000"/>
                </a:solidFill>
                <a:latin typeface="Times New Roman" pitchFamily="18" charset="0"/>
                <a:cs typeface="Times New Roman" pitchFamily="18" charset="0"/>
              </a:rPr>
              <a:t> Statement.</a:t>
            </a:r>
          </a:p>
        </p:txBody>
      </p:sp>
      <p:pic>
        <p:nvPicPr>
          <p:cNvPr id="6"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413577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decel="100000"/>
                                        <p:tgtEl>
                                          <p:spTgt spid="4"/>
                                        </p:tgtEl>
                                      </p:cBhvr>
                                    </p:animEffect>
                                    <p:anim calcmode="lin" valueType="num">
                                      <p:cBhvr>
                                        <p:cTn id="8" dur="800" decel="100000" fill="hold"/>
                                        <p:tgtEl>
                                          <p:spTgt spid="4"/>
                                        </p:tgtEl>
                                        <p:attrNameLst>
                                          <p:attrName>style.rotation</p:attrName>
                                        </p:attrNameLst>
                                      </p:cBhvr>
                                      <p:tavLst>
                                        <p:tav tm="0">
                                          <p:val>
                                            <p:fltVal val="-90"/>
                                          </p:val>
                                        </p:tav>
                                        <p:tav tm="100000">
                                          <p:val>
                                            <p:fltVal val="0"/>
                                          </p:val>
                                        </p:tav>
                                      </p:tavLst>
                                    </p:anim>
                                    <p:anim calcmode="lin" valueType="num">
                                      <p:cBhvr>
                                        <p:cTn id="9" dur="800" decel="100000" fill="hold"/>
                                        <p:tgtEl>
                                          <p:spTgt spid="4"/>
                                        </p:tgtEl>
                                        <p:attrNameLst>
                                          <p:attrName>ppt_x</p:attrName>
                                        </p:attrNameLst>
                                      </p:cBhvr>
                                      <p:tavLst>
                                        <p:tav tm="0">
                                          <p:val>
                                            <p:strVal val="#ppt_x+0.4"/>
                                          </p:val>
                                        </p:tav>
                                        <p:tav tm="100000">
                                          <p:val>
                                            <p:strVal val="#ppt_x-0.05"/>
                                          </p:val>
                                        </p:tav>
                                      </p:tavLst>
                                    </p:anim>
                                    <p:anim calcmode="lin" valueType="num">
                                      <p:cBhvr>
                                        <p:cTn id="10" dur="800" decel="100000" fill="hold"/>
                                        <p:tgtEl>
                                          <p:spTgt spid="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latin typeface="Times New Roman" pitchFamily="18" charset="0"/>
                <a:cs typeface="Times New Roman" pitchFamily="18" charset="0"/>
              </a:rPr>
              <a:t>IF STATEMENT:</a:t>
            </a:r>
            <a:endParaRPr lang="en-IN"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8229600" cy="1971675"/>
          </a:xfrm>
        </p:spPr>
        <p:txBody>
          <a:bodyPr/>
          <a:lstStyle/>
          <a:p>
            <a:pPr>
              <a:buFont typeface="Wingdings" pitchFamily="2" charset="2"/>
              <a:buChar char="ü"/>
            </a:pPr>
            <a:r>
              <a:rPr lang="en-US" sz="2000" dirty="0" smtClean="0">
                <a:latin typeface="Times New Roman" pitchFamily="18" charset="0"/>
                <a:cs typeface="Times New Roman" pitchFamily="18" charset="0"/>
              </a:rPr>
              <a:t>IF </a:t>
            </a:r>
            <a:r>
              <a:rPr lang="en-US" sz="2000" b="0" dirty="0" smtClean="0">
                <a:effectLst/>
                <a:latin typeface="Times New Roman" pitchFamily="18" charset="0"/>
                <a:cs typeface="Times New Roman" pitchFamily="18" charset="0"/>
              </a:rPr>
              <a:t>statement allows us to execute sequence number of statements based </a:t>
            </a:r>
          </a:p>
          <a:p>
            <a:pPr>
              <a:buNone/>
            </a:pPr>
            <a:r>
              <a:rPr lang="en-US" sz="2000" dirty="0" smtClean="0">
                <a:latin typeface="Times New Roman" pitchFamily="18" charset="0"/>
                <a:cs typeface="Times New Roman" pitchFamily="18" charset="0"/>
              </a:rPr>
              <a:t>     </a:t>
            </a:r>
            <a:r>
              <a:rPr lang="en-US" sz="2000" b="0" dirty="0" smtClean="0">
                <a:effectLst/>
                <a:latin typeface="Times New Roman" pitchFamily="18" charset="0"/>
                <a:cs typeface="Times New Roman" pitchFamily="18" charset="0"/>
              </a:rPr>
              <a:t>on condition.</a:t>
            </a:r>
          </a:p>
          <a:p>
            <a:pPr>
              <a:buFont typeface="Wingdings" pitchFamily="2" charset="2"/>
              <a:buChar char="ü"/>
            </a:pPr>
            <a:r>
              <a:rPr lang="en-US" sz="2000" b="0" dirty="0" smtClean="0">
                <a:effectLst/>
                <a:latin typeface="Times New Roman" pitchFamily="18" charset="0"/>
                <a:cs typeface="Times New Roman" pitchFamily="18" charset="0"/>
              </a:rPr>
              <a:t>This is the most basic conditional evaluation statement</a:t>
            </a:r>
          </a:p>
          <a:p>
            <a:pPr>
              <a:buNone/>
            </a:pPr>
            <a:r>
              <a:rPr lang="en-US" sz="2000" b="0" dirty="0" smtClean="0">
                <a:effectLst/>
                <a:latin typeface="Times New Roman" pitchFamily="18" charset="0"/>
                <a:cs typeface="Times New Roman" pitchFamily="18" charset="0"/>
              </a:rPr>
              <a:t>      i.e.,</a:t>
            </a:r>
            <a:r>
              <a:rPr lang="en-IN" sz="2000" b="0" dirty="0" smtClean="0">
                <a:effectLst/>
                <a:latin typeface="Times New Roman" pitchFamily="18" charset="0"/>
                <a:cs typeface="Times New Roman" pitchFamily="18" charset="0"/>
              </a:rPr>
              <a:t> </a:t>
            </a:r>
            <a:endParaRPr lang="en-US" sz="2000" b="0" dirty="0" smtClean="0">
              <a:effectLst/>
              <a:latin typeface="Times New Roman" pitchFamily="18" charset="0"/>
              <a:cs typeface="Times New Roman" pitchFamily="18" charset="0"/>
            </a:endParaRPr>
          </a:p>
        </p:txBody>
      </p:sp>
      <p:sp>
        <p:nvSpPr>
          <p:cNvPr id="4" name="TextBox 3"/>
          <p:cNvSpPr txBox="1"/>
          <p:nvPr/>
        </p:nvSpPr>
        <p:spPr>
          <a:xfrm>
            <a:off x="1571604" y="2714620"/>
            <a:ext cx="4485715" cy="400110"/>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IF Condition is met, THEN do Something</a:t>
            </a:r>
            <a:endParaRPr lang="en-IN" sz="2000" dirty="0">
              <a:solidFill>
                <a:srgbClr val="000000"/>
              </a:solidFill>
              <a:latin typeface="Times New Roman" pitchFamily="18" charset="0"/>
              <a:cs typeface="Times New Roman" pitchFamily="18" charset="0"/>
            </a:endParaRPr>
          </a:p>
        </p:txBody>
      </p:sp>
      <p:sp>
        <p:nvSpPr>
          <p:cNvPr id="5" name="TextBox 4"/>
          <p:cNvSpPr txBox="1"/>
          <p:nvPr/>
        </p:nvSpPr>
        <p:spPr>
          <a:xfrm>
            <a:off x="1571604" y="3143248"/>
            <a:ext cx="6649897" cy="400110"/>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IF Condition is not met, Skip the code that follows till END IF.</a:t>
            </a:r>
            <a:endParaRPr lang="en-IN" sz="2000" dirty="0">
              <a:solidFill>
                <a:srgbClr val="000000"/>
              </a:solidFill>
              <a:latin typeface="Times New Roman" pitchFamily="18" charset="0"/>
              <a:cs typeface="Times New Roman" pitchFamily="18" charset="0"/>
            </a:endParaRPr>
          </a:p>
        </p:txBody>
      </p:sp>
      <p:sp>
        <p:nvSpPr>
          <p:cNvPr id="6" name="TextBox 5"/>
          <p:cNvSpPr txBox="1"/>
          <p:nvPr/>
        </p:nvSpPr>
        <p:spPr>
          <a:xfrm>
            <a:off x="785786" y="3746376"/>
            <a:ext cx="3849131" cy="1938992"/>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General syntax:</a:t>
            </a:r>
          </a:p>
          <a:p>
            <a:r>
              <a:rPr lang="en-US" sz="2000" dirty="0" smtClean="0">
                <a:solidFill>
                  <a:srgbClr val="000000"/>
                </a:solidFill>
                <a:latin typeface="Times New Roman" pitchFamily="18" charset="0"/>
                <a:cs typeface="Times New Roman" pitchFamily="18" charset="0"/>
              </a:rPr>
              <a:t>IF &lt;Condition&gt; THEN</a:t>
            </a:r>
          </a:p>
          <a:p>
            <a:r>
              <a:rPr lang="en-US" sz="2000" dirty="0" smtClean="0">
                <a:solidFill>
                  <a:srgbClr val="000000"/>
                </a:solidFill>
                <a:latin typeface="Times New Roman" pitchFamily="18" charset="0"/>
                <a:cs typeface="Times New Roman" pitchFamily="18" charset="0"/>
              </a:rPr>
              <a:t>      ---------</a:t>
            </a:r>
          </a:p>
          <a:p>
            <a:r>
              <a:rPr lang="en-US" sz="2000" dirty="0" smtClean="0">
                <a:solidFill>
                  <a:srgbClr val="000000"/>
                </a:solidFill>
                <a:latin typeface="Times New Roman" pitchFamily="18" charset="0"/>
                <a:cs typeface="Times New Roman" pitchFamily="18" charset="0"/>
              </a:rPr>
              <a:t>      --------- (Executable statements)</a:t>
            </a:r>
          </a:p>
          <a:p>
            <a:r>
              <a:rPr lang="en-US" sz="2000" dirty="0" smtClean="0">
                <a:solidFill>
                  <a:srgbClr val="000000"/>
                </a:solidFill>
                <a:latin typeface="Times New Roman" pitchFamily="18" charset="0"/>
                <a:cs typeface="Times New Roman" pitchFamily="18" charset="0"/>
              </a:rPr>
              <a:t>      ---------</a:t>
            </a:r>
          </a:p>
          <a:p>
            <a:r>
              <a:rPr lang="en-US" sz="2000" dirty="0" smtClean="0">
                <a:solidFill>
                  <a:srgbClr val="000000"/>
                </a:solidFill>
                <a:latin typeface="Times New Roman" pitchFamily="18" charset="0"/>
                <a:cs typeface="Times New Roman" pitchFamily="18" charset="0"/>
              </a:rPr>
              <a:t>END IF;</a:t>
            </a:r>
            <a:endParaRPr lang="en-IN" sz="2000" dirty="0">
              <a:solidFill>
                <a:srgbClr val="000000"/>
              </a:solidFill>
              <a:latin typeface="Times New Roman" pitchFamily="18" charset="0"/>
              <a:cs typeface="Times New Roman" pitchFamily="18" charset="0"/>
            </a:endParaRPr>
          </a:p>
        </p:txBody>
      </p:sp>
      <p:pic>
        <p:nvPicPr>
          <p:cNvPr id="7"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9"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603445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000" b="0" u="sng" dirty="0" smtClean="0">
                <a:effectLst/>
                <a:latin typeface="Times New Roman" pitchFamily="18" charset="0"/>
                <a:cs typeface="Times New Roman" pitchFamily="18" charset="0"/>
              </a:rPr>
              <a:t>Example:</a:t>
            </a:r>
            <a:endParaRPr lang="en-IN" sz="2000" b="0" u="sng" dirty="0" smtClean="0">
              <a:effectLst/>
              <a:latin typeface="Times New Roman" pitchFamily="18" charset="0"/>
              <a:cs typeface="Times New Roman" pitchFamily="18" charset="0"/>
            </a:endParaRPr>
          </a:p>
          <a:p>
            <a:pPr>
              <a:buNone/>
            </a:pPr>
            <a:endParaRPr lang="en-IN" sz="2000" b="0" dirty="0" smtClean="0">
              <a:effectLst/>
              <a:latin typeface="Times New Roman" pitchFamily="18" charset="0"/>
              <a:cs typeface="Times New Roman" pitchFamily="18" charset="0"/>
            </a:endParaRPr>
          </a:p>
          <a:p>
            <a:pPr>
              <a:buNone/>
            </a:pPr>
            <a:r>
              <a:rPr lang="en-IN" sz="2000" b="0" dirty="0" smtClean="0">
                <a:effectLst/>
                <a:latin typeface="Times New Roman" pitchFamily="18" charset="0"/>
                <a:cs typeface="Times New Roman" pitchFamily="18" charset="0"/>
              </a:rPr>
              <a:t>DECLARE</a:t>
            </a:r>
          </a:p>
          <a:p>
            <a:pPr>
              <a:buNone/>
            </a:pPr>
            <a:r>
              <a:rPr lang="en-IN" sz="2000" b="0" dirty="0" smtClean="0">
                <a:effectLst/>
                <a:latin typeface="Times New Roman" pitchFamily="18" charset="0"/>
                <a:cs typeface="Times New Roman" pitchFamily="18" charset="0"/>
              </a:rPr>
              <a:t>a NUMBER := 2;</a:t>
            </a:r>
          </a:p>
          <a:p>
            <a:pPr>
              <a:buNone/>
            </a:pPr>
            <a:r>
              <a:rPr lang="en-IN" sz="2000" b="0" dirty="0" smtClean="0">
                <a:effectLst/>
                <a:latin typeface="Times New Roman" pitchFamily="18" charset="0"/>
                <a:cs typeface="Times New Roman" pitchFamily="18" charset="0"/>
              </a:rPr>
              <a:t>b NUMBER := 2;</a:t>
            </a:r>
          </a:p>
          <a:p>
            <a:pPr>
              <a:buNone/>
            </a:pPr>
            <a:r>
              <a:rPr lang="en-IN" sz="2000" b="0" dirty="0" smtClean="0">
                <a:effectLst/>
                <a:latin typeface="Times New Roman" pitchFamily="18" charset="0"/>
                <a:cs typeface="Times New Roman" pitchFamily="18" charset="0"/>
              </a:rPr>
              <a:t>BEGIN</a:t>
            </a:r>
          </a:p>
          <a:p>
            <a:pPr>
              <a:buNone/>
            </a:pPr>
            <a:r>
              <a:rPr lang="en-IN" sz="2000" b="0" dirty="0" smtClean="0">
                <a:effectLst/>
                <a:latin typeface="Times New Roman" pitchFamily="18" charset="0"/>
                <a:cs typeface="Times New Roman" pitchFamily="18" charset="0"/>
              </a:rPr>
              <a:t>   IF a=b THEN</a:t>
            </a:r>
          </a:p>
          <a:p>
            <a:pPr>
              <a:buNone/>
            </a:pPr>
            <a:r>
              <a:rPr lang="en-IN" sz="2000" b="0" dirty="0" smtClean="0">
                <a:effectLst/>
                <a:latin typeface="Times New Roman" pitchFamily="18" charset="0"/>
                <a:cs typeface="Times New Roman" pitchFamily="18" charset="0"/>
              </a:rPr>
              <a:t>      DBMS_OUTPUT.PUT_LINE (‘XXXXXX');</a:t>
            </a:r>
          </a:p>
          <a:p>
            <a:pPr>
              <a:buNone/>
            </a:pPr>
            <a:r>
              <a:rPr lang="en-IN" sz="2000" b="0" dirty="0" smtClean="0">
                <a:effectLst/>
                <a:latin typeface="Times New Roman" pitchFamily="18" charset="0"/>
                <a:cs typeface="Times New Roman" pitchFamily="18" charset="0"/>
              </a:rPr>
              <a:t>   END IF;</a:t>
            </a:r>
          </a:p>
          <a:p>
            <a:pPr>
              <a:buNone/>
            </a:pPr>
            <a:r>
              <a:rPr lang="en-IN" sz="2000" b="0" dirty="0" smtClean="0">
                <a:effectLst/>
                <a:latin typeface="Times New Roman" pitchFamily="18" charset="0"/>
                <a:cs typeface="Times New Roman" pitchFamily="18" charset="0"/>
              </a:rPr>
              <a:t>   DBMS_OUTPUT.PUT_LINE (‘YYYYYY');</a:t>
            </a:r>
          </a:p>
          <a:p>
            <a:pPr>
              <a:buNone/>
            </a:pPr>
            <a:r>
              <a:rPr lang="en-IN" sz="2000" b="0" dirty="0" smtClean="0">
                <a:effectLst/>
                <a:latin typeface="Times New Roman" pitchFamily="18" charset="0"/>
                <a:cs typeface="Times New Roman" pitchFamily="18" charset="0"/>
              </a:rPr>
              <a:t>END;</a:t>
            </a:r>
            <a:endParaRPr lang="en-IN" sz="2000" b="0" dirty="0">
              <a:effectLst/>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4856275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latin typeface="Times New Roman" pitchFamily="18" charset="0"/>
                <a:cs typeface="Times New Roman" pitchFamily="18" charset="0"/>
              </a:rPr>
              <a:t>IF-ELSE:</a:t>
            </a:r>
            <a:endParaRPr lang="en-IN" sz="2400" dirty="0">
              <a:latin typeface="Times New Roman" pitchFamily="18" charset="0"/>
              <a:cs typeface="Times New Roman" pitchFamily="18" charset="0"/>
            </a:endParaRPr>
          </a:p>
        </p:txBody>
      </p:sp>
      <p:sp>
        <p:nvSpPr>
          <p:cNvPr id="4" name="Rectangle 3"/>
          <p:cNvSpPr/>
          <p:nvPr/>
        </p:nvSpPr>
        <p:spPr>
          <a:xfrm>
            <a:off x="3000364" y="2000240"/>
            <a:ext cx="1771656"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rPr>
              <a:t>IF</a:t>
            </a:r>
          </a:p>
          <a:p>
            <a:pPr algn="ctr"/>
            <a:r>
              <a:rPr lang="en-US" dirty="0" smtClean="0">
                <a:solidFill>
                  <a:srgbClr val="000000"/>
                </a:solidFill>
              </a:rPr>
              <a:t>CONDITION</a:t>
            </a:r>
            <a:endParaRPr lang="en-IN" dirty="0">
              <a:solidFill>
                <a:srgbClr val="000000"/>
              </a:solidFill>
            </a:endParaRPr>
          </a:p>
        </p:txBody>
      </p:sp>
      <p:sp>
        <p:nvSpPr>
          <p:cNvPr id="19" name="TextBox 18"/>
          <p:cNvSpPr txBox="1"/>
          <p:nvPr/>
        </p:nvSpPr>
        <p:spPr>
          <a:xfrm>
            <a:off x="1714480" y="2447504"/>
            <a:ext cx="718466" cy="338554"/>
          </a:xfrm>
          <a:prstGeom prst="rect">
            <a:avLst/>
          </a:prstGeom>
          <a:noFill/>
        </p:spPr>
        <p:txBody>
          <a:bodyPr wrap="none" rtlCol="0">
            <a:spAutoFit/>
          </a:bodyPr>
          <a:lstStyle/>
          <a:p>
            <a:r>
              <a:rPr lang="en-US" sz="1600" dirty="0" smtClean="0">
                <a:solidFill>
                  <a:schemeClr val="tx1">
                    <a:lumMod val="60000"/>
                    <a:lumOff val="40000"/>
                  </a:schemeClr>
                </a:solidFill>
                <a:latin typeface="Times New Roman" pitchFamily="18" charset="0"/>
                <a:cs typeface="Times New Roman" pitchFamily="18" charset="0"/>
              </a:rPr>
              <a:t>TRUE</a:t>
            </a:r>
            <a:endParaRPr lang="en-IN" sz="1600" dirty="0">
              <a:solidFill>
                <a:schemeClr val="tx1">
                  <a:lumMod val="60000"/>
                  <a:lumOff val="40000"/>
                </a:schemeClr>
              </a:solidFill>
              <a:latin typeface="Times New Roman" pitchFamily="18" charset="0"/>
              <a:cs typeface="Times New Roman" pitchFamily="18" charset="0"/>
            </a:endParaRPr>
          </a:p>
        </p:txBody>
      </p:sp>
      <p:sp>
        <p:nvSpPr>
          <p:cNvPr id="20" name="TextBox 19"/>
          <p:cNvSpPr txBox="1"/>
          <p:nvPr/>
        </p:nvSpPr>
        <p:spPr>
          <a:xfrm>
            <a:off x="5357818" y="2518942"/>
            <a:ext cx="794576" cy="338554"/>
          </a:xfrm>
          <a:prstGeom prst="rect">
            <a:avLst/>
          </a:prstGeom>
          <a:noFill/>
        </p:spPr>
        <p:txBody>
          <a:bodyPr wrap="none" rtlCol="0">
            <a:spAutoFit/>
          </a:bodyPr>
          <a:lstStyle/>
          <a:p>
            <a:r>
              <a:rPr lang="en-US" sz="1600" dirty="0" smtClean="0">
                <a:solidFill>
                  <a:srgbClr val="FF0000"/>
                </a:solidFill>
                <a:latin typeface="Times New Roman" pitchFamily="18" charset="0"/>
                <a:cs typeface="Times New Roman" pitchFamily="18" charset="0"/>
              </a:rPr>
              <a:t>FALSE</a:t>
            </a:r>
            <a:endParaRPr lang="en-IN" sz="1600" dirty="0">
              <a:solidFill>
                <a:srgbClr val="FF0000"/>
              </a:solidFill>
              <a:latin typeface="Times New Roman" pitchFamily="18" charset="0"/>
              <a:cs typeface="Times New Roman" pitchFamily="18" charset="0"/>
            </a:endParaRPr>
          </a:p>
        </p:txBody>
      </p:sp>
      <p:sp>
        <p:nvSpPr>
          <p:cNvPr id="22" name="Rounded Rectangle 21"/>
          <p:cNvSpPr/>
          <p:nvPr/>
        </p:nvSpPr>
        <p:spPr>
          <a:xfrm>
            <a:off x="1500166" y="3214686"/>
            <a:ext cx="1928826" cy="9144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rPr>
              <a:t>THEN</a:t>
            </a:r>
          </a:p>
          <a:p>
            <a:pPr algn="ctr"/>
            <a:r>
              <a:rPr lang="en-US" dirty="0" smtClean="0">
                <a:solidFill>
                  <a:srgbClr val="000000"/>
                </a:solidFill>
              </a:rPr>
              <a:t>(STATEMNTS)</a:t>
            </a:r>
            <a:endParaRPr lang="en-IN" dirty="0">
              <a:solidFill>
                <a:srgbClr val="000000"/>
              </a:solidFill>
            </a:endParaRPr>
          </a:p>
        </p:txBody>
      </p:sp>
      <p:sp>
        <p:nvSpPr>
          <p:cNvPr id="23" name="Rounded Rectangle 22"/>
          <p:cNvSpPr/>
          <p:nvPr/>
        </p:nvSpPr>
        <p:spPr>
          <a:xfrm>
            <a:off x="4286248" y="3228980"/>
            <a:ext cx="1928826" cy="9144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0000"/>
                </a:solidFill>
              </a:rPr>
              <a:t>ELSE</a:t>
            </a:r>
          </a:p>
          <a:p>
            <a:pPr algn="ctr"/>
            <a:r>
              <a:rPr lang="en-US" dirty="0" smtClean="0">
                <a:solidFill>
                  <a:srgbClr val="000000"/>
                </a:solidFill>
              </a:rPr>
              <a:t>(STATEMNTS)</a:t>
            </a:r>
            <a:endParaRPr lang="en-IN" dirty="0">
              <a:solidFill>
                <a:srgbClr val="000000"/>
              </a:solidFill>
            </a:endParaRPr>
          </a:p>
        </p:txBody>
      </p:sp>
      <p:sp>
        <p:nvSpPr>
          <p:cNvPr id="42" name="Bent-Up Arrow 41"/>
          <p:cNvSpPr/>
          <p:nvPr/>
        </p:nvSpPr>
        <p:spPr>
          <a:xfrm flipH="1" flipV="1">
            <a:off x="2428860" y="2357430"/>
            <a:ext cx="571504" cy="85725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Bent-Up Arrow 45"/>
          <p:cNvSpPr/>
          <p:nvPr/>
        </p:nvSpPr>
        <p:spPr>
          <a:xfrm flipV="1">
            <a:off x="4786314" y="2357430"/>
            <a:ext cx="642942" cy="857256"/>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Minus 49"/>
          <p:cNvSpPr/>
          <p:nvPr/>
        </p:nvSpPr>
        <p:spPr>
          <a:xfrm>
            <a:off x="2000232" y="4572008"/>
            <a:ext cx="3929090" cy="78581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Up Arrow 50"/>
          <p:cNvSpPr/>
          <p:nvPr/>
        </p:nvSpPr>
        <p:spPr>
          <a:xfrm flipV="1">
            <a:off x="3714744" y="5072074"/>
            <a:ext cx="428628" cy="928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Minus 51"/>
          <p:cNvSpPr/>
          <p:nvPr/>
        </p:nvSpPr>
        <p:spPr>
          <a:xfrm rot="16200000">
            <a:off x="2000231" y="4214818"/>
            <a:ext cx="1214446" cy="78581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Minus 52"/>
          <p:cNvSpPr/>
          <p:nvPr/>
        </p:nvSpPr>
        <p:spPr>
          <a:xfrm rot="16200000">
            <a:off x="4714876" y="4214818"/>
            <a:ext cx="1214446" cy="78581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16" name="Content Placeholder 2"/>
          <p:cNvSpPr>
            <a:spLocks noGrp="1"/>
          </p:cNvSpPr>
          <p:nvPr>
            <p:ph idx="1"/>
          </p:nvPr>
        </p:nvSpPr>
        <p:spPr>
          <a:xfrm>
            <a:off x="4343400" y="6446358"/>
            <a:ext cx="4343400" cy="447984"/>
          </a:xfrm>
        </p:spPr>
        <p:txBody>
          <a:bodyPr>
            <a:normAutofit/>
          </a:bodyPr>
          <a:lstStyle/>
          <a:p>
            <a:pPr marL="0" indent="0">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23035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9"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1000" fill="hold"/>
                                        <p:tgtEl>
                                          <p:spTgt spid="19"/>
                                        </p:tgtEl>
                                        <p:attrNameLst>
                                          <p:attrName>ppt_x</p:attrName>
                                        </p:attrNameLst>
                                      </p:cBhvr>
                                      <p:tavLst>
                                        <p:tav tm="0">
                                          <p:val>
                                            <p:strVal val="#ppt_x-.2"/>
                                          </p:val>
                                        </p:tav>
                                        <p:tav tm="100000">
                                          <p:val>
                                            <p:strVal val="#ppt_x"/>
                                          </p:val>
                                        </p:tav>
                                      </p:tavLst>
                                    </p:anim>
                                    <p:anim calcmode="lin" valueType="num">
                                      <p:cBhvr>
                                        <p:cTn id="14" dur="1000" fill="hold"/>
                                        <p:tgtEl>
                                          <p:spTgt spid="19"/>
                                        </p:tgtEl>
                                        <p:attrNameLst>
                                          <p:attrName>ppt_y</p:attrName>
                                        </p:attrNameLst>
                                      </p:cBhvr>
                                      <p:tavLst>
                                        <p:tav tm="0">
                                          <p:val>
                                            <p:strVal val="#ppt_y"/>
                                          </p:val>
                                        </p:tav>
                                        <p:tav tm="100000">
                                          <p:val>
                                            <p:strVal val="#ppt_y"/>
                                          </p:val>
                                        </p:tav>
                                      </p:tavLst>
                                    </p:anim>
                                    <p:animEffect transition="in" filter="wipe(right)" prLst="gradientSize: 0.1">
                                      <p:cBhvr>
                                        <p:cTn id="15" dur="1000"/>
                                        <p:tgtEl>
                                          <p:spTgt spid="19"/>
                                        </p:tgtEl>
                                      </p:cBhvr>
                                    </p:animEffect>
                                  </p:childTnLst>
                                </p:cTn>
                              </p:par>
                            </p:childTnLst>
                          </p:cTn>
                        </p:par>
                        <p:par>
                          <p:cTn id="16" fill="hold">
                            <p:stCondLst>
                              <p:cond delay="1000"/>
                            </p:stCondLst>
                            <p:childTnLst>
                              <p:par>
                                <p:cTn id="17" presetID="18" presetClass="entr" presetSubtype="12" fill="hold" grpId="0"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strips(downLeft)">
                                      <p:cBhvr>
                                        <p:cTn id="19" dur="500"/>
                                        <p:tgtEl>
                                          <p:spTgt spid="42"/>
                                        </p:tgtEl>
                                      </p:cBhvr>
                                    </p:animEffect>
                                  </p:childTnLst>
                                </p:cTn>
                              </p:par>
                            </p:childTnLst>
                          </p:cTn>
                        </p:par>
                        <p:par>
                          <p:cTn id="20" fill="hold">
                            <p:stCondLst>
                              <p:cond delay="1500"/>
                            </p:stCondLst>
                            <p:childTnLst>
                              <p:par>
                                <p:cTn id="21" presetID="23" presetClass="entr" presetSubtype="16" fill="hold" grpId="0" nodeType="afterEffect">
                                  <p:stCondLst>
                                    <p:cond delay="0"/>
                                  </p:stCondLst>
                                  <p:childTnLst>
                                    <p:set>
                                      <p:cBhvr>
                                        <p:cTn id="22" dur="1" fill="hold">
                                          <p:stCondLst>
                                            <p:cond delay="0"/>
                                          </p:stCondLst>
                                        </p:cTn>
                                        <p:tgtEl>
                                          <p:spTgt spid="22"/>
                                        </p:tgtEl>
                                        <p:attrNameLst>
                                          <p:attrName>style.visibility</p:attrName>
                                        </p:attrNameLst>
                                      </p:cBhvr>
                                      <p:to>
                                        <p:strVal val="visible"/>
                                      </p:to>
                                    </p:set>
                                    <p:anim calcmode="lin" valueType="num">
                                      <p:cBhvr>
                                        <p:cTn id="23" dur="500" fill="hold"/>
                                        <p:tgtEl>
                                          <p:spTgt spid="22"/>
                                        </p:tgtEl>
                                        <p:attrNameLst>
                                          <p:attrName>ppt_w</p:attrName>
                                        </p:attrNameLst>
                                      </p:cBhvr>
                                      <p:tavLst>
                                        <p:tav tm="0">
                                          <p:val>
                                            <p:fltVal val="0"/>
                                          </p:val>
                                        </p:tav>
                                        <p:tav tm="100000">
                                          <p:val>
                                            <p:strVal val="#ppt_w"/>
                                          </p:val>
                                        </p:tav>
                                      </p:tavLst>
                                    </p:anim>
                                    <p:anim calcmode="lin" valueType="num">
                                      <p:cBhvr>
                                        <p:cTn id="24"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0"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800" decel="100000"/>
                                        <p:tgtEl>
                                          <p:spTgt spid="20"/>
                                        </p:tgtEl>
                                      </p:cBhvr>
                                    </p:animEffect>
                                    <p:anim calcmode="lin" valueType="num">
                                      <p:cBhvr>
                                        <p:cTn id="30" dur="800" decel="100000" fill="hold"/>
                                        <p:tgtEl>
                                          <p:spTgt spid="20"/>
                                        </p:tgtEl>
                                        <p:attrNameLst>
                                          <p:attrName>style.rotation</p:attrName>
                                        </p:attrNameLst>
                                      </p:cBhvr>
                                      <p:tavLst>
                                        <p:tav tm="0">
                                          <p:val>
                                            <p:fltVal val="-90"/>
                                          </p:val>
                                        </p:tav>
                                        <p:tav tm="100000">
                                          <p:val>
                                            <p:fltVal val="0"/>
                                          </p:val>
                                        </p:tav>
                                      </p:tavLst>
                                    </p:anim>
                                    <p:anim calcmode="lin" valueType="num">
                                      <p:cBhvr>
                                        <p:cTn id="31" dur="800" decel="100000" fill="hold"/>
                                        <p:tgtEl>
                                          <p:spTgt spid="20"/>
                                        </p:tgtEl>
                                        <p:attrNameLst>
                                          <p:attrName>ppt_x</p:attrName>
                                        </p:attrNameLst>
                                      </p:cBhvr>
                                      <p:tavLst>
                                        <p:tav tm="0">
                                          <p:val>
                                            <p:strVal val="#ppt_x+0.4"/>
                                          </p:val>
                                        </p:tav>
                                        <p:tav tm="100000">
                                          <p:val>
                                            <p:strVal val="#ppt_x-0.05"/>
                                          </p:val>
                                        </p:tav>
                                      </p:tavLst>
                                    </p:anim>
                                    <p:anim calcmode="lin" valueType="num">
                                      <p:cBhvr>
                                        <p:cTn id="32" dur="800" decel="100000" fill="hold"/>
                                        <p:tgtEl>
                                          <p:spTgt spid="20"/>
                                        </p:tgtEl>
                                        <p:attrNameLst>
                                          <p:attrName>ppt_y</p:attrName>
                                        </p:attrNameLst>
                                      </p:cBhvr>
                                      <p:tavLst>
                                        <p:tav tm="0">
                                          <p:val>
                                            <p:strVal val="#ppt_y-0.4"/>
                                          </p:val>
                                        </p:tav>
                                        <p:tav tm="100000">
                                          <p:val>
                                            <p:strVal val="#ppt_y+0.1"/>
                                          </p:val>
                                        </p:tav>
                                      </p:tavLst>
                                    </p:anim>
                                    <p:anim calcmode="lin" valueType="num">
                                      <p:cBhvr>
                                        <p:cTn id="33"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34"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par>
                          <p:cTn id="35" fill="hold">
                            <p:stCondLst>
                              <p:cond delay="1000"/>
                            </p:stCondLst>
                            <p:childTnLst>
                              <p:par>
                                <p:cTn id="36" presetID="18" presetClass="entr" presetSubtype="12" fill="hold" grpId="0" nodeType="after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strips(downLeft)">
                                      <p:cBhvr>
                                        <p:cTn id="38" dur="500"/>
                                        <p:tgtEl>
                                          <p:spTgt spid="46"/>
                                        </p:tgtEl>
                                      </p:cBhvr>
                                    </p:animEffect>
                                  </p:childTnLst>
                                </p:cTn>
                              </p:par>
                            </p:childTnLst>
                          </p:cTn>
                        </p:par>
                        <p:par>
                          <p:cTn id="39" fill="hold">
                            <p:stCondLst>
                              <p:cond delay="1500"/>
                            </p:stCondLst>
                            <p:childTnLst>
                              <p:par>
                                <p:cTn id="40" presetID="23" presetClass="entr" presetSubtype="16"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52"/>
                                        </p:tgtEl>
                                        <p:attrNameLst>
                                          <p:attrName>style.visibility</p:attrName>
                                        </p:attrNameLst>
                                      </p:cBhvr>
                                      <p:to>
                                        <p:strVal val="visible"/>
                                      </p:to>
                                    </p:set>
                                    <p:anim calcmode="lin" valueType="num">
                                      <p:cBhvr>
                                        <p:cTn id="48" dur="500" fill="hold"/>
                                        <p:tgtEl>
                                          <p:spTgt spid="52"/>
                                        </p:tgtEl>
                                        <p:attrNameLst>
                                          <p:attrName>ppt_w</p:attrName>
                                        </p:attrNameLst>
                                      </p:cBhvr>
                                      <p:tavLst>
                                        <p:tav tm="0">
                                          <p:val>
                                            <p:fltVal val="0"/>
                                          </p:val>
                                        </p:tav>
                                        <p:tav tm="100000">
                                          <p:val>
                                            <p:strVal val="#ppt_w"/>
                                          </p:val>
                                        </p:tav>
                                      </p:tavLst>
                                    </p:anim>
                                    <p:anim calcmode="lin" valueType="num">
                                      <p:cBhvr>
                                        <p:cTn id="49" dur="500" fill="hold"/>
                                        <p:tgtEl>
                                          <p:spTgt spid="52"/>
                                        </p:tgtEl>
                                        <p:attrNameLst>
                                          <p:attrName>ppt_h</p:attrName>
                                        </p:attrNameLst>
                                      </p:cBhvr>
                                      <p:tavLst>
                                        <p:tav tm="0">
                                          <p:val>
                                            <p:fltVal val="0"/>
                                          </p:val>
                                        </p:tav>
                                        <p:tav tm="100000">
                                          <p:val>
                                            <p:strVal val="#ppt_h"/>
                                          </p:val>
                                        </p:tav>
                                      </p:tavLst>
                                    </p:anim>
                                  </p:childTnLst>
                                </p:cTn>
                              </p:par>
                              <p:par>
                                <p:cTn id="50" presetID="23" presetClass="entr" presetSubtype="16"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anim calcmode="lin" valueType="num">
                                      <p:cBhvr>
                                        <p:cTn id="52" dur="500" fill="hold"/>
                                        <p:tgtEl>
                                          <p:spTgt spid="50"/>
                                        </p:tgtEl>
                                        <p:attrNameLst>
                                          <p:attrName>ppt_w</p:attrName>
                                        </p:attrNameLst>
                                      </p:cBhvr>
                                      <p:tavLst>
                                        <p:tav tm="0">
                                          <p:val>
                                            <p:fltVal val="0"/>
                                          </p:val>
                                        </p:tav>
                                        <p:tav tm="100000">
                                          <p:val>
                                            <p:strVal val="#ppt_w"/>
                                          </p:val>
                                        </p:tav>
                                      </p:tavLst>
                                    </p:anim>
                                    <p:anim calcmode="lin" valueType="num">
                                      <p:cBhvr>
                                        <p:cTn id="53" dur="500" fill="hold"/>
                                        <p:tgtEl>
                                          <p:spTgt spid="50"/>
                                        </p:tgtEl>
                                        <p:attrNameLst>
                                          <p:attrName>ppt_h</p:attrName>
                                        </p:attrNameLst>
                                      </p:cBhvr>
                                      <p:tavLst>
                                        <p:tav tm="0">
                                          <p:val>
                                            <p:fltVal val="0"/>
                                          </p:val>
                                        </p:tav>
                                        <p:tav tm="100000">
                                          <p:val>
                                            <p:strVal val="#ppt_h"/>
                                          </p:val>
                                        </p:tav>
                                      </p:tavLst>
                                    </p:anim>
                                  </p:childTnLst>
                                </p:cTn>
                              </p:par>
                              <p:par>
                                <p:cTn id="54" presetID="23" presetClass="entr" presetSubtype="16"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anim calcmode="lin" valueType="num">
                                      <p:cBhvr>
                                        <p:cTn id="56" dur="500" fill="hold"/>
                                        <p:tgtEl>
                                          <p:spTgt spid="53"/>
                                        </p:tgtEl>
                                        <p:attrNameLst>
                                          <p:attrName>ppt_w</p:attrName>
                                        </p:attrNameLst>
                                      </p:cBhvr>
                                      <p:tavLst>
                                        <p:tav tm="0">
                                          <p:val>
                                            <p:fltVal val="0"/>
                                          </p:val>
                                        </p:tav>
                                        <p:tav tm="100000">
                                          <p:val>
                                            <p:strVal val="#ppt_w"/>
                                          </p:val>
                                        </p:tav>
                                      </p:tavLst>
                                    </p:anim>
                                    <p:anim calcmode="lin" valueType="num">
                                      <p:cBhvr>
                                        <p:cTn id="57" dur="500" fill="hold"/>
                                        <p:tgtEl>
                                          <p:spTgt spid="53"/>
                                        </p:tgtEl>
                                        <p:attrNameLst>
                                          <p:attrName>ppt_h</p:attrName>
                                        </p:attrNameLst>
                                      </p:cBhvr>
                                      <p:tavLst>
                                        <p:tav tm="0">
                                          <p:val>
                                            <p:fltVal val="0"/>
                                          </p:val>
                                        </p:tav>
                                        <p:tav tm="100000">
                                          <p:val>
                                            <p:strVal val="#ppt_h"/>
                                          </p:val>
                                        </p:tav>
                                      </p:tavLst>
                                    </p:anim>
                                  </p:childTnLst>
                                </p:cTn>
                              </p:par>
                              <p:par>
                                <p:cTn id="58" presetID="23" presetClass="entr" presetSubtype="16" fill="hold" grpId="0" nodeType="withEffect">
                                  <p:stCondLst>
                                    <p:cond delay="0"/>
                                  </p:stCondLst>
                                  <p:childTnLst>
                                    <p:set>
                                      <p:cBhvr>
                                        <p:cTn id="59" dur="1" fill="hold">
                                          <p:stCondLst>
                                            <p:cond delay="0"/>
                                          </p:stCondLst>
                                        </p:cTn>
                                        <p:tgtEl>
                                          <p:spTgt spid="51"/>
                                        </p:tgtEl>
                                        <p:attrNameLst>
                                          <p:attrName>style.visibility</p:attrName>
                                        </p:attrNameLst>
                                      </p:cBhvr>
                                      <p:to>
                                        <p:strVal val="visible"/>
                                      </p:to>
                                    </p:set>
                                    <p:anim calcmode="lin" valueType="num">
                                      <p:cBhvr>
                                        <p:cTn id="60" dur="500" fill="hold"/>
                                        <p:tgtEl>
                                          <p:spTgt spid="51"/>
                                        </p:tgtEl>
                                        <p:attrNameLst>
                                          <p:attrName>ppt_w</p:attrName>
                                        </p:attrNameLst>
                                      </p:cBhvr>
                                      <p:tavLst>
                                        <p:tav tm="0">
                                          <p:val>
                                            <p:fltVal val="0"/>
                                          </p:val>
                                        </p:tav>
                                        <p:tav tm="100000">
                                          <p:val>
                                            <p:strVal val="#ppt_w"/>
                                          </p:val>
                                        </p:tav>
                                      </p:tavLst>
                                    </p:anim>
                                    <p:anim calcmode="lin" valueType="num">
                                      <p:cBhvr>
                                        <p:cTn id="61" dur="500" fill="hold"/>
                                        <p:tgtEl>
                                          <p:spTgt spid="5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p:bldP spid="20" grpId="0"/>
      <p:bldP spid="22" grpId="0" animBg="1"/>
      <p:bldP spid="23" grpId="0" animBg="1"/>
      <p:bldP spid="42" grpId="0" animBg="1"/>
      <p:bldP spid="46" grpId="0" animBg="1"/>
      <p:bldP spid="50" grpId="0" animBg="1"/>
      <p:bldP spid="51" grpId="0" animBg="1"/>
      <p:bldP spid="52" grpId="0" animBg="1"/>
      <p:bldP spid="5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7239000" cy="4846320"/>
          </a:xfrm>
        </p:spPr>
        <p:txBody>
          <a:bodyPr>
            <a:normAutofit/>
          </a:bodyPr>
          <a:lstStyle/>
          <a:p>
            <a:pPr>
              <a:buNone/>
            </a:pPr>
            <a:r>
              <a:rPr lang="en-US" sz="2000" u="sng" dirty="0" smtClean="0">
                <a:solidFill>
                  <a:srgbClr val="000000"/>
                </a:solidFill>
                <a:effectLst/>
                <a:latin typeface="Times New Roman" pitchFamily="18" charset="0"/>
                <a:cs typeface="Times New Roman" pitchFamily="18" charset="0"/>
              </a:rPr>
              <a:t>Example:</a:t>
            </a:r>
          </a:p>
          <a:p>
            <a:pPr>
              <a:buNone/>
            </a:pPr>
            <a:endParaRPr lang="en-US" sz="2000" b="0" dirty="0" smtClean="0">
              <a:solidFill>
                <a:srgbClr val="000000"/>
              </a:solidFill>
              <a:effectLst/>
              <a:latin typeface="Times New Roman" pitchFamily="18" charset="0"/>
              <a:cs typeface="Times New Roman" pitchFamily="18" charset="0"/>
            </a:endParaRPr>
          </a:p>
          <a:p>
            <a:pPr>
              <a:buNone/>
            </a:pPr>
            <a:r>
              <a:rPr lang="en-IN" sz="2000" b="0" dirty="0" smtClean="0">
                <a:solidFill>
                  <a:srgbClr val="000000"/>
                </a:solidFill>
                <a:effectLst/>
                <a:latin typeface="Times New Roman" pitchFamily="18" charset="0"/>
                <a:cs typeface="Times New Roman" pitchFamily="18" charset="0"/>
              </a:rPr>
              <a:t>DECLARE</a:t>
            </a:r>
          </a:p>
          <a:p>
            <a:pPr>
              <a:buNone/>
            </a:pPr>
            <a:r>
              <a:rPr lang="en-IN" sz="2000" b="0" dirty="0" smtClean="0">
                <a:solidFill>
                  <a:srgbClr val="000000"/>
                </a:solidFill>
                <a:effectLst/>
                <a:latin typeface="Times New Roman" pitchFamily="18" charset="0"/>
                <a:cs typeface="Times New Roman" pitchFamily="18" charset="0"/>
              </a:rPr>
              <a:t>  a NUMBER := 2;</a:t>
            </a:r>
          </a:p>
          <a:p>
            <a:pPr>
              <a:buNone/>
            </a:pPr>
            <a:r>
              <a:rPr lang="en-IN" sz="2000" b="0" dirty="0" smtClean="0">
                <a:solidFill>
                  <a:srgbClr val="000000"/>
                </a:solidFill>
                <a:effectLst/>
                <a:latin typeface="Times New Roman" pitchFamily="18" charset="0"/>
                <a:cs typeface="Times New Roman" pitchFamily="18" charset="0"/>
              </a:rPr>
              <a:t>  b NUMBER := 3;</a:t>
            </a:r>
          </a:p>
          <a:p>
            <a:pPr>
              <a:buNone/>
            </a:pPr>
            <a:r>
              <a:rPr lang="en-IN" sz="2000" b="0" dirty="0" smtClean="0">
                <a:solidFill>
                  <a:srgbClr val="000000"/>
                </a:solidFill>
                <a:effectLst/>
                <a:latin typeface="Times New Roman" pitchFamily="18" charset="0"/>
                <a:cs typeface="Times New Roman" pitchFamily="18" charset="0"/>
              </a:rPr>
              <a:t>BEGIN</a:t>
            </a:r>
          </a:p>
          <a:p>
            <a:pPr>
              <a:buNone/>
            </a:pPr>
            <a:r>
              <a:rPr lang="en-IN" sz="2000" b="0" dirty="0" smtClean="0">
                <a:solidFill>
                  <a:srgbClr val="000000"/>
                </a:solidFill>
                <a:effectLst/>
                <a:latin typeface="Times New Roman" pitchFamily="18" charset="0"/>
                <a:cs typeface="Times New Roman" pitchFamily="18" charset="0"/>
              </a:rPr>
              <a:t>  IF a=b THEN</a:t>
            </a:r>
          </a:p>
          <a:p>
            <a:pPr>
              <a:buNone/>
            </a:pPr>
            <a:r>
              <a:rPr lang="en-IN" sz="2000" b="0" dirty="0" smtClean="0">
                <a:solidFill>
                  <a:srgbClr val="000000"/>
                </a:solidFill>
                <a:effectLst/>
                <a:latin typeface="Times New Roman" pitchFamily="18" charset="0"/>
                <a:cs typeface="Times New Roman" pitchFamily="18" charset="0"/>
              </a:rPr>
              <a:t>    DBMS_OUTPUT.PUT_LINE ('Welcome to PROVEN DW');</a:t>
            </a:r>
          </a:p>
          <a:p>
            <a:pPr>
              <a:buNone/>
            </a:pPr>
            <a:r>
              <a:rPr lang="en-IN" sz="2000" b="0" dirty="0" smtClean="0">
                <a:solidFill>
                  <a:srgbClr val="000000"/>
                </a:solidFill>
                <a:effectLst/>
                <a:latin typeface="Times New Roman" pitchFamily="18" charset="0"/>
                <a:cs typeface="Times New Roman" pitchFamily="18" charset="0"/>
              </a:rPr>
              <a:t>  ELSE</a:t>
            </a:r>
          </a:p>
          <a:p>
            <a:pPr>
              <a:buNone/>
            </a:pPr>
            <a:r>
              <a:rPr lang="en-IN" sz="2000" b="0" dirty="0" smtClean="0">
                <a:solidFill>
                  <a:srgbClr val="000000"/>
                </a:solidFill>
                <a:effectLst/>
                <a:latin typeface="Times New Roman" pitchFamily="18" charset="0"/>
                <a:cs typeface="Times New Roman" pitchFamily="18" charset="0"/>
              </a:rPr>
              <a:t>    DBMS_OUTPUT.PUT_LINE (‘BYE PROVEN DW');</a:t>
            </a:r>
          </a:p>
          <a:p>
            <a:pPr>
              <a:buNone/>
            </a:pPr>
            <a:r>
              <a:rPr lang="en-IN" sz="2000" b="0" dirty="0" smtClean="0">
                <a:solidFill>
                  <a:srgbClr val="000000"/>
                </a:solidFill>
                <a:effectLst/>
                <a:latin typeface="Times New Roman" pitchFamily="18" charset="0"/>
                <a:cs typeface="Times New Roman" pitchFamily="18" charset="0"/>
              </a:rPr>
              <a:t>  END IF;</a:t>
            </a:r>
          </a:p>
          <a:p>
            <a:pPr>
              <a:buNone/>
            </a:pPr>
            <a:r>
              <a:rPr lang="en-IN" sz="2000" b="0" dirty="0" smtClean="0">
                <a:solidFill>
                  <a:srgbClr val="000000"/>
                </a:solidFill>
                <a:effectLst/>
                <a:latin typeface="Times New Roman" pitchFamily="18" charset="0"/>
                <a:cs typeface="Times New Roman" pitchFamily="18" charset="0"/>
              </a:rPr>
              <a:t>END;</a:t>
            </a:r>
            <a:endParaRPr lang="en-IN" sz="2000" b="0" dirty="0">
              <a:solidFill>
                <a:srgbClr val="000000"/>
              </a:solidFill>
              <a:effectLst/>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2261032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194"/>
            <a:ext cx="7239000" cy="1143000"/>
          </a:xfrm>
        </p:spPr>
        <p:txBody>
          <a:bodyPr/>
          <a:lstStyle/>
          <a:p>
            <a:r>
              <a:rPr lang="en-US" sz="2400" dirty="0" smtClean="0">
                <a:effectLst/>
                <a:latin typeface="Times New Roman" pitchFamily="18" charset="0"/>
                <a:cs typeface="Times New Roman" pitchFamily="18" charset="0"/>
              </a:rPr>
              <a:t>NESTED IF:</a:t>
            </a:r>
            <a:endParaRPr lang="en-IN" sz="240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1357298"/>
            <a:ext cx="7801004" cy="2114552"/>
          </a:xfrm>
        </p:spPr>
        <p:txBody>
          <a:bodyPr>
            <a:normAutofit/>
          </a:bodyPr>
          <a:lstStyle/>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Calling conditional IF statement one inside another is called as Nested IF statement</a:t>
            </a: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In Nested IF, result of the first IF statement will decide the execution of child IF statements</a:t>
            </a: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Each nested IF statement must be terminated with a corresponding END IF clause.</a:t>
            </a:r>
            <a:endParaRPr lang="en-IN" sz="2000" b="0" dirty="0">
              <a:solidFill>
                <a:srgbClr val="000000"/>
              </a:solidFill>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3167743" y="3443514"/>
            <a:ext cx="4391025" cy="2598524"/>
          </a:xfrm>
          <a:prstGeom prst="rect">
            <a:avLst/>
          </a:prstGeom>
          <a:noFill/>
          <a:ln w="9525">
            <a:noFill/>
            <a:miter lim="800000"/>
            <a:headEnd/>
            <a:tailEnd/>
          </a:ln>
          <a:effectLst/>
        </p:spPr>
      </p:pic>
      <p:sp>
        <p:nvSpPr>
          <p:cNvPr id="5" name="TextBox 4"/>
          <p:cNvSpPr txBox="1"/>
          <p:nvPr/>
        </p:nvSpPr>
        <p:spPr>
          <a:xfrm>
            <a:off x="857224" y="3429000"/>
            <a:ext cx="1024639" cy="400110"/>
          </a:xfrm>
          <a:prstGeom prst="rect">
            <a:avLst/>
          </a:prstGeom>
          <a:noFill/>
        </p:spPr>
        <p:txBody>
          <a:bodyPr wrap="none" rtlCol="0">
            <a:spAutoFit/>
          </a:bodyPr>
          <a:lstStyle/>
          <a:p>
            <a:r>
              <a:rPr lang="en-US" sz="2000" b="1" dirty="0" smtClean="0">
                <a:solidFill>
                  <a:srgbClr val="000000"/>
                </a:solidFill>
                <a:latin typeface="Times New Roman" pitchFamily="18" charset="0"/>
                <a:cs typeface="Times New Roman" pitchFamily="18" charset="0"/>
              </a:rPr>
              <a:t>Syntax:</a:t>
            </a:r>
            <a:endParaRPr lang="en-IN" sz="2000" b="1" dirty="0">
              <a:solidFill>
                <a:srgbClr val="000000"/>
              </a:solidFill>
              <a:latin typeface="Times New Roman" pitchFamily="18" charset="0"/>
              <a:cs typeface="Times New Roman" pitchFamily="18" charset="0"/>
            </a:endParaRPr>
          </a:p>
        </p:txBody>
      </p:sp>
      <p:pic>
        <p:nvPicPr>
          <p:cNvPr id="6"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8"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028776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70" decel="100000"/>
                                        <p:tgtEl>
                                          <p:spTgt spid="5"/>
                                        </p:tgtEl>
                                      </p:cBhvr>
                                    </p:animEffect>
                                    <p:animScale>
                                      <p:cBhvr>
                                        <p:cTn id="8" dur="770" decel="100000"/>
                                        <p:tgtEl>
                                          <p:spTgt spid="5"/>
                                        </p:tgtEl>
                                      </p:cBhvr>
                                      <p:from x="10000" y="10000"/>
                                      <p:to x="200000" y="450000"/>
                                    </p:animScale>
                                    <p:animScale>
                                      <p:cBhvr>
                                        <p:cTn id="9" dur="1230" accel="100000" fill="hold">
                                          <p:stCondLst>
                                            <p:cond delay="770"/>
                                          </p:stCondLst>
                                        </p:cTn>
                                        <p:tgtEl>
                                          <p:spTgt spid="5"/>
                                        </p:tgtEl>
                                      </p:cBhvr>
                                      <p:from x="200000" y="450000"/>
                                      <p:to x="100000" y="100000"/>
                                    </p:animScale>
                                    <p:set>
                                      <p:cBhvr>
                                        <p:cTn id="10" dur="770" fill="hold"/>
                                        <p:tgtEl>
                                          <p:spTgt spid="5"/>
                                        </p:tgtEl>
                                        <p:attrNameLst>
                                          <p:attrName>ppt_x</p:attrName>
                                        </p:attrNameLst>
                                      </p:cBhvr>
                                      <p:to>
                                        <p:strVal val="(0.5)"/>
                                      </p:to>
                                    </p:set>
                                    <p:anim from="(0.5)" to="(#ppt_x)" calcmode="lin" valueType="num">
                                      <p:cBhvr>
                                        <p:cTn id="11" dur="1230" accel="100000" fill="hold">
                                          <p:stCondLst>
                                            <p:cond delay="770"/>
                                          </p:stCondLst>
                                        </p:cTn>
                                        <p:tgtEl>
                                          <p:spTgt spid="5"/>
                                        </p:tgtEl>
                                        <p:attrNameLst>
                                          <p:attrName>ppt_x</p:attrName>
                                        </p:attrNameLst>
                                      </p:cBhvr>
                                    </p:anim>
                                    <p:set>
                                      <p:cBhvr>
                                        <p:cTn id="12" dur="770" fill="hold"/>
                                        <p:tgtEl>
                                          <p:spTgt spid="5"/>
                                        </p:tgtEl>
                                        <p:attrNameLst>
                                          <p:attrName>ppt_y</p:attrName>
                                        </p:attrNameLst>
                                      </p:cBhvr>
                                      <p:to>
                                        <p:strVal val="(#ppt_y+0.4)"/>
                                      </p:to>
                                    </p:set>
                                    <p:anim from="(#ppt_y+0.4)" to="(#ppt_y)" calcmode="lin" valueType="num">
                                      <p:cBhvr>
                                        <p:cTn id="13" dur="1230" accel="100000" fill="hold">
                                          <p:stCondLst>
                                            <p:cond delay="770"/>
                                          </p:stCondLst>
                                        </p:cTn>
                                        <p:tgtEl>
                                          <p:spTgt spid="5"/>
                                        </p:tgtEl>
                                        <p:attrNameLst>
                                          <p:attrName>ppt_y</p:attrName>
                                        </p:attrNameLst>
                                      </p:cBhvr>
                                    </p:anim>
                                  </p:childTnLst>
                                </p:cTn>
                              </p:par>
                            </p:childTnLst>
                          </p:cTn>
                        </p:par>
                        <p:par>
                          <p:cTn id="14" fill="hold">
                            <p:stCondLst>
                              <p:cond delay="2000"/>
                            </p:stCondLst>
                            <p:childTnLst>
                              <p:par>
                                <p:cTn id="15" presetID="15" presetClass="entr" presetSubtype="0" fill="hold" nodeType="after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p:cTn id="17" dur="1000" fill="hold"/>
                                        <p:tgtEl>
                                          <p:spTgt spid="1026"/>
                                        </p:tgtEl>
                                        <p:attrNameLst>
                                          <p:attrName>ppt_w</p:attrName>
                                        </p:attrNameLst>
                                      </p:cBhvr>
                                      <p:tavLst>
                                        <p:tav tm="0">
                                          <p:val>
                                            <p:fltVal val="0"/>
                                          </p:val>
                                        </p:tav>
                                        <p:tav tm="100000">
                                          <p:val>
                                            <p:strVal val="#ppt_w"/>
                                          </p:val>
                                        </p:tav>
                                      </p:tavLst>
                                    </p:anim>
                                    <p:anim calcmode="lin" valueType="num">
                                      <p:cBhvr>
                                        <p:cTn id="18" dur="1000" fill="hold"/>
                                        <p:tgtEl>
                                          <p:spTgt spid="1026"/>
                                        </p:tgtEl>
                                        <p:attrNameLst>
                                          <p:attrName>ppt_h</p:attrName>
                                        </p:attrNameLst>
                                      </p:cBhvr>
                                      <p:tavLst>
                                        <p:tav tm="0">
                                          <p:val>
                                            <p:fltVal val="0"/>
                                          </p:val>
                                        </p:tav>
                                        <p:tav tm="100000">
                                          <p:val>
                                            <p:strVal val="#ppt_h"/>
                                          </p:val>
                                        </p:tav>
                                      </p:tavLst>
                                    </p:anim>
                                    <p:anim calcmode="lin" valueType="num">
                                      <p:cBhvr>
                                        <p:cTn id="19" dur="1000" fill="hold"/>
                                        <p:tgtEl>
                                          <p:spTgt spid="1026"/>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102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solidFill>
                  <a:srgbClr val="000000"/>
                </a:solidFill>
                <a:effectLst/>
                <a:latin typeface="Times New Roman" pitchFamily="18" charset="0"/>
                <a:cs typeface="Times New Roman" pitchFamily="18" charset="0"/>
              </a:rPr>
              <a:t>Example:</a:t>
            </a:r>
            <a:endParaRPr lang="en-IN" sz="2400" dirty="0">
              <a:solidFill>
                <a:srgbClr val="00000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1700808"/>
            <a:ext cx="7605464" cy="4176464"/>
          </a:xfrm>
        </p:spPr>
        <p:txBody>
          <a:bodyPr>
            <a:normAutofit fontScale="92500" lnSpcReduction="10000"/>
          </a:bodyPr>
          <a:lstStyle/>
          <a:p>
            <a:pPr marL="0" indent="0">
              <a:buNone/>
            </a:pPr>
            <a:r>
              <a:rPr lang="en-IN" sz="1600" b="0" dirty="0" smtClean="0">
                <a:solidFill>
                  <a:srgbClr val="000000"/>
                </a:solidFill>
                <a:effectLst/>
                <a:latin typeface="Times New Roman" pitchFamily="18" charset="0"/>
                <a:cs typeface="Times New Roman" pitchFamily="18" charset="0"/>
              </a:rPr>
              <a:t>DECLARE</a:t>
            </a:r>
          </a:p>
          <a:p>
            <a:pPr marL="0" indent="0">
              <a:buNone/>
            </a:pPr>
            <a:r>
              <a:rPr lang="en-IN" sz="1600" b="0" dirty="0" smtClean="0">
                <a:solidFill>
                  <a:srgbClr val="000000"/>
                </a:solidFill>
                <a:effectLst/>
                <a:latin typeface="Times New Roman" pitchFamily="18" charset="0"/>
                <a:cs typeface="Times New Roman" pitchFamily="18" charset="0"/>
              </a:rPr>
              <a:t>v_deptno NUMBER (2) ;</a:t>
            </a:r>
          </a:p>
          <a:p>
            <a:pPr marL="0" indent="0">
              <a:buNone/>
            </a:pPr>
            <a:r>
              <a:rPr lang="en-IN" sz="1600" b="0" dirty="0" smtClean="0">
                <a:solidFill>
                  <a:srgbClr val="000000"/>
                </a:solidFill>
                <a:effectLst/>
                <a:latin typeface="Times New Roman" pitchFamily="18" charset="0"/>
                <a:cs typeface="Times New Roman" pitchFamily="18" charset="0"/>
              </a:rPr>
              <a:t>v_name VARCHAR2 (100) := 'SALES' ;</a:t>
            </a:r>
          </a:p>
          <a:p>
            <a:pPr marL="0" indent="0">
              <a:buNone/>
            </a:pPr>
            <a:r>
              <a:rPr lang="en-IN" sz="1600" b="0" dirty="0" smtClean="0">
                <a:solidFill>
                  <a:srgbClr val="000000"/>
                </a:solidFill>
                <a:effectLst/>
                <a:latin typeface="Times New Roman" pitchFamily="18" charset="0"/>
                <a:cs typeface="Times New Roman" pitchFamily="18" charset="0"/>
              </a:rPr>
              <a:t>BEGIN</a:t>
            </a:r>
          </a:p>
          <a:p>
            <a:pPr marL="0" indent="0">
              <a:buNone/>
            </a:pPr>
            <a:r>
              <a:rPr lang="en-IN" sz="1600" b="0" dirty="0" smtClean="0">
                <a:solidFill>
                  <a:srgbClr val="000000"/>
                </a:solidFill>
                <a:effectLst/>
                <a:latin typeface="Times New Roman" pitchFamily="18" charset="0"/>
                <a:cs typeface="Times New Roman" pitchFamily="18" charset="0"/>
              </a:rPr>
              <a:t>SELECT deptno</a:t>
            </a:r>
          </a:p>
          <a:p>
            <a:pPr marL="0" indent="0">
              <a:buNone/>
            </a:pPr>
            <a:r>
              <a:rPr lang="en-IN" sz="1600" b="0" dirty="0" smtClean="0">
                <a:solidFill>
                  <a:srgbClr val="000000"/>
                </a:solidFill>
                <a:effectLst/>
                <a:latin typeface="Times New Roman" pitchFamily="18" charset="0"/>
                <a:cs typeface="Times New Roman" pitchFamily="18" charset="0"/>
              </a:rPr>
              <a:t>INTO v_deptno</a:t>
            </a:r>
          </a:p>
          <a:p>
            <a:pPr marL="0" indent="0">
              <a:buNone/>
            </a:pPr>
            <a:r>
              <a:rPr lang="en-IN" sz="1600" b="0" dirty="0" smtClean="0">
                <a:solidFill>
                  <a:srgbClr val="000000"/>
                </a:solidFill>
                <a:effectLst/>
                <a:latin typeface="Times New Roman" pitchFamily="18" charset="0"/>
                <a:cs typeface="Times New Roman" pitchFamily="18" charset="0"/>
              </a:rPr>
              <a:t>FROM dept</a:t>
            </a:r>
          </a:p>
          <a:p>
            <a:pPr marL="0" indent="0">
              <a:buNone/>
            </a:pPr>
            <a:r>
              <a:rPr lang="en-IN" sz="1600" b="0" dirty="0" smtClean="0">
                <a:solidFill>
                  <a:srgbClr val="000000"/>
                </a:solidFill>
                <a:effectLst/>
                <a:latin typeface="Times New Roman" pitchFamily="18" charset="0"/>
                <a:cs typeface="Times New Roman" pitchFamily="18" charset="0"/>
              </a:rPr>
              <a:t>WHERE dname = v_name;</a:t>
            </a:r>
          </a:p>
          <a:p>
            <a:pPr marL="0" indent="0">
              <a:buNone/>
            </a:pPr>
            <a:r>
              <a:rPr lang="en-IN" sz="1600" b="0" dirty="0" smtClean="0">
                <a:solidFill>
                  <a:srgbClr val="000000"/>
                </a:solidFill>
                <a:effectLst/>
                <a:latin typeface="Times New Roman" pitchFamily="18" charset="0"/>
                <a:cs typeface="Times New Roman" pitchFamily="18" charset="0"/>
              </a:rPr>
              <a:t>DBMS_OUTPUT.PUT_LINE ('Department Number fetched is - '||v_deptno);</a:t>
            </a:r>
          </a:p>
          <a:p>
            <a:pPr marL="0" indent="0">
              <a:buNone/>
            </a:pPr>
            <a:r>
              <a:rPr lang="en-IN" sz="1600" b="0" dirty="0" smtClean="0">
                <a:solidFill>
                  <a:srgbClr val="000000"/>
                </a:solidFill>
                <a:effectLst/>
                <a:latin typeface="Times New Roman" pitchFamily="18" charset="0"/>
                <a:cs typeface="Times New Roman" pitchFamily="18" charset="0"/>
              </a:rPr>
              <a:t>IF (v_deptno &gt; 20 ) THEN</a:t>
            </a:r>
          </a:p>
          <a:p>
            <a:pPr marL="0" indent="0">
              <a:buNone/>
            </a:pPr>
            <a:r>
              <a:rPr lang="en-IN" sz="1600" b="0" dirty="0" smtClean="0">
                <a:solidFill>
                  <a:srgbClr val="000000"/>
                </a:solidFill>
                <a:effectLst/>
                <a:latin typeface="Times New Roman" pitchFamily="18" charset="0"/>
                <a:cs typeface="Times New Roman" pitchFamily="18" charset="0"/>
              </a:rPr>
              <a:t>DBMS_OUTPUT.PUT_LINE ('Department Number is greater than 20');</a:t>
            </a:r>
          </a:p>
          <a:p>
            <a:pPr marL="0" indent="0">
              <a:buNone/>
            </a:pPr>
            <a:r>
              <a:rPr lang="en-IN" sz="1600" b="0" dirty="0">
                <a:solidFill>
                  <a:srgbClr val="000000"/>
                </a:solidFill>
                <a:effectLst/>
                <a:latin typeface="Times New Roman" pitchFamily="18" charset="0"/>
                <a:cs typeface="Times New Roman" pitchFamily="18" charset="0"/>
              </a:rPr>
              <a:t>IF (v_deptno = 30) THEN</a:t>
            </a:r>
          </a:p>
          <a:p>
            <a:pPr marL="0" indent="0">
              <a:buNone/>
            </a:pPr>
            <a:r>
              <a:rPr lang="en-IN" sz="1600" b="0" dirty="0">
                <a:solidFill>
                  <a:srgbClr val="000000"/>
                </a:solidFill>
                <a:effectLst/>
                <a:latin typeface="Times New Roman" pitchFamily="18" charset="0"/>
                <a:cs typeface="Times New Roman" pitchFamily="18" charset="0"/>
              </a:rPr>
              <a:t>DBMS_OUTPUT.PUT_LINE ('We are in Department Number 30');</a:t>
            </a:r>
          </a:p>
          <a:p>
            <a:pPr marL="0" indent="0">
              <a:buNone/>
            </a:pPr>
            <a:r>
              <a:rPr lang="en-IN" sz="1600" b="0" dirty="0">
                <a:solidFill>
                  <a:srgbClr val="000000"/>
                </a:solidFill>
                <a:effectLst/>
                <a:latin typeface="Times New Roman" pitchFamily="18" charset="0"/>
                <a:cs typeface="Times New Roman" pitchFamily="18" charset="0"/>
              </a:rPr>
              <a:t>ELSE</a:t>
            </a:r>
          </a:p>
          <a:p>
            <a:pPr marL="0" indent="0">
              <a:buNone/>
            </a:pPr>
            <a:endParaRPr lang="en-IN" sz="1600" b="0" dirty="0" smtClean="0">
              <a:solidFill>
                <a:srgbClr val="000000"/>
              </a:solidFill>
              <a:effectLst/>
              <a:latin typeface="Times New Roman" pitchFamily="18" charset="0"/>
              <a:cs typeface="Times New Roman" pitchFamily="18" charset="0"/>
            </a:endParaRPr>
          </a:p>
          <a:p>
            <a:pPr marL="0" indent="0">
              <a:buNone/>
            </a:pPr>
            <a:endParaRPr lang="en-IN" sz="1600" b="0" dirty="0">
              <a:solidFill>
                <a:srgbClr val="000000"/>
              </a:solidFill>
              <a:effectLst/>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6503930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IN" sz="1400" b="0" dirty="0" smtClean="0">
                <a:solidFill>
                  <a:srgbClr val="000000"/>
                </a:solidFill>
                <a:effectLst/>
                <a:latin typeface="Times New Roman" pitchFamily="18" charset="0"/>
                <a:cs typeface="Times New Roman" pitchFamily="18" charset="0"/>
              </a:rPr>
              <a:t>IF </a:t>
            </a:r>
            <a:r>
              <a:rPr lang="en-IN" sz="1400" b="0" dirty="0">
                <a:solidFill>
                  <a:srgbClr val="000000"/>
                </a:solidFill>
                <a:effectLst/>
                <a:latin typeface="Times New Roman" pitchFamily="18" charset="0"/>
                <a:cs typeface="Times New Roman" pitchFamily="18" charset="0"/>
              </a:rPr>
              <a:t>(v_deptno = 40) THEN</a:t>
            </a:r>
          </a:p>
          <a:p>
            <a:pPr marL="0" indent="0">
              <a:buNone/>
            </a:pPr>
            <a:r>
              <a:rPr lang="en-IN" sz="1400" b="0" dirty="0">
                <a:solidFill>
                  <a:srgbClr val="000000"/>
                </a:solidFill>
                <a:effectLst/>
                <a:latin typeface="Times New Roman" pitchFamily="18" charset="0"/>
                <a:cs typeface="Times New Roman" pitchFamily="18" charset="0"/>
              </a:rPr>
              <a:t>DBMS_OUTPUT.PUT_LINE ('We are in Department Number 40');</a:t>
            </a:r>
          </a:p>
          <a:p>
            <a:pPr marL="0" indent="0">
              <a:buNone/>
            </a:pPr>
            <a:r>
              <a:rPr lang="en-IN" sz="1400" b="0" dirty="0">
                <a:solidFill>
                  <a:srgbClr val="000000"/>
                </a:solidFill>
                <a:effectLst/>
                <a:latin typeface="Times New Roman" pitchFamily="18" charset="0"/>
                <a:cs typeface="Times New Roman" pitchFamily="18" charset="0"/>
              </a:rPr>
              <a:t>END IF;</a:t>
            </a:r>
          </a:p>
          <a:p>
            <a:pPr marL="0" indent="0">
              <a:buNone/>
            </a:pPr>
            <a:r>
              <a:rPr lang="en-IN" sz="1400" b="0" dirty="0">
                <a:solidFill>
                  <a:srgbClr val="000000"/>
                </a:solidFill>
                <a:effectLst/>
                <a:latin typeface="Times New Roman" pitchFamily="18" charset="0"/>
                <a:cs typeface="Times New Roman" pitchFamily="18" charset="0"/>
              </a:rPr>
              <a:t>END IF;</a:t>
            </a:r>
          </a:p>
          <a:p>
            <a:pPr marL="0" indent="0">
              <a:buNone/>
            </a:pPr>
            <a:r>
              <a:rPr lang="en-IN" sz="1400" b="0" dirty="0">
                <a:solidFill>
                  <a:srgbClr val="000000"/>
                </a:solidFill>
                <a:effectLst/>
                <a:latin typeface="Times New Roman" pitchFamily="18" charset="0"/>
                <a:cs typeface="Times New Roman" pitchFamily="18" charset="0"/>
              </a:rPr>
              <a:t>ELSE</a:t>
            </a:r>
          </a:p>
          <a:p>
            <a:pPr marL="0" indent="0">
              <a:buNone/>
            </a:pPr>
            <a:r>
              <a:rPr lang="en-IN" sz="1400" b="0" dirty="0">
                <a:solidFill>
                  <a:srgbClr val="000000"/>
                </a:solidFill>
                <a:effectLst/>
                <a:latin typeface="Times New Roman" pitchFamily="18" charset="0"/>
                <a:cs typeface="Times New Roman" pitchFamily="18" charset="0"/>
              </a:rPr>
              <a:t>DBMS_OUTPUT.PUT_LINE ('Department Number is less than or equal to 20');</a:t>
            </a:r>
          </a:p>
          <a:p>
            <a:pPr marL="0" indent="0">
              <a:buNone/>
            </a:pPr>
            <a:r>
              <a:rPr lang="en-IN" sz="1400" b="0" dirty="0">
                <a:solidFill>
                  <a:srgbClr val="000000"/>
                </a:solidFill>
                <a:effectLst/>
                <a:latin typeface="Times New Roman" pitchFamily="18" charset="0"/>
                <a:cs typeface="Times New Roman" pitchFamily="18" charset="0"/>
              </a:rPr>
              <a:t>IF (v_deptno = 20) THEN</a:t>
            </a:r>
          </a:p>
          <a:p>
            <a:pPr marL="0" indent="0">
              <a:buNone/>
            </a:pPr>
            <a:r>
              <a:rPr lang="en-IN" sz="1400" b="0" dirty="0">
                <a:solidFill>
                  <a:srgbClr val="000000"/>
                </a:solidFill>
                <a:effectLst/>
                <a:latin typeface="Times New Roman" pitchFamily="18" charset="0"/>
                <a:cs typeface="Times New Roman" pitchFamily="18" charset="0"/>
              </a:rPr>
              <a:t>DBMS_OUTPUT.PUT_LINE ('We are in Department Number 20');</a:t>
            </a:r>
          </a:p>
          <a:p>
            <a:pPr marL="0" indent="0">
              <a:buNone/>
            </a:pPr>
            <a:r>
              <a:rPr lang="en-IN" sz="1400" b="0" dirty="0">
                <a:solidFill>
                  <a:srgbClr val="000000"/>
                </a:solidFill>
                <a:effectLst/>
                <a:latin typeface="Times New Roman" pitchFamily="18" charset="0"/>
                <a:cs typeface="Times New Roman" pitchFamily="18" charset="0"/>
              </a:rPr>
              <a:t>ELSE</a:t>
            </a:r>
          </a:p>
          <a:p>
            <a:pPr marL="0" indent="0">
              <a:buNone/>
            </a:pPr>
            <a:r>
              <a:rPr lang="en-IN" sz="1400" b="0" dirty="0">
                <a:solidFill>
                  <a:srgbClr val="000000"/>
                </a:solidFill>
                <a:effectLst/>
                <a:latin typeface="Times New Roman" pitchFamily="18" charset="0"/>
                <a:cs typeface="Times New Roman" pitchFamily="18" charset="0"/>
              </a:rPr>
              <a:t>IF (v_deptno = 10) THEN</a:t>
            </a:r>
          </a:p>
          <a:p>
            <a:pPr marL="0" indent="0">
              <a:buNone/>
            </a:pPr>
            <a:r>
              <a:rPr lang="en-IN" sz="1400" b="0" dirty="0">
                <a:solidFill>
                  <a:srgbClr val="000000"/>
                </a:solidFill>
                <a:effectLst/>
                <a:latin typeface="Times New Roman" pitchFamily="18" charset="0"/>
                <a:cs typeface="Times New Roman" pitchFamily="18" charset="0"/>
              </a:rPr>
              <a:t>DBMS_OUTPUT.PUT_LINE ('We are in Department Number 10');</a:t>
            </a:r>
          </a:p>
          <a:p>
            <a:pPr marL="0" indent="0">
              <a:buNone/>
            </a:pPr>
            <a:r>
              <a:rPr lang="en-IN" sz="1400" b="0" dirty="0">
                <a:solidFill>
                  <a:srgbClr val="000000"/>
                </a:solidFill>
                <a:effectLst/>
                <a:latin typeface="Times New Roman" pitchFamily="18" charset="0"/>
                <a:cs typeface="Times New Roman" pitchFamily="18" charset="0"/>
              </a:rPr>
              <a:t>END IF;</a:t>
            </a:r>
          </a:p>
          <a:p>
            <a:pPr marL="0" indent="0">
              <a:buNone/>
            </a:pPr>
            <a:r>
              <a:rPr lang="en-IN" sz="1400" b="0" dirty="0">
                <a:solidFill>
                  <a:srgbClr val="000000"/>
                </a:solidFill>
                <a:effectLst/>
                <a:latin typeface="Times New Roman" pitchFamily="18" charset="0"/>
                <a:cs typeface="Times New Roman" pitchFamily="18" charset="0"/>
              </a:rPr>
              <a:t>END IF;</a:t>
            </a:r>
          </a:p>
          <a:p>
            <a:pPr marL="0" indent="0">
              <a:buNone/>
            </a:pPr>
            <a:r>
              <a:rPr lang="en-IN" sz="1400" b="0" dirty="0">
                <a:solidFill>
                  <a:srgbClr val="000000"/>
                </a:solidFill>
                <a:effectLst/>
                <a:latin typeface="Times New Roman" pitchFamily="18" charset="0"/>
                <a:cs typeface="Times New Roman" pitchFamily="18" charset="0"/>
              </a:rPr>
              <a:t>END IF;</a:t>
            </a:r>
          </a:p>
          <a:p>
            <a:pPr marL="0" indent="0">
              <a:buNone/>
            </a:pPr>
            <a:r>
              <a:rPr lang="en-IN" sz="1400" b="0" dirty="0">
                <a:solidFill>
                  <a:srgbClr val="000000"/>
                </a:solidFill>
                <a:effectLst/>
                <a:latin typeface="Times New Roman" pitchFamily="18" charset="0"/>
                <a:cs typeface="Times New Roman" pitchFamily="18" charset="0"/>
              </a:rPr>
              <a:t>END</a:t>
            </a:r>
            <a:endParaRPr lang="en-US" sz="1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2893053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7239000" cy="1143000"/>
          </a:xfrm>
        </p:spPr>
        <p:txBody>
          <a:bodyPr/>
          <a:lstStyle/>
          <a:p>
            <a:r>
              <a:rPr lang="en-US" sz="2400" dirty="0" smtClean="0">
                <a:effectLst/>
                <a:latin typeface="Times New Roman" pitchFamily="18" charset="0"/>
                <a:cs typeface="Times New Roman" pitchFamily="18" charset="0"/>
              </a:rPr>
              <a:t>ELSIF:</a:t>
            </a:r>
            <a:endParaRPr lang="en-IN" sz="240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228600" y="1585686"/>
            <a:ext cx="8001000" cy="1471610"/>
          </a:xfrm>
        </p:spPr>
        <p:txBody>
          <a:bodyPr/>
          <a:lstStyle/>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ELSIF condition statement is very similar to NESTED IF, but in ELSIF we specify all IF statements in a sequential way using ‘ELSIF’ keyword.</a:t>
            </a: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ELSIF statement is useful when we have multiple conditional statements to evaluate.</a:t>
            </a:r>
            <a:endParaRPr lang="en-IN" sz="2000" b="0" dirty="0">
              <a:solidFill>
                <a:srgbClr val="000000"/>
              </a:solidFill>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3200400" y="3106667"/>
            <a:ext cx="3226708" cy="2876886"/>
          </a:xfrm>
          <a:prstGeom prst="rect">
            <a:avLst/>
          </a:prstGeom>
          <a:noFill/>
          <a:ln w="9525">
            <a:noFill/>
            <a:miter lim="800000"/>
            <a:headEnd/>
            <a:tailEnd/>
          </a:ln>
          <a:effectLst/>
        </p:spPr>
      </p:pic>
      <p:sp>
        <p:nvSpPr>
          <p:cNvPr id="5" name="TextBox 4"/>
          <p:cNvSpPr txBox="1"/>
          <p:nvPr/>
        </p:nvSpPr>
        <p:spPr>
          <a:xfrm>
            <a:off x="928662" y="3071810"/>
            <a:ext cx="1024639" cy="400110"/>
          </a:xfrm>
          <a:prstGeom prst="rect">
            <a:avLst/>
          </a:prstGeom>
          <a:noFill/>
        </p:spPr>
        <p:txBody>
          <a:bodyPr wrap="none" rtlCol="0">
            <a:spAutoFit/>
          </a:bodyPr>
          <a:lstStyle/>
          <a:p>
            <a:r>
              <a:rPr lang="en-US" sz="2000" b="1" dirty="0" smtClean="0">
                <a:solidFill>
                  <a:srgbClr val="000000"/>
                </a:solidFill>
                <a:latin typeface="Times New Roman" pitchFamily="18" charset="0"/>
                <a:cs typeface="Times New Roman" pitchFamily="18" charset="0"/>
              </a:rPr>
              <a:t>Syntax:</a:t>
            </a:r>
            <a:endParaRPr lang="en-IN" sz="2000" b="1" dirty="0">
              <a:solidFill>
                <a:srgbClr val="000000"/>
              </a:solidFill>
              <a:latin typeface="Times New Roman" pitchFamily="18" charset="0"/>
              <a:cs typeface="Times New Roman" pitchFamily="18" charset="0"/>
            </a:endParaRPr>
          </a:p>
        </p:txBody>
      </p:sp>
      <p:pic>
        <p:nvPicPr>
          <p:cNvPr id="6"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8"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66415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70" decel="100000"/>
                                        <p:tgtEl>
                                          <p:spTgt spid="5"/>
                                        </p:tgtEl>
                                      </p:cBhvr>
                                    </p:animEffect>
                                    <p:animScale>
                                      <p:cBhvr>
                                        <p:cTn id="8" dur="770" decel="100000"/>
                                        <p:tgtEl>
                                          <p:spTgt spid="5"/>
                                        </p:tgtEl>
                                      </p:cBhvr>
                                      <p:from x="10000" y="10000"/>
                                      <p:to x="200000" y="450000"/>
                                    </p:animScale>
                                    <p:animScale>
                                      <p:cBhvr>
                                        <p:cTn id="9" dur="1230" accel="100000" fill="hold">
                                          <p:stCondLst>
                                            <p:cond delay="770"/>
                                          </p:stCondLst>
                                        </p:cTn>
                                        <p:tgtEl>
                                          <p:spTgt spid="5"/>
                                        </p:tgtEl>
                                      </p:cBhvr>
                                      <p:from x="200000" y="450000"/>
                                      <p:to x="100000" y="100000"/>
                                    </p:animScale>
                                    <p:set>
                                      <p:cBhvr>
                                        <p:cTn id="10" dur="770" fill="hold"/>
                                        <p:tgtEl>
                                          <p:spTgt spid="5"/>
                                        </p:tgtEl>
                                        <p:attrNameLst>
                                          <p:attrName>ppt_x</p:attrName>
                                        </p:attrNameLst>
                                      </p:cBhvr>
                                      <p:to>
                                        <p:strVal val="(0.5)"/>
                                      </p:to>
                                    </p:set>
                                    <p:anim from="(0.5)" to="(#ppt_x)" calcmode="lin" valueType="num">
                                      <p:cBhvr>
                                        <p:cTn id="11" dur="1230" accel="100000" fill="hold">
                                          <p:stCondLst>
                                            <p:cond delay="770"/>
                                          </p:stCondLst>
                                        </p:cTn>
                                        <p:tgtEl>
                                          <p:spTgt spid="5"/>
                                        </p:tgtEl>
                                        <p:attrNameLst>
                                          <p:attrName>ppt_x</p:attrName>
                                        </p:attrNameLst>
                                      </p:cBhvr>
                                    </p:anim>
                                    <p:set>
                                      <p:cBhvr>
                                        <p:cTn id="12" dur="770" fill="hold"/>
                                        <p:tgtEl>
                                          <p:spTgt spid="5"/>
                                        </p:tgtEl>
                                        <p:attrNameLst>
                                          <p:attrName>ppt_y</p:attrName>
                                        </p:attrNameLst>
                                      </p:cBhvr>
                                      <p:to>
                                        <p:strVal val="(#ppt_y+0.4)"/>
                                      </p:to>
                                    </p:set>
                                    <p:anim from="(#ppt_y+0.4)" to="(#ppt_y)" calcmode="lin" valueType="num">
                                      <p:cBhvr>
                                        <p:cTn id="13" dur="1230" accel="100000" fill="hold">
                                          <p:stCondLst>
                                            <p:cond delay="770"/>
                                          </p:stCondLst>
                                        </p:cTn>
                                        <p:tgtEl>
                                          <p:spTgt spid="5"/>
                                        </p:tgtEl>
                                        <p:attrNameLst>
                                          <p:attrName>ppt_y</p:attrName>
                                        </p:attrNameLst>
                                      </p:cBhvr>
                                    </p:anim>
                                  </p:childTnLst>
                                </p:cTn>
                              </p:par>
                            </p:childTnLst>
                          </p:cTn>
                        </p:par>
                        <p:par>
                          <p:cTn id="14" fill="hold">
                            <p:stCondLst>
                              <p:cond delay="2000"/>
                            </p:stCondLst>
                            <p:childTnLst>
                              <p:par>
                                <p:cTn id="15" presetID="18" presetClass="entr" presetSubtype="12" fill="hold" nodeType="after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strips(downLeft)">
                                      <p:cBhvr>
                                        <p:cTn id="1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285860"/>
            <a:ext cx="8229600" cy="5143536"/>
          </a:xfrm>
        </p:spPr>
        <p:txBody>
          <a:bodyPr>
            <a:normAutofit/>
          </a:bodyPr>
          <a:lstStyle/>
          <a:p>
            <a:pPr marL="0" indent="0">
              <a:buNone/>
            </a:pPr>
            <a:r>
              <a:rPr lang="en-IN" sz="1600" b="0" dirty="0" smtClean="0">
                <a:solidFill>
                  <a:srgbClr val="000000"/>
                </a:solidFill>
                <a:effectLst/>
                <a:latin typeface="Times New Roman" pitchFamily="18" charset="0"/>
                <a:cs typeface="Times New Roman" pitchFamily="18" charset="0"/>
              </a:rPr>
              <a:t>DECLARE</a:t>
            </a:r>
          </a:p>
          <a:p>
            <a:pPr marL="0" indent="0">
              <a:buNone/>
            </a:pPr>
            <a:r>
              <a:rPr lang="en-IN" sz="1600" b="0" dirty="0" smtClean="0">
                <a:solidFill>
                  <a:srgbClr val="000000"/>
                </a:solidFill>
                <a:effectLst/>
                <a:latin typeface="Times New Roman" pitchFamily="18" charset="0"/>
                <a:cs typeface="Times New Roman" pitchFamily="18" charset="0"/>
              </a:rPr>
              <a:t>v_deptno NUMBER (2) ;</a:t>
            </a:r>
          </a:p>
          <a:p>
            <a:pPr marL="0" indent="0">
              <a:buNone/>
            </a:pPr>
            <a:r>
              <a:rPr lang="en-IN" sz="1600" b="0" dirty="0" smtClean="0">
                <a:solidFill>
                  <a:srgbClr val="000000"/>
                </a:solidFill>
                <a:effectLst/>
                <a:latin typeface="Times New Roman" pitchFamily="18" charset="0"/>
                <a:cs typeface="Times New Roman" pitchFamily="18" charset="0"/>
              </a:rPr>
              <a:t>v_name VARCHAR2 (100) := 'SALES' ;</a:t>
            </a:r>
          </a:p>
          <a:p>
            <a:pPr marL="0" indent="0">
              <a:buNone/>
            </a:pPr>
            <a:r>
              <a:rPr lang="en-IN" sz="1600" b="0" dirty="0" smtClean="0">
                <a:solidFill>
                  <a:srgbClr val="000000"/>
                </a:solidFill>
                <a:effectLst/>
                <a:latin typeface="Times New Roman" pitchFamily="18" charset="0"/>
                <a:cs typeface="Times New Roman" pitchFamily="18" charset="0"/>
              </a:rPr>
              <a:t>BEGIN</a:t>
            </a:r>
          </a:p>
          <a:p>
            <a:pPr marL="0" indent="0">
              <a:buNone/>
            </a:pPr>
            <a:r>
              <a:rPr lang="en-IN" sz="1600" b="0" dirty="0" smtClean="0">
                <a:solidFill>
                  <a:srgbClr val="000000"/>
                </a:solidFill>
                <a:effectLst/>
                <a:latin typeface="Times New Roman" pitchFamily="18" charset="0"/>
                <a:cs typeface="Times New Roman" pitchFamily="18" charset="0"/>
              </a:rPr>
              <a:t>SELECT deptno</a:t>
            </a:r>
          </a:p>
          <a:p>
            <a:pPr marL="0" indent="0">
              <a:buNone/>
            </a:pPr>
            <a:r>
              <a:rPr lang="en-IN" sz="1600" b="0" dirty="0" smtClean="0">
                <a:solidFill>
                  <a:srgbClr val="000000"/>
                </a:solidFill>
                <a:effectLst/>
                <a:latin typeface="Times New Roman" pitchFamily="18" charset="0"/>
                <a:cs typeface="Times New Roman" pitchFamily="18" charset="0"/>
              </a:rPr>
              <a:t>INTO v_deptno</a:t>
            </a:r>
          </a:p>
          <a:p>
            <a:pPr marL="0" indent="0">
              <a:buNone/>
            </a:pPr>
            <a:r>
              <a:rPr lang="en-IN" sz="1600" b="0" dirty="0" smtClean="0">
                <a:solidFill>
                  <a:srgbClr val="000000"/>
                </a:solidFill>
                <a:effectLst/>
                <a:latin typeface="Times New Roman" pitchFamily="18" charset="0"/>
                <a:cs typeface="Times New Roman" pitchFamily="18" charset="0"/>
              </a:rPr>
              <a:t>FROM dept</a:t>
            </a:r>
          </a:p>
          <a:p>
            <a:pPr marL="0" indent="0">
              <a:buNone/>
            </a:pPr>
            <a:r>
              <a:rPr lang="en-IN" sz="1600" b="0" dirty="0" smtClean="0">
                <a:solidFill>
                  <a:srgbClr val="000000"/>
                </a:solidFill>
                <a:effectLst/>
                <a:latin typeface="Times New Roman" pitchFamily="18" charset="0"/>
                <a:cs typeface="Times New Roman" pitchFamily="18" charset="0"/>
              </a:rPr>
              <a:t>WHERE dname = v_name;</a:t>
            </a:r>
          </a:p>
          <a:p>
            <a:pPr marL="0" indent="0">
              <a:buNone/>
            </a:pPr>
            <a:r>
              <a:rPr lang="en-IN" sz="1600" b="0" dirty="0" smtClean="0">
                <a:solidFill>
                  <a:srgbClr val="000000"/>
                </a:solidFill>
                <a:effectLst/>
                <a:latin typeface="Times New Roman" pitchFamily="18" charset="0"/>
                <a:cs typeface="Times New Roman" pitchFamily="18" charset="0"/>
              </a:rPr>
              <a:t>DBMS_OUTPUT.PUT_LINE ('Department Number fetched is - '||v_deptno);</a:t>
            </a:r>
          </a:p>
          <a:p>
            <a:pPr marL="0" indent="0">
              <a:buNone/>
            </a:pPr>
            <a:r>
              <a:rPr lang="en-IN" sz="1600" b="0" dirty="0" smtClean="0">
                <a:solidFill>
                  <a:srgbClr val="000000"/>
                </a:solidFill>
                <a:effectLst/>
                <a:latin typeface="Times New Roman" pitchFamily="18" charset="0"/>
                <a:cs typeface="Times New Roman" pitchFamily="18" charset="0"/>
              </a:rPr>
              <a:t>IF (v_deptno = 10)</a:t>
            </a:r>
          </a:p>
          <a:p>
            <a:pPr marL="0" indent="0">
              <a:buNone/>
            </a:pPr>
            <a:r>
              <a:rPr lang="en-IN" sz="1600" b="0" dirty="0" smtClean="0">
                <a:solidFill>
                  <a:srgbClr val="000000"/>
                </a:solidFill>
                <a:effectLst/>
                <a:latin typeface="Times New Roman" pitchFamily="18" charset="0"/>
                <a:cs typeface="Times New Roman" pitchFamily="18" charset="0"/>
              </a:rPr>
              <a:t>THEN</a:t>
            </a:r>
          </a:p>
          <a:p>
            <a:pPr marL="0" indent="0">
              <a:buNone/>
            </a:pPr>
            <a:r>
              <a:rPr lang="en-IN" sz="1600" b="0" dirty="0" smtClean="0">
                <a:solidFill>
                  <a:srgbClr val="000000"/>
                </a:solidFill>
                <a:effectLst/>
                <a:latin typeface="Times New Roman" pitchFamily="18" charset="0"/>
                <a:cs typeface="Times New Roman" pitchFamily="18" charset="0"/>
              </a:rPr>
              <a:t>DBMS_OUTPUT.PUT_LINE ('We are in Department Number 10');</a:t>
            </a:r>
          </a:p>
          <a:p>
            <a:pPr marL="0" indent="0">
              <a:buNone/>
            </a:pPr>
            <a:r>
              <a:rPr lang="en-IN" sz="1600" b="0" dirty="0" smtClean="0">
                <a:solidFill>
                  <a:srgbClr val="000000"/>
                </a:solidFill>
                <a:effectLst/>
                <a:latin typeface="Times New Roman" pitchFamily="18" charset="0"/>
                <a:cs typeface="Times New Roman" pitchFamily="18" charset="0"/>
              </a:rPr>
              <a:t>ELSIF (v_deptno = 20)</a:t>
            </a:r>
          </a:p>
          <a:p>
            <a:pPr marL="0" indent="0">
              <a:buNone/>
            </a:pPr>
            <a:r>
              <a:rPr lang="en-IN" sz="1600" b="0" dirty="0" smtClean="0">
                <a:solidFill>
                  <a:srgbClr val="000000"/>
                </a:solidFill>
                <a:effectLst/>
                <a:latin typeface="Times New Roman" pitchFamily="18" charset="0"/>
                <a:cs typeface="Times New Roman" pitchFamily="18" charset="0"/>
              </a:rPr>
              <a:t>THEN</a:t>
            </a:r>
          </a:p>
          <a:p>
            <a:pPr marL="0" indent="0">
              <a:buNone/>
            </a:pPr>
            <a:r>
              <a:rPr lang="en-IN" sz="1600" b="0" dirty="0" smtClean="0">
                <a:solidFill>
                  <a:srgbClr val="000000"/>
                </a:solidFill>
                <a:effectLst/>
                <a:latin typeface="Times New Roman" pitchFamily="18" charset="0"/>
                <a:cs typeface="Times New Roman" pitchFamily="18" charset="0"/>
              </a:rPr>
              <a:t>DBMS_OUTPUT.PUT_LINE ('We are in Department Number 20');</a:t>
            </a:r>
          </a:p>
        </p:txBody>
      </p:sp>
      <p:sp>
        <p:nvSpPr>
          <p:cNvPr id="4" name="TextBox 3"/>
          <p:cNvSpPr txBox="1"/>
          <p:nvPr/>
        </p:nvSpPr>
        <p:spPr>
          <a:xfrm>
            <a:off x="214282" y="571480"/>
            <a:ext cx="1361270" cy="461665"/>
          </a:xfrm>
          <a:prstGeom prst="rect">
            <a:avLst/>
          </a:prstGeom>
          <a:noFill/>
        </p:spPr>
        <p:txBody>
          <a:bodyPr wrap="none" rtlCol="0">
            <a:spAutoFit/>
          </a:bodyPr>
          <a:lstStyle/>
          <a:p>
            <a:r>
              <a:rPr lang="en-US" sz="2400" dirty="0" smtClean="0">
                <a:latin typeface="Times New Roman" pitchFamily="18" charset="0"/>
                <a:cs typeface="Times New Roman" pitchFamily="18" charset="0"/>
              </a:rPr>
              <a:t>Example:</a:t>
            </a:r>
            <a:endParaRPr lang="en-IN" sz="2400" dirty="0">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6380888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772816"/>
            <a:ext cx="8229600" cy="3845024"/>
          </a:xfrm>
        </p:spPr>
        <p:txBody>
          <a:bodyPr/>
          <a:lstStyle/>
          <a:p>
            <a:pPr marL="0" indent="0">
              <a:buNone/>
            </a:pPr>
            <a:r>
              <a:rPr lang="en-IN" sz="1600" b="0" dirty="0">
                <a:solidFill>
                  <a:srgbClr val="000000"/>
                </a:solidFill>
                <a:effectLst/>
                <a:latin typeface="Times New Roman" pitchFamily="18" charset="0"/>
                <a:cs typeface="Times New Roman" pitchFamily="18" charset="0"/>
              </a:rPr>
              <a:t>ELSIF (v_deptno = 30)</a:t>
            </a:r>
          </a:p>
          <a:p>
            <a:pPr marL="0" indent="0">
              <a:buNone/>
            </a:pPr>
            <a:r>
              <a:rPr lang="en-IN" sz="1600" b="0" dirty="0">
                <a:solidFill>
                  <a:srgbClr val="000000"/>
                </a:solidFill>
                <a:effectLst/>
                <a:latin typeface="Times New Roman" pitchFamily="18" charset="0"/>
                <a:cs typeface="Times New Roman" pitchFamily="18" charset="0"/>
              </a:rPr>
              <a:t>THEN</a:t>
            </a:r>
          </a:p>
          <a:p>
            <a:pPr marL="0" indent="0">
              <a:buNone/>
            </a:pPr>
            <a:r>
              <a:rPr lang="en-IN" sz="1600" b="0" dirty="0">
                <a:solidFill>
                  <a:srgbClr val="000000"/>
                </a:solidFill>
                <a:effectLst/>
                <a:latin typeface="Times New Roman" pitchFamily="18" charset="0"/>
                <a:cs typeface="Times New Roman" pitchFamily="18" charset="0"/>
              </a:rPr>
              <a:t>DBMS_OUTPUT.PUT_LINE ('We are in Department Number 30');</a:t>
            </a:r>
          </a:p>
          <a:p>
            <a:pPr marL="0" indent="0">
              <a:buNone/>
            </a:pPr>
            <a:r>
              <a:rPr lang="en-IN" sz="1600" b="0" dirty="0">
                <a:solidFill>
                  <a:srgbClr val="000000"/>
                </a:solidFill>
                <a:effectLst/>
                <a:latin typeface="Times New Roman" pitchFamily="18" charset="0"/>
                <a:cs typeface="Times New Roman" pitchFamily="18" charset="0"/>
              </a:rPr>
              <a:t>ELSIF (v_deptno = 40)</a:t>
            </a:r>
          </a:p>
          <a:p>
            <a:pPr marL="0" indent="0">
              <a:buNone/>
            </a:pPr>
            <a:r>
              <a:rPr lang="en-IN" sz="1600" b="0" dirty="0">
                <a:solidFill>
                  <a:srgbClr val="000000"/>
                </a:solidFill>
                <a:effectLst/>
                <a:latin typeface="Times New Roman" pitchFamily="18" charset="0"/>
                <a:cs typeface="Times New Roman" pitchFamily="18" charset="0"/>
              </a:rPr>
              <a:t>THEN</a:t>
            </a:r>
          </a:p>
          <a:p>
            <a:pPr marL="0" indent="0">
              <a:buNone/>
            </a:pPr>
            <a:r>
              <a:rPr lang="en-IN" sz="1600" b="0" dirty="0">
                <a:solidFill>
                  <a:srgbClr val="000000"/>
                </a:solidFill>
                <a:effectLst/>
                <a:latin typeface="Times New Roman" pitchFamily="18" charset="0"/>
                <a:cs typeface="Times New Roman" pitchFamily="18" charset="0"/>
              </a:rPr>
              <a:t>DBMS_OUTPUT.PUT_LINE ('We are in Department Number 40');</a:t>
            </a:r>
          </a:p>
          <a:p>
            <a:pPr marL="0" indent="0">
              <a:buNone/>
            </a:pPr>
            <a:r>
              <a:rPr lang="en-IN" sz="1600" b="0" dirty="0">
                <a:solidFill>
                  <a:srgbClr val="000000"/>
                </a:solidFill>
                <a:effectLst/>
                <a:latin typeface="Times New Roman" pitchFamily="18" charset="0"/>
                <a:cs typeface="Times New Roman" pitchFamily="18" charset="0"/>
              </a:rPr>
              <a:t>ELSE</a:t>
            </a:r>
          </a:p>
          <a:p>
            <a:pPr marL="0" indent="0">
              <a:buNone/>
            </a:pPr>
            <a:r>
              <a:rPr lang="en-IN" sz="1600" b="0" dirty="0">
                <a:solidFill>
                  <a:srgbClr val="000000"/>
                </a:solidFill>
                <a:effectLst/>
                <a:latin typeface="Times New Roman" pitchFamily="18" charset="0"/>
                <a:cs typeface="Times New Roman" pitchFamily="18" charset="0"/>
              </a:rPr>
              <a:t>DBMS_OUTPUT.PUT_LINE ('Sorry! No such department exists');</a:t>
            </a:r>
          </a:p>
          <a:p>
            <a:pPr marL="0" indent="0">
              <a:buNone/>
            </a:pPr>
            <a:r>
              <a:rPr lang="en-IN" sz="1600" b="0" dirty="0">
                <a:solidFill>
                  <a:srgbClr val="000000"/>
                </a:solidFill>
                <a:effectLst/>
                <a:latin typeface="Times New Roman" pitchFamily="18" charset="0"/>
                <a:cs typeface="Times New Roman" pitchFamily="18" charset="0"/>
              </a:rPr>
              <a:t>END IF;</a:t>
            </a:r>
          </a:p>
          <a:p>
            <a:pPr marL="0" indent="0">
              <a:buNone/>
            </a:pPr>
            <a:r>
              <a:rPr lang="en-IN" sz="1600" b="0" dirty="0">
                <a:solidFill>
                  <a:srgbClr val="000000"/>
                </a:solidFill>
                <a:effectLst/>
                <a:latin typeface="Times New Roman" pitchFamily="18" charset="0"/>
                <a:cs typeface="Times New Roman" pitchFamily="18" charset="0"/>
              </a:rPr>
              <a:t>END;</a:t>
            </a:r>
          </a:p>
          <a:p>
            <a:pPr marL="0" indent="0">
              <a:buNone/>
            </a:pPr>
            <a:endParaRPr lang="en-US" sz="16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1663114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239000" cy="1143000"/>
          </a:xfrm>
        </p:spPr>
        <p:txBody>
          <a:bodyPr/>
          <a:lstStyle/>
          <a:p>
            <a:r>
              <a:rPr lang="en-US" sz="2400" dirty="0" smtClean="0">
                <a:effectLst/>
                <a:latin typeface="Times New Roman" pitchFamily="18" charset="0"/>
                <a:cs typeface="Times New Roman" pitchFamily="18" charset="0"/>
              </a:rPr>
              <a:t>CASE Statement:</a:t>
            </a:r>
            <a:endParaRPr lang="en-IN" sz="240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428596" y="1357298"/>
            <a:ext cx="8229600" cy="2185990"/>
          </a:xfrm>
        </p:spPr>
        <p:txBody>
          <a:bodyPr>
            <a:normAutofit/>
          </a:bodyPr>
          <a:lstStyle/>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It is an another type of conditional statement which allows us to execute a sequence of statements based on a selector.</a:t>
            </a: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A selector can be anything such as variable, function, or expression that the CASE statement evaluates to some value.</a:t>
            </a:r>
          </a:p>
          <a:p>
            <a:pPr>
              <a:buFont typeface="Wingdings" pitchFamily="2" charset="2"/>
              <a:buChar char="ü"/>
            </a:pPr>
            <a:r>
              <a:rPr lang="en-IN" sz="2000" b="0" dirty="0" smtClean="0">
                <a:solidFill>
                  <a:srgbClr val="000000"/>
                </a:solidFill>
                <a:effectLst/>
                <a:latin typeface="Times New Roman" pitchFamily="18" charset="0"/>
                <a:cs typeface="Times New Roman" pitchFamily="18" charset="0"/>
              </a:rPr>
              <a:t>The selector in CASE statement is followed by one or more WHEN clauses, which are checked sequentially.</a:t>
            </a:r>
            <a:endParaRPr lang="en-IN" sz="2000" b="0" dirty="0">
              <a:solidFill>
                <a:srgbClr val="000000"/>
              </a:solidFill>
              <a:effectLst/>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2819400" y="3698784"/>
            <a:ext cx="3395674" cy="2345729"/>
          </a:xfrm>
          <a:prstGeom prst="rect">
            <a:avLst/>
          </a:prstGeom>
          <a:noFill/>
          <a:ln w="9525">
            <a:noFill/>
            <a:miter lim="800000"/>
            <a:headEnd/>
            <a:tailEnd/>
          </a:ln>
          <a:effectLst/>
        </p:spPr>
      </p:pic>
      <p:sp>
        <p:nvSpPr>
          <p:cNvPr id="5" name="TextBox 4"/>
          <p:cNvSpPr txBox="1"/>
          <p:nvPr/>
        </p:nvSpPr>
        <p:spPr>
          <a:xfrm>
            <a:off x="928662" y="3500438"/>
            <a:ext cx="966931" cy="400110"/>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Syntax:</a:t>
            </a:r>
            <a:endParaRPr lang="en-IN" sz="2000" dirty="0">
              <a:solidFill>
                <a:srgbClr val="000000"/>
              </a:solidFill>
              <a:latin typeface="Times New Roman" pitchFamily="18" charset="0"/>
              <a:cs typeface="Times New Roman" pitchFamily="18" charset="0"/>
            </a:endParaRPr>
          </a:p>
        </p:txBody>
      </p:sp>
      <p:pic>
        <p:nvPicPr>
          <p:cNvPr id="6"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8"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50675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70" decel="100000"/>
                                        <p:tgtEl>
                                          <p:spTgt spid="5"/>
                                        </p:tgtEl>
                                      </p:cBhvr>
                                    </p:animEffect>
                                    <p:animScale>
                                      <p:cBhvr>
                                        <p:cTn id="8" dur="770" decel="100000"/>
                                        <p:tgtEl>
                                          <p:spTgt spid="5"/>
                                        </p:tgtEl>
                                      </p:cBhvr>
                                      <p:from x="10000" y="10000"/>
                                      <p:to x="200000" y="450000"/>
                                    </p:animScale>
                                    <p:animScale>
                                      <p:cBhvr>
                                        <p:cTn id="9" dur="1230" accel="100000" fill="hold">
                                          <p:stCondLst>
                                            <p:cond delay="770"/>
                                          </p:stCondLst>
                                        </p:cTn>
                                        <p:tgtEl>
                                          <p:spTgt spid="5"/>
                                        </p:tgtEl>
                                      </p:cBhvr>
                                      <p:from x="200000" y="450000"/>
                                      <p:to x="100000" y="100000"/>
                                    </p:animScale>
                                    <p:set>
                                      <p:cBhvr>
                                        <p:cTn id="10" dur="770" fill="hold"/>
                                        <p:tgtEl>
                                          <p:spTgt spid="5"/>
                                        </p:tgtEl>
                                        <p:attrNameLst>
                                          <p:attrName>ppt_x</p:attrName>
                                        </p:attrNameLst>
                                      </p:cBhvr>
                                      <p:to>
                                        <p:strVal val="(0.5)"/>
                                      </p:to>
                                    </p:set>
                                    <p:anim from="(0.5)" to="(#ppt_x)" calcmode="lin" valueType="num">
                                      <p:cBhvr>
                                        <p:cTn id="11" dur="1230" accel="100000" fill="hold">
                                          <p:stCondLst>
                                            <p:cond delay="770"/>
                                          </p:stCondLst>
                                        </p:cTn>
                                        <p:tgtEl>
                                          <p:spTgt spid="5"/>
                                        </p:tgtEl>
                                        <p:attrNameLst>
                                          <p:attrName>ppt_x</p:attrName>
                                        </p:attrNameLst>
                                      </p:cBhvr>
                                    </p:anim>
                                    <p:set>
                                      <p:cBhvr>
                                        <p:cTn id="12" dur="770" fill="hold"/>
                                        <p:tgtEl>
                                          <p:spTgt spid="5"/>
                                        </p:tgtEl>
                                        <p:attrNameLst>
                                          <p:attrName>ppt_y</p:attrName>
                                        </p:attrNameLst>
                                      </p:cBhvr>
                                      <p:to>
                                        <p:strVal val="(#ppt_y+0.4)"/>
                                      </p:to>
                                    </p:set>
                                    <p:anim from="(#ppt_y+0.4)" to="(#ppt_y)" calcmode="lin" valueType="num">
                                      <p:cBhvr>
                                        <p:cTn id="13" dur="1230" accel="100000" fill="hold">
                                          <p:stCondLst>
                                            <p:cond delay="770"/>
                                          </p:stCondLst>
                                        </p:cTn>
                                        <p:tgtEl>
                                          <p:spTgt spid="5"/>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 calcmode="lin" valueType="num">
                                      <p:cBhvr>
                                        <p:cTn id="18" dur="1000" fill="hold"/>
                                        <p:tgtEl>
                                          <p:spTgt spid="3074"/>
                                        </p:tgtEl>
                                        <p:attrNameLst>
                                          <p:attrName>ppt_w</p:attrName>
                                        </p:attrNameLst>
                                      </p:cBhvr>
                                      <p:tavLst>
                                        <p:tav tm="0">
                                          <p:val>
                                            <p:fltVal val="0"/>
                                          </p:val>
                                        </p:tav>
                                        <p:tav tm="100000">
                                          <p:val>
                                            <p:strVal val="#ppt_w"/>
                                          </p:val>
                                        </p:tav>
                                      </p:tavLst>
                                    </p:anim>
                                    <p:anim calcmode="lin" valueType="num">
                                      <p:cBhvr>
                                        <p:cTn id="19" dur="1000" fill="hold"/>
                                        <p:tgtEl>
                                          <p:spTgt spid="3074"/>
                                        </p:tgtEl>
                                        <p:attrNameLst>
                                          <p:attrName>ppt_h</p:attrName>
                                        </p:attrNameLst>
                                      </p:cBhvr>
                                      <p:tavLst>
                                        <p:tav tm="0">
                                          <p:val>
                                            <p:fltVal val="0"/>
                                          </p:val>
                                        </p:tav>
                                        <p:tav tm="100000">
                                          <p:val>
                                            <p:strVal val="#ppt_h"/>
                                          </p:val>
                                        </p:tav>
                                      </p:tavLst>
                                    </p:anim>
                                    <p:anim calcmode="lin" valueType="num">
                                      <p:cBhvr>
                                        <p:cTn id="20" dur="1000" fill="hold"/>
                                        <p:tgtEl>
                                          <p:spTgt spid="3074"/>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307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373" y="1687984"/>
            <a:ext cx="8229600" cy="4189288"/>
          </a:xfrm>
        </p:spPr>
        <p:txBody>
          <a:bodyPr>
            <a:normAutofit/>
          </a:bodyPr>
          <a:lstStyle/>
          <a:p>
            <a:pPr marL="0" indent="0">
              <a:buNone/>
            </a:pPr>
            <a:r>
              <a:rPr lang="en-IN" sz="1600" b="0" dirty="0" smtClean="0">
                <a:solidFill>
                  <a:srgbClr val="000000"/>
                </a:solidFill>
                <a:effectLst/>
                <a:latin typeface="Times New Roman" pitchFamily="18" charset="0"/>
                <a:cs typeface="Times New Roman" pitchFamily="18" charset="0"/>
              </a:rPr>
              <a:t>DECLARE</a:t>
            </a:r>
          </a:p>
          <a:p>
            <a:pPr marL="0" indent="0">
              <a:buNone/>
            </a:pPr>
            <a:r>
              <a:rPr lang="en-IN" sz="1600" b="0" dirty="0" smtClean="0">
                <a:solidFill>
                  <a:srgbClr val="000000"/>
                </a:solidFill>
                <a:effectLst/>
                <a:latin typeface="Times New Roman" pitchFamily="18" charset="0"/>
                <a:cs typeface="Times New Roman" pitchFamily="18" charset="0"/>
              </a:rPr>
              <a:t>v_deptno NUMBER (2):=20;</a:t>
            </a:r>
          </a:p>
          <a:p>
            <a:pPr marL="0" indent="0">
              <a:buNone/>
            </a:pPr>
            <a:r>
              <a:rPr lang="en-IN" sz="1600" b="0" dirty="0" smtClean="0">
                <a:solidFill>
                  <a:srgbClr val="000000"/>
                </a:solidFill>
                <a:effectLst/>
                <a:latin typeface="Times New Roman" pitchFamily="18" charset="0"/>
                <a:cs typeface="Times New Roman" pitchFamily="18" charset="0"/>
              </a:rPr>
              <a:t>v_dname VARCHAR2 (100);</a:t>
            </a:r>
          </a:p>
          <a:p>
            <a:pPr marL="0" indent="0">
              <a:buNone/>
            </a:pPr>
            <a:r>
              <a:rPr lang="en-IN" sz="1600" b="0" dirty="0" smtClean="0">
                <a:solidFill>
                  <a:srgbClr val="000000"/>
                </a:solidFill>
                <a:effectLst/>
                <a:latin typeface="Times New Roman" pitchFamily="18" charset="0"/>
                <a:cs typeface="Times New Roman" pitchFamily="18" charset="0"/>
              </a:rPr>
              <a:t>BEGIN</a:t>
            </a:r>
          </a:p>
          <a:p>
            <a:pPr marL="0" indent="0">
              <a:buNone/>
            </a:pPr>
            <a:r>
              <a:rPr lang="en-IN" sz="1600" b="0" dirty="0" smtClean="0">
                <a:solidFill>
                  <a:srgbClr val="000000"/>
                </a:solidFill>
                <a:effectLst/>
                <a:latin typeface="Times New Roman" pitchFamily="18" charset="0"/>
                <a:cs typeface="Times New Roman" pitchFamily="18" charset="0"/>
              </a:rPr>
              <a:t>SELECT dname </a:t>
            </a:r>
          </a:p>
          <a:p>
            <a:pPr marL="0" indent="0">
              <a:buNone/>
            </a:pPr>
            <a:r>
              <a:rPr lang="en-IN" sz="1600" b="0" dirty="0" smtClean="0">
                <a:solidFill>
                  <a:srgbClr val="000000"/>
                </a:solidFill>
                <a:effectLst/>
                <a:latin typeface="Times New Roman" pitchFamily="18" charset="0"/>
                <a:cs typeface="Times New Roman" pitchFamily="18" charset="0"/>
              </a:rPr>
              <a:t>INTO v_dname</a:t>
            </a:r>
          </a:p>
          <a:p>
            <a:pPr marL="0" indent="0">
              <a:buNone/>
            </a:pPr>
            <a:r>
              <a:rPr lang="en-IN" sz="1600" b="0" dirty="0" smtClean="0">
                <a:solidFill>
                  <a:srgbClr val="000000"/>
                </a:solidFill>
                <a:effectLst/>
                <a:latin typeface="Times New Roman" pitchFamily="18" charset="0"/>
                <a:cs typeface="Times New Roman" pitchFamily="18" charset="0"/>
              </a:rPr>
              <a:t>FROM dept </a:t>
            </a:r>
          </a:p>
          <a:p>
            <a:pPr marL="0" indent="0">
              <a:buNone/>
            </a:pPr>
            <a:r>
              <a:rPr lang="en-IN" sz="1600" b="0" dirty="0" smtClean="0">
                <a:solidFill>
                  <a:srgbClr val="000000"/>
                </a:solidFill>
                <a:effectLst/>
                <a:latin typeface="Times New Roman" pitchFamily="18" charset="0"/>
                <a:cs typeface="Times New Roman" pitchFamily="18" charset="0"/>
              </a:rPr>
              <a:t>WHERE deptno = v_deptno;</a:t>
            </a:r>
          </a:p>
          <a:p>
            <a:pPr marL="0" indent="0">
              <a:buNone/>
            </a:pPr>
            <a:r>
              <a:rPr lang="en-IN" sz="1600" b="0" dirty="0">
                <a:solidFill>
                  <a:srgbClr val="000000"/>
                </a:solidFill>
                <a:effectLst/>
                <a:latin typeface="Times New Roman" pitchFamily="18" charset="0"/>
                <a:cs typeface="Times New Roman" pitchFamily="18" charset="0"/>
              </a:rPr>
              <a:t>CASE v_deptno</a:t>
            </a:r>
          </a:p>
          <a:p>
            <a:pPr marL="0" indent="0">
              <a:buNone/>
            </a:pPr>
            <a:r>
              <a:rPr lang="en-IN" sz="1600" b="0" dirty="0">
                <a:solidFill>
                  <a:srgbClr val="000000"/>
                </a:solidFill>
                <a:effectLst/>
                <a:latin typeface="Times New Roman" pitchFamily="18" charset="0"/>
                <a:cs typeface="Times New Roman" pitchFamily="18" charset="0"/>
              </a:rPr>
              <a:t>WHEN 10 THEN</a:t>
            </a:r>
          </a:p>
          <a:p>
            <a:pPr marL="0" indent="0">
              <a:buNone/>
            </a:pPr>
            <a:r>
              <a:rPr lang="en-IN" sz="1600" b="0" dirty="0">
                <a:solidFill>
                  <a:srgbClr val="000000"/>
                </a:solidFill>
                <a:effectLst/>
                <a:latin typeface="Times New Roman" pitchFamily="18" charset="0"/>
                <a:cs typeface="Times New Roman" pitchFamily="18" charset="0"/>
              </a:rPr>
              <a:t>DBMS_OUTPUT.PUT_LINE ('The Department Name of Deptno is: '||v_dname);</a:t>
            </a:r>
          </a:p>
          <a:p>
            <a:pPr marL="0" indent="0">
              <a:buNone/>
            </a:pPr>
            <a:r>
              <a:rPr lang="en-IN" sz="1600" b="0" dirty="0">
                <a:solidFill>
                  <a:srgbClr val="000000"/>
                </a:solidFill>
                <a:effectLst/>
                <a:latin typeface="Times New Roman" pitchFamily="18" charset="0"/>
                <a:cs typeface="Times New Roman" pitchFamily="18" charset="0"/>
              </a:rPr>
              <a:t>WHEN 20 THEN</a:t>
            </a:r>
          </a:p>
          <a:p>
            <a:pPr marL="0" indent="0">
              <a:buNone/>
            </a:pPr>
            <a:r>
              <a:rPr lang="en-IN" sz="1600" b="0" dirty="0">
                <a:solidFill>
                  <a:srgbClr val="000000"/>
                </a:solidFill>
                <a:effectLst/>
                <a:latin typeface="Times New Roman" pitchFamily="18" charset="0"/>
                <a:cs typeface="Times New Roman" pitchFamily="18" charset="0"/>
              </a:rPr>
              <a:t>DBMS_OUTPUT.PUT_LINE ('The Department Name of Deptno is: '||v_dname);</a:t>
            </a:r>
          </a:p>
          <a:p>
            <a:pPr marL="0" indent="0">
              <a:buNone/>
            </a:pPr>
            <a:endParaRPr lang="en-IN" sz="1600" b="0" dirty="0" smtClean="0">
              <a:solidFill>
                <a:srgbClr val="000000"/>
              </a:solidFill>
              <a:effectLst/>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txBox="1">
            <a:spLocks/>
          </p:cNvSpPr>
          <p:nvPr/>
        </p:nvSpPr>
        <p:spPr>
          <a:xfrm>
            <a:off x="609600" y="472440"/>
            <a:ext cx="7239000"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US" dirty="0" smtClean="0"/>
              <a:t>Example:</a:t>
            </a:r>
            <a:endParaRPr lang="en-IN" dirty="0"/>
          </a:p>
        </p:txBody>
      </p:sp>
      <p:sp>
        <p:nvSpPr>
          <p:cNvPr id="8"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4433791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556792"/>
            <a:ext cx="8229600" cy="4525963"/>
          </a:xfrm>
        </p:spPr>
        <p:txBody>
          <a:bodyPr/>
          <a:lstStyle/>
          <a:p>
            <a:pPr marL="0" indent="0">
              <a:buNone/>
            </a:pPr>
            <a:r>
              <a:rPr lang="en-IN" sz="1600" b="0" dirty="0" smtClean="0">
                <a:solidFill>
                  <a:srgbClr val="000000"/>
                </a:solidFill>
                <a:effectLst/>
                <a:latin typeface="Times New Roman" pitchFamily="18" charset="0"/>
                <a:cs typeface="Times New Roman" pitchFamily="18" charset="0"/>
              </a:rPr>
              <a:t>WHEN </a:t>
            </a:r>
            <a:r>
              <a:rPr lang="en-IN" sz="1600" b="0" dirty="0">
                <a:solidFill>
                  <a:srgbClr val="000000"/>
                </a:solidFill>
                <a:effectLst/>
                <a:latin typeface="Times New Roman" pitchFamily="18" charset="0"/>
                <a:cs typeface="Times New Roman" pitchFamily="18" charset="0"/>
              </a:rPr>
              <a:t>30 THEN</a:t>
            </a:r>
          </a:p>
          <a:p>
            <a:pPr marL="0" indent="0">
              <a:buNone/>
            </a:pPr>
            <a:r>
              <a:rPr lang="en-IN" sz="1600" b="0" dirty="0">
                <a:solidFill>
                  <a:srgbClr val="000000"/>
                </a:solidFill>
                <a:effectLst/>
                <a:latin typeface="Times New Roman" pitchFamily="18" charset="0"/>
                <a:cs typeface="Times New Roman" pitchFamily="18" charset="0"/>
              </a:rPr>
              <a:t>DBMS_OUTPUT.PUT_LINE ('The Department Name of Deptno is: '||v_dname);</a:t>
            </a:r>
          </a:p>
          <a:p>
            <a:pPr marL="0" indent="0">
              <a:buNone/>
            </a:pPr>
            <a:r>
              <a:rPr lang="en-IN" sz="1600" b="0" dirty="0">
                <a:solidFill>
                  <a:srgbClr val="000000"/>
                </a:solidFill>
                <a:effectLst/>
                <a:latin typeface="Times New Roman" pitchFamily="18" charset="0"/>
                <a:cs typeface="Times New Roman" pitchFamily="18" charset="0"/>
              </a:rPr>
              <a:t>WHEN 40 THEN</a:t>
            </a:r>
          </a:p>
          <a:p>
            <a:pPr marL="0" indent="0">
              <a:buNone/>
            </a:pPr>
            <a:r>
              <a:rPr lang="en-IN" sz="1600" b="0" dirty="0">
                <a:solidFill>
                  <a:srgbClr val="000000"/>
                </a:solidFill>
                <a:effectLst/>
                <a:latin typeface="Times New Roman" pitchFamily="18" charset="0"/>
                <a:cs typeface="Times New Roman" pitchFamily="18" charset="0"/>
              </a:rPr>
              <a:t>DBMS_OUTPUT.PUT_LINE ('The Department Name of Deptno is: '||v_dname);</a:t>
            </a:r>
          </a:p>
          <a:p>
            <a:pPr marL="0" indent="0">
              <a:buNone/>
            </a:pPr>
            <a:r>
              <a:rPr lang="en-IN" sz="1600" b="0" dirty="0">
                <a:solidFill>
                  <a:srgbClr val="000000"/>
                </a:solidFill>
                <a:effectLst/>
                <a:latin typeface="Times New Roman" pitchFamily="18" charset="0"/>
                <a:cs typeface="Times New Roman" pitchFamily="18" charset="0"/>
              </a:rPr>
              <a:t>ELSE</a:t>
            </a:r>
          </a:p>
          <a:p>
            <a:pPr marL="0" indent="0">
              <a:buNone/>
            </a:pPr>
            <a:r>
              <a:rPr lang="en-IN" sz="1600" b="0" dirty="0">
                <a:solidFill>
                  <a:srgbClr val="000000"/>
                </a:solidFill>
                <a:effectLst/>
                <a:latin typeface="Times New Roman" pitchFamily="18" charset="0"/>
                <a:cs typeface="Times New Roman" pitchFamily="18" charset="0"/>
              </a:rPr>
              <a:t>DBMS_OUTPUT.PUT_LINE ('Sorry ! No Such Records Exists');</a:t>
            </a:r>
          </a:p>
          <a:p>
            <a:pPr marL="0" indent="0">
              <a:buNone/>
            </a:pPr>
            <a:r>
              <a:rPr lang="en-IN" sz="1600" b="0" dirty="0">
                <a:solidFill>
                  <a:srgbClr val="000000"/>
                </a:solidFill>
                <a:effectLst/>
                <a:latin typeface="Times New Roman" pitchFamily="18" charset="0"/>
                <a:cs typeface="Times New Roman" pitchFamily="18" charset="0"/>
              </a:rPr>
              <a:t>END CASE;</a:t>
            </a:r>
          </a:p>
          <a:p>
            <a:pPr marL="0" indent="0">
              <a:buNone/>
            </a:pPr>
            <a:r>
              <a:rPr lang="en-IN" sz="1600" b="0" dirty="0">
                <a:solidFill>
                  <a:srgbClr val="000000"/>
                </a:solidFill>
                <a:effectLst/>
                <a:latin typeface="Times New Roman" pitchFamily="18" charset="0"/>
                <a:cs typeface="Times New Roman" pitchFamily="18" charset="0"/>
              </a:rPr>
              <a:t>END;</a:t>
            </a:r>
          </a:p>
          <a:p>
            <a:endParaRPr lang="en-US" sz="16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5559427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7239000" cy="1524000"/>
          </a:xfrm>
        </p:spPr>
        <p:txBody>
          <a:bodyPr/>
          <a:lstStyle/>
          <a:p>
            <a:pPr>
              <a:buClrTx/>
              <a:buFont typeface="Wingdings" pitchFamily="2" charset="2"/>
              <a:buChar char="ü"/>
            </a:pPr>
            <a:r>
              <a:rPr lang="en-IN" sz="2000" b="0" dirty="0" smtClean="0">
                <a:solidFill>
                  <a:schemeClr val="tx1"/>
                </a:solidFill>
                <a:latin typeface="Times New Roman" pitchFamily="18" charset="0"/>
                <a:cs typeface="Times New Roman" pitchFamily="18" charset="0"/>
              </a:rPr>
              <a:t>An iterative control Statements are used when we wanted to execute same set of statements for a specified number of times.</a:t>
            </a:r>
          </a:p>
          <a:p>
            <a:pPr>
              <a:buClrTx/>
              <a:buNone/>
            </a:pPr>
            <a:r>
              <a:rPr lang="en-IN" sz="2000" b="0" dirty="0" smtClean="0">
                <a:solidFill>
                  <a:schemeClr val="tx1"/>
                </a:solidFill>
                <a:latin typeface="Times New Roman" pitchFamily="18" charset="0"/>
                <a:cs typeface="Times New Roman" pitchFamily="18" charset="0"/>
              </a:rPr>
              <a:t>                      i.e., it will execute a set of statements repeatedly until a specified condition is TRUE.</a:t>
            </a:r>
            <a:endParaRPr lang="en-IN" sz="2000" b="0" dirty="0">
              <a:solidFill>
                <a:schemeClr val="tx1"/>
              </a:solidFill>
              <a:latin typeface="Times New Roman" pitchFamily="18" charset="0"/>
              <a:cs typeface="Times New Roman" pitchFamily="18" charset="0"/>
            </a:endParaRPr>
          </a:p>
        </p:txBody>
      </p:sp>
      <p:sp>
        <p:nvSpPr>
          <p:cNvPr id="4" name="Content Placeholder 2"/>
          <p:cNvSpPr txBox="1">
            <a:spLocks/>
          </p:cNvSpPr>
          <p:nvPr/>
        </p:nvSpPr>
        <p:spPr bwMode="auto">
          <a:xfrm>
            <a:off x="609600" y="3276600"/>
            <a:ext cx="8229600" cy="2438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tabLst/>
              <a:defRPr/>
            </a:pPr>
            <a:r>
              <a:rPr lang="en-US" sz="2000" b="1" kern="0" dirty="0" smtClean="0">
                <a:latin typeface="Times New Roman" pitchFamily="18" charset="0"/>
                <a:cs typeface="Times New Roman" pitchFamily="18" charset="0"/>
              </a:rPr>
              <a:t>Types of iterative control statements</a:t>
            </a:r>
            <a:r>
              <a:rPr lang="en-US" sz="2000" kern="0" dirty="0" smtClean="0">
                <a:latin typeface="Times New Roman" pitchFamily="18" charset="0"/>
                <a:cs typeface="Times New Roman" pitchFamily="18" charset="0"/>
              </a:rPr>
              <a:t>:</a:t>
            </a:r>
          </a:p>
          <a:p>
            <a:pPr marL="342900" marR="0" lvl="0" indent="-342900" algn="l" defTabSz="914400" rtl="0" eaLnBrk="1" fontAlgn="base" latinLnBrk="0" hangingPunct="1">
              <a:lnSpc>
                <a:spcPct val="100000"/>
              </a:lnSpc>
              <a:spcBef>
                <a:spcPct val="20000"/>
              </a:spcBef>
              <a:spcAft>
                <a:spcPct val="0"/>
              </a:spcAft>
              <a:buClrTx/>
              <a:buSzTx/>
              <a:tabLst/>
              <a:defRPr/>
            </a:pPr>
            <a:endParaRPr lang="en-US" sz="2000" kern="0" dirty="0" smtClean="0">
              <a:latin typeface="Times New Roman" pitchFamily="18" charset="0"/>
              <a:cs typeface="Times New Roman" pitchFamily="18"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ü"/>
              <a:tabLst/>
              <a:defRPr/>
            </a:pPr>
            <a:r>
              <a:rPr kumimoji="0" lang="en-US" sz="2000" b="0" i="0" u="none" strike="noStrike" kern="0" cap="none" spc="0" normalizeH="0" baseline="0" noProof="0" dirty="0" smtClean="0">
                <a:ln>
                  <a:noFill/>
                </a:ln>
                <a:solidFill>
                  <a:schemeClr val="tx1"/>
                </a:solidFill>
                <a:effectLst/>
                <a:uLnTx/>
                <a:uFillTx/>
                <a:latin typeface="Times New Roman" pitchFamily="18" charset="0"/>
                <a:ea typeface="+mn-ea"/>
                <a:cs typeface="Times New Roman" pitchFamily="18" charset="0"/>
              </a:rPr>
              <a:t>Simple</a:t>
            </a:r>
            <a:r>
              <a:rPr kumimoji="0" lang="en-US" sz="2000" b="0" i="0" u="none" strike="noStrike" kern="0" cap="none" spc="0" normalizeH="0" noProof="0" dirty="0" smtClean="0">
                <a:ln>
                  <a:noFill/>
                </a:ln>
                <a:solidFill>
                  <a:schemeClr val="tx1"/>
                </a:solidFill>
                <a:effectLst/>
                <a:uLnTx/>
                <a:uFillTx/>
                <a:latin typeface="Times New Roman" pitchFamily="18" charset="0"/>
                <a:ea typeface="+mn-ea"/>
                <a:cs typeface="Times New Roman" pitchFamily="18" charset="0"/>
              </a:rPr>
              <a:t> loop.</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ü"/>
              <a:tabLst/>
              <a:defRPr/>
            </a:pPr>
            <a:r>
              <a:rPr lang="en-US" sz="2000" kern="0" baseline="0" dirty="0" smtClean="0">
                <a:latin typeface="Times New Roman" pitchFamily="18" charset="0"/>
                <a:cs typeface="Times New Roman" pitchFamily="18" charset="0"/>
              </a:rPr>
              <a:t>While</a:t>
            </a:r>
            <a:r>
              <a:rPr lang="en-US" sz="2000" kern="0" dirty="0" smtClean="0">
                <a:latin typeface="Times New Roman" pitchFamily="18" charset="0"/>
                <a:cs typeface="Times New Roman" pitchFamily="18" charset="0"/>
              </a:rPr>
              <a:t> loop.</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ü"/>
              <a:tabLst/>
              <a:defRPr/>
            </a:pPr>
            <a:r>
              <a:rPr kumimoji="0" lang="en-US" sz="2000" b="0" i="0" u="none" strike="noStrike" kern="0" cap="none" spc="0" normalizeH="0" baseline="0" noProof="0" dirty="0" smtClean="0">
                <a:ln>
                  <a:noFill/>
                </a:ln>
                <a:solidFill>
                  <a:schemeClr val="tx1"/>
                </a:solidFill>
                <a:effectLst/>
                <a:uLnTx/>
                <a:uFillTx/>
                <a:latin typeface="Times New Roman" pitchFamily="18" charset="0"/>
                <a:ea typeface="+mn-ea"/>
                <a:cs typeface="Times New Roman" pitchFamily="18" charset="0"/>
              </a:rPr>
              <a:t>Numeric</a:t>
            </a:r>
            <a:r>
              <a:rPr kumimoji="0" lang="en-US" sz="2000" b="0" i="0" u="none" strike="noStrike" kern="0" cap="none" spc="0" normalizeH="0" noProof="0" dirty="0" smtClean="0">
                <a:ln>
                  <a:noFill/>
                </a:ln>
                <a:solidFill>
                  <a:schemeClr val="tx1"/>
                </a:solidFill>
                <a:effectLst/>
                <a:uLnTx/>
                <a:uFillTx/>
                <a:latin typeface="Times New Roman" pitchFamily="18" charset="0"/>
                <a:ea typeface="+mn-ea"/>
                <a:cs typeface="Times New Roman" pitchFamily="18" charset="0"/>
              </a:rPr>
              <a:t> for loop.</a:t>
            </a:r>
          </a:p>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ü"/>
              <a:tabLst/>
              <a:defRPr/>
            </a:pPr>
            <a:r>
              <a:rPr lang="en-US" sz="2000" kern="0" baseline="0" dirty="0" smtClean="0">
                <a:latin typeface="Times New Roman" pitchFamily="18" charset="0"/>
                <a:cs typeface="Times New Roman" pitchFamily="18" charset="0"/>
              </a:rPr>
              <a:t>Cursor</a:t>
            </a:r>
            <a:r>
              <a:rPr lang="en-US" sz="2000" kern="0" dirty="0" smtClean="0">
                <a:latin typeface="Times New Roman" pitchFamily="18" charset="0"/>
                <a:cs typeface="Times New Roman" pitchFamily="18" charset="0"/>
              </a:rPr>
              <a:t> for loop.</a:t>
            </a:r>
            <a:endParaRPr kumimoji="0" lang="en-IN" sz="2000" b="0" i="0" u="none" strike="noStrike" kern="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Title 1"/>
          <p:cNvSpPr txBox="1">
            <a:spLocks/>
          </p:cNvSpPr>
          <p:nvPr/>
        </p:nvSpPr>
        <p:spPr>
          <a:xfrm>
            <a:off x="609600" y="472440"/>
            <a:ext cx="7239000"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IN" sz="3600" b="0" dirty="0" smtClean="0">
                <a:solidFill>
                  <a:schemeClr val="tx1"/>
                </a:solidFill>
                <a:latin typeface="Times New Roman" pitchFamily="18" charset="0"/>
                <a:cs typeface="Times New Roman" pitchFamily="18" charset="0"/>
              </a:rPr>
              <a:t>iterative control Statements: </a:t>
            </a:r>
            <a:endParaRPr lang="en-IN" sz="3600" dirty="0"/>
          </a:p>
        </p:txBody>
      </p:sp>
      <p:pic>
        <p:nvPicPr>
          <p:cNvPr id="2" name="Picture 1"/>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178962" y="3886200"/>
            <a:ext cx="2143125" cy="2133600"/>
          </a:xfrm>
          <a:prstGeom prst="rect">
            <a:avLst/>
          </a:prstGeom>
        </p:spPr>
      </p:pic>
    </p:spTree>
    <p:extLst>
      <p:ext uri="{BB962C8B-B14F-4D97-AF65-F5344CB8AC3E}">
        <p14:creationId xmlns="" xmlns:p14="http://schemas.microsoft.com/office/powerpoint/2010/main" val="33757672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solidFill>
                  <a:schemeClr val="tx2"/>
                </a:solidFill>
                <a:latin typeface="Times New Roman" pitchFamily="18" charset="0"/>
                <a:cs typeface="Times New Roman" pitchFamily="18" charset="0"/>
              </a:rPr>
              <a:t>Simple loop:</a:t>
            </a:r>
            <a:endParaRPr lang="en-IN" sz="2400"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7696200" cy="914400"/>
          </a:xfrm>
        </p:spPr>
        <p:txBody>
          <a:bodyPr/>
          <a:lstStyle/>
          <a:p>
            <a:pPr>
              <a:buClrTx/>
              <a:buFont typeface="Wingdings" pitchFamily="2" charset="2"/>
              <a:buChar char="ü"/>
            </a:pPr>
            <a:r>
              <a:rPr lang="en-IN" sz="2000" b="0" dirty="0" smtClean="0">
                <a:solidFill>
                  <a:schemeClr val="tx1"/>
                </a:solidFill>
                <a:latin typeface="Times New Roman" pitchFamily="18" charset="0"/>
                <a:cs typeface="Times New Roman" pitchFamily="18" charset="0"/>
              </a:rPr>
              <a:t>It is an infinite loop task A Simple Loop is used when we wanted to execute the set of statements at least once before the loop terminates.</a:t>
            </a:r>
            <a:endParaRPr lang="en-IN" sz="2000" b="0" dirty="0">
              <a:solidFill>
                <a:schemeClr val="tx1"/>
              </a:solidFill>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cstate="print"/>
          <a:srcRect/>
          <a:stretch>
            <a:fillRect/>
          </a:stretch>
        </p:blipFill>
        <p:spPr bwMode="auto">
          <a:xfrm>
            <a:off x="1752600" y="2859723"/>
            <a:ext cx="5114925" cy="2706676"/>
          </a:xfrm>
          <a:prstGeom prst="rect">
            <a:avLst/>
          </a:prstGeom>
          <a:noFill/>
          <a:ln w="9525">
            <a:noFill/>
            <a:miter lim="800000"/>
            <a:headEnd/>
            <a:tailEnd/>
          </a:ln>
          <a:effectLst/>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5190680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86200"/>
            <a:ext cx="7772400" cy="1905000"/>
          </a:xfrm>
        </p:spPr>
        <p:txBody>
          <a:bodyPr>
            <a:noAutofit/>
          </a:bodyPr>
          <a:lstStyle/>
          <a:p>
            <a:r>
              <a:rPr lang="en-US" sz="2000" b="0" dirty="0" smtClean="0">
                <a:solidFill>
                  <a:schemeClr val="tx1"/>
                </a:solidFill>
                <a:latin typeface="Times New Roman" pitchFamily="18" charset="0"/>
                <a:cs typeface="Times New Roman" pitchFamily="18" charset="0"/>
              </a:rPr>
              <a:t>Standard steps to be followed while using simple loop:</a:t>
            </a:r>
            <a:br>
              <a:rPr lang="en-US" sz="2000" b="0" dirty="0" smtClean="0">
                <a:solidFill>
                  <a:schemeClr val="tx1"/>
                </a:solidFill>
                <a:latin typeface="Times New Roman" pitchFamily="18" charset="0"/>
                <a:cs typeface="Times New Roman" pitchFamily="18" charset="0"/>
              </a:rPr>
            </a:br>
            <a:r>
              <a:rPr lang="en-US" sz="2000" b="0" dirty="0" smtClean="0">
                <a:solidFill>
                  <a:schemeClr val="tx1"/>
                </a:solidFill>
                <a:latin typeface="Times New Roman" pitchFamily="18" charset="0"/>
                <a:cs typeface="Times New Roman" pitchFamily="18" charset="0"/>
              </a:rPr>
              <a:t/>
            </a:r>
            <a:br>
              <a:rPr lang="en-US" sz="2000" b="0" dirty="0" smtClean="0">
                <a:solidFill>
                  <a:schemeClr val="tx1"/>
                </a:solidFill>
                <a:latin typeface="Times New Roman" pitchFamily="18" charset="0"/>
                <a:cs typeface="Times New Roman" pitchFamily="18" charset="0"/>
              </a:rPr>
            </a:br>
            <a:r>
              <a:rPr lang="en-IN" sz="2000" b="0" dirty="0" smtClean="0">
                <a:solidFill>
                  <a:schemeClr val="tx1"/>
                </a:solidFill>
                <a:latin typeface="Times New Roman" pitchFamily="18" charset="0"/>
                <a:cs typeface="Times New Roman" pitchFamily="18" charset="0"/>
              </a:rPr>
              <a:t>1) Initialize a variable before the loop begins.</a:t>
            </a:r>
            <a:br>
              <a:rPr lang="en-IN" sz="2000" b="0" dirty="0" smtClean="0">
                <a:solidFill>
                  <a:schemeClr val="tx1"/>
                </a:solidFill>
                <a:latin typeface="Times New Roman" pitchFamily="18" charset="0"/>
                <a:cs typeface="Times New Roman" pitchFamily="18" charset="0"/>
              </a:rPr>
            </a:br>
            <a:r>
              <a:rPr lang="en-IN" sz="2000" b="0" dirty="0" smtClean="0">
                <a:solidFill>
                  <a:schemeClr val="tx1"/>
                </a:solidFill>
                <a:latin typeface="Times New Roman" pitchFamily="18" charset="0"/>
                <a:cs typeface="Times New Roman" pitchFamily="18" charset="0"/>
              </a:rPr>
              <a:t>2) Increment the variable in the loop.</a:t>
            </a:r>
            <a:br>
              <a:rPr lang="en-IN" sz="2000" b="0" dirty="0" smtClean="0">
                <a:solidFill>
                  <a:schemeClr val="tx1"/>
                </a:solidFill>
                <a:latin typeface="Times New Roman" pitchFamily="18" charset="0"/>
                <a:cs typeface="Times New Roman" pitchFamily="18" charset="0"/>
              </a:rPr>
            </a:br>
            <a:r>
              <a:rPr lang="en-IN" sz="2000" b="0" dirty="0" smtClean="0">
                <a:solidFill>
                  <a:schemeClr val="tx1"/>
                </a:solidFill>
                <a:latin typeface="Times New Roman" pitchFamily="18" charset="0"/>
                <a:cs typeface="Times New Roman" pitchFamily="18" charset="0"/>
              </a:rPr>
              <a:t>3) EXIT WHEN statement is used to exit from the Loop.</a:t>
            </a:r>
            <a:endParaRPr lang="en-IN" sz="2000" b="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2209800"/>
          </a:xfrm>
        </p:spPr>
        <p:txBody>
          <a:bodyPr>
            <a:normAutofit lnSpcReduction="10000"/>
          </a:bodyPr>
          <a:lstStyle/>
          <a:p>
            <a:pPr marL="457200" indent="-457200">
              <a:buNone/>
            </a:pPr>
            <a:r>
              <a:rPr lang="en-US" sz="2000" dirty="0" smtClean="0">
                <a:solidFill>
                  <a:schemeClr val="tx1"/>
                </a:solidFill>
                <a:latin typeface="Times New Roman" pitchFamily="18" charset="0"/>
                <a:cs typeface="Times New Roman" pitchFamily="18" charset="0"/>
              </a:rPr>
              <a:t>To break the simple loop</a:t>
            </a:r>
            <a:r>
              <a:rPr lang="en-US" sz="2000" b="0" dirty="0" smtClean="0">
                <a:solidFill>
                  <a:schemeClr val="tx1"/>
                </a:solidFill>
                <a:latin typeface="Times New Roman" pitchFamily="18" charset="0"/>
                <a:cs typeface="Times New Roman" pitchFamily="18" charset="0"/>
              </a:rPr>
              <a:t>:</a:t>
            </a:r>
          </a:p>
          <a:p>
            <a:pPr marL="457200" indent="-457200">
              <a:buNone/>
            </a:pPr>
            <a:r>
              <a:rPr lang="en-IN" sz="2000" dirty="0" smtClean="0">
                <a:solidFill>
                  <a:schemeClr val="tx1"/>
                </a:solidFill>
                <a:latin typeface="Times New Roman" pitchFamily="18" charset="0"/>
                <a:cs typeface="Times New Roman" pitchFamily="18" charset="0"/>
              </a:rPr>
              <a:t>Syntax:-</a:t>
            </a:r>
          </a:p>
          <a:p>
            <a:pPr marL="457200" indent="-457200">
              <a:buNone/>
            </a:pPr>
            <a:r>
              <a:rPr lang="en-IN" sz="2000" b="0" dirty="0" smtClean="0">
                <a:solidFill>
                  <a:schemeClr val="tx1"/>
                </a:solidFill>
                <a:latin typeface="Times New Roman" pitchFamily="18" charset="0"/>
                <a:cs typeface="Times New Roman" pitchFamily="18" charset="0"/>
              </a:rPr>
              <a:t>EXIT WHEN &lt;condition&gt;;</a:t>
            </a:r>
          </a:p>
          <a:p>
            <a:pPr marL="457200" indent="-457200">
              <a:buNone/>
            </a:pPr>
            <a:r>
              <a:rPr lang="en-IN" sz="2000" b="0" dirty="0" smtClean="0">
                <a:solidFill>
                  <a:schemeClr val="tx1"/>
                </a:solidFill>
                <a:latin typeface="Times New Roman" pitchFamily="18" charset="0"/>
                <a:cs typeface="Times New Roman" pitchFamily="18" charset="0"/>
              </a:rPr>
              <a:t>IF &lt;condition&gt; THEN</a:t>
            </a:r>
          </a:p>
          <a:p>
            <a:pPr marL="457200" indent="-457200">
              <a:buNone/>
            </a:pPr>
            <a:r>
              <a:rPr lang="en-IN" sz="2000" b="0" dirty="0" smtClean="0">
                <a:solidFill>
                  <a:schemeClr val="tx1"/>
                </a:solidFill>
                <a:latin typeface="Times New Roman" pitchFamily="18" charset="0"/>
                <a:cs typeface="Times New Roman" pitchFamily="18" charset="0"/>
              </a:rPr>
              <a:t>EXIT;</a:t>
            </a:r>
          </a:p>
          <a:p>
            <a:pPr marL="457200" indent="-457200">
              <a:buNone/>
            </a:pPr>
            <a:r>
              <a:rPr lang="en-IN" sz="2000" b="0" dirty="0" smtClean="0">
                <a:solidFill>
                  <a:schemeClr val="tx1"/>
                </a:solidFill>
                <a:latin typeface="Times New Roman" pitchFamily="18" charset="0"/>
                <a:cs typeface="Times New Roman" pitchFamily="18" charset="0"/>
              </a:rPr>
              <a:t>END IF;</a:t>
            </a:r>
          </a:p>
          <a:p>
            <a:pPr marL="457200" indent="-457200">
              <a:buNone/>
            </a:pPr>
            <a:endParaRPr lang="en-US" sz="2000" b="0" dirty="0" smtClean="0">
              <a:solidFill>
                <a:schemeClr val="tx1"/>
              </a:solidFill>
              <a:latin typeface="Times New Roman" pitchFamily="18" charset="0"/>
              <a:cs typeface="Times New Roman" pitchFamily="18" charset="0"/>
            </a:endParaRPr>
          </a:p>
          <a:p>
            <a:pPr marL="457200" indent="-457200">
              <a:buNone/>
            </a:pP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2223901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latin typeface="Times New Roman" pitchFamily="18" charset="0"/>
                <a:cs typeface="Times New Roman" pitchFamily="18" charset="0"/>
              </a:rPr>
              <a:t>Example:</a:t>
            </a:r>
            <a:endParaRPr lang="en-IN" sz="24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buNone/>
            </a:pPr>
            <a:r>
              <a:rPr lang="en-IN" sz="2000" b="0" dirty="0" smtClean="0">
                <a:solidFill>
                  <a:schemeClr val="tx1"/>
                </a:solidFill>
                <a:latin typeface="Times New Roman" pitchFamily="18" charset="0"/>
                <a:cs typeface="Times New Roman" pitchFamily="18" charset="0"/>
              </a:rPr>
              <a:t>DECLARE</a:t>
            </a:r>
          </a:p>
          <a:p>
            <a:pPr>
              <a:buNone/>
            </a:pPr>
            <a:r>
              <a:rPr lang="en-IN" sz="2000" b="0" dirty="0" smtClean="0">
                <a:solidFill>
                  <a:schemeClr val="tx1"/>
                </a:solidFill>
                <a:latin typeface="Times New Roman" pitchFamily="18" charset="0"/>
                <a:cs typeface="Times New Roman" pitchFamily="18" charset="0"/>
              </a:rPr>
              <a:t>v_num number (10):=0;</a:t>
            </a:r>
          </a:p>
          <a:p>
            <a:pPr>
              <a:buNone/>
            </a:pPr>
            <a:r>
              <a:rPr lang="en-IN" sz="2000" b="0" dirty="0" smtClean="0">
                <a:solidFill>
                  <a:schemeClr val="tx1"/>
                </a:solidFill>
                <a:latin typeface="Times New Roman" pitchFamily="18" charset="0"/>
                <a:cs typeface="Times New Roman" pitchFamily="18" charset="0"/>
              </a:rPr>
              <a:t>BEGIN</a:t>
            </a:r>
          </a:p>
          <a:p>
            <a:pPr>
              <a:buNone/>
            </a:pPr>
            <a:r>
              <a:rPr lang="en-IN" sz="2000" b="0" dirty="0" smtClean="0">
                <a:solidFill>
                  <a:schemeClr val="tx1"/>
                </a:solidFill>
                <a:latin typeface="Times New Roman" pitchFamily="18" charset="0"/>
                <a:cs typeface="Times New Roman" pitchFamily="18" charset="0"/>
              </a:rPr>
              <a:t>DBMS_OUTPUT.put_line ('the numbers are--');</a:t>
            </a:r>
          </a:p>
          <a:p>
            <a:pPr>
              <a:buNone/>
            </a:pPr>
            <a:r>
              <a:rPr lang="en-IN" sz="2000" b="0" dirty="0" smtClean="0">
                <a:solidFill>
                  <a:schemeClr val="tx1"/>
                </a:solidFill>
                <a:latin typeface="Times New Roman" pitchFamily="18" charset="0"/>
                <a:cs typeface="Times New Roman" pitchFamily="18" charset="0"/>
              </a:rPr>
              <a:t>LOOP </a:t>
            </a:r>
          </a:p>
          <a:p>
            <a:pPr>
              <a:buNone/>
            </a:pPr>
            <a:r>
              <a:rPr lang="en-IN" sz="2000" b="0" dirty="0" smtClean="0">
                <a:solidFill>
                  <a:schemeClr val="tx1"/>
                </a:solidFill>
                <a:latin typeface="Times New Roman" pitchFamily="18" charset="0"/>
                <a:cs typeface="Times New Roman" pitchFamily="18" charset="0"/>
              </a:rPr>
              <a:t>v_num:=v_num+1; </a:t>
            </a:r>
          </a:p>
          <a:p>
            <a:pPr>
              <a:buNone/>
            </a:pPr>
            <a:r>
              <a:rPr lang="en-IN" sz="2000" b="0" dirty="0" smtClean="0">
                <a:solidFill>
                  <a:schemeClr val="tx1"/>
                </a:solidFill>
                <a:latin typeface="Times New Roman" pitchFamily="18" charset="0"/>
                <a:cs typeface="Times New Roman" pitchFamily="18" charset="0"/>
              </a:rPr>
              <a:t>DBMS_OUTPUT.PUT_LINE(v_num); </a:t>
            </a:r>
          </a:p>
          <a:p>
            <a:pPr>
              <a:buNone/>
            </a:pPr>
            <a:r>
              <a:rPr lang="en-IN" sz="2000" b="0" dirty="0" smtClean="0">
                <a:solidFill>
                  <a:schemeClr val="tx1"/>
                </a:solidFill>
                <a:latin typeface="Times New Roman" pitchFamily="18" charset="0"/>
                <a:cs typeface="Times New Roman" pitchFamily="18" charset="0"/>
              </a:rPr>
              <a:t>EXIT WHEN (v_num=10);</a:t>
            </a:r>
          </a:p>
          <a:p>
            <a:pPr>
              <a:buNone/>
            </a:pPr>
            <a:r>
              <a:rPr lang="en-IN" sz="2000" b="0" dirty="0" smtClean="0">
                <a:solidFill>
                  <a:schemeClr val="tx1"/>
                </a:solidFill>
                <a:latin typeface="Times New Roman" pitchFamily="18" charset="0"/>
                <a:cs typeface="Times New Roman" pitchFamily="18" charset="0"/>
              </a:rPr>
              <a:t>END LOOP;</a:t>
            </a:r>
          </a:p>
          <a:p>
            <a:pPr>
              <a:buNone/>
            </a:pPr>
            <a:r>
              <a:rPr lang="en-IN" sz="2000" b="0" dirty="0" smtClean="0">
                <a:solidFill>
                  <a:schemeClr val="tx1"/>
                </a:solidFill>
                <a:latin typeface="Times New Roman" pitchFamily="18" charset="0"/>
                <a:cs typeface="Times New Roman" pitchFamily="18" charset="0"/>
              </a:rPr>
              <a:t>END;</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3491300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latin typeface="Times New Roman" pitchFamily="18" charset="0"/>
                <a:cs typeface="Times New Roman" pitchFamily="18" charset="0"/>
              </a:rPr>
              <a:t>While loop statement:</a:t>
            </a:r>
            <a:endParaRPr lang="en-IN" sz="2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7620000" cy="1219200"/>
          </a:xfrm>
        </p:spPr>
        <p:txBody>
          <a:bodyPr/>
          <a:lstStyle/>
          <a:p>
            <a:pPr>
              <a:buClrTx/>
              <a:buFont typeface="Wingdings" pitchFamily="2" charset="2"/>
              <a:buChar char="ü"/>
            </a:pPr>
            <a:r>
              <a:rPr lang="en-US" sz="2000" b="0" dirty="0" smtClean="0">
                <a:solidFill>
                  <a:schemeClr val="tx1"/>
                </a:solidFill>
                <a:latin typeface="Times New Roman" pitchFamily="18" charset="0"/>
                <a:cs typeface="Times New Roman" pitchFamily="18" charset="0"/>
              </a:rPr>
              <a:t>It is used when we want to execute set of statements untill the condition is true.</a:t>
            </a:r>
          </a:p>
          <a:p>
            <a:pPr>
              <a:buClrTx/>
              <a:buFont typeface="Wingdings" pitchFamily="2" charset="2"/>
              <a:buChar char="ü"/>
            </a:pPr>
            <a:r>
              <a:rPr lang="en-US" sz="2000" b="0" dirty="0" smtClean="0">
                <a:solidFill>
                  <a:schemeClr val="tx1"/>
                </a:solidFill>
                <a:latin typeface="Times New Roman" pitchFamily="18" charset="0"/>
                <a:cs typeface="Times New Roman" pitchFamily="18" charset="0"/>
              </a:rPr>
              <a:t>The execution of statements continues until the condition is false.</a:t>
            </a:r>
          </a:p>
          <a:p>
            <a:pPr>
              <a:buClrTx/>
              <a:buFont typeface="Wingdings" pitchFamily="2" charset="2"/>
              <a:buChar char="ü"/>
            </a:pPr>
            <a:endParaRPr lang="en-IN" sz="2000" b="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2286000" y="3209096"/>
            <a:ext cx="4572000" cy="2416451"/>
          </a:xfrm>
          <a:prstGeom prst="rect">
            <a:avLst/>
          </a:prstGeom>
          <a:noFill/>
          <a:ln w="9525">
            <a:noFill/>
            <a:miter lim="800000"/>
            <a:headEnd/>
            <a:tailEnd/>
          </a:ln>
          <a:effectLst/>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8785236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Example:</a:t>
            </a:r>
            <a:endParaRPr lang="en-IN" dirty="0">
              <a:solidFill>
                <a:schemeClr val="tx2"/>
              </a:solidFill>
            </a:endParaRPr>
          </a:p>
        </p:txBody>
      </p:sp>
      <p:sp>
        <p:nvSpPr>
          <p:cNvPr id="3" name="Content Placeholder 2"/>
          <p:cNvSpPr>
            <a:spLocks noGrp="1"/>
          </p:cNvSpPr>
          <p:nvPr>
            <p:ph idx="1"/>
          </p:nvPr>
        </p:nvSpPr>
        <p:spPr/>
        <p:txBody>
          <a:bodyPr/>
          <a:lstStyle/>
          <a:p>
            <a:pPr>
              <a:buNone/>
            </a:pPr>
            <a:r>
              <a:rPr lang="en-IN" sz="2000" b="0" dirty="0" smtClean="0">
                <a:solidFill>
                  <a:schemeClr val="tx1"/>
                </a:solidFill>
                <a:latin typeface="Times New Roman" pitchFamily="18" charset="0"/>
                <a:cs typeface="Times New Roman" pitchFamily="18" charset="0"/>
              </a:rPr>
              <a:t>Example:-</a:t>
            </a:r>
          </a:p>
          <a:p>
            <a:pPr>
              <a:buNone/>
            </a:pPr>
            <a:r>
              <a:rPr lang="en-IN" sz="2000" b="0" dirty="0" smtClean="0">
                <a:solidFill>
                  <a:schemeClr val="tx1"/>
                </a:solidFill>
                <a:latin typeface="Times New Roman" pitchFamily="18" charset="0"/>
                <a:cs typeface="Times New Roman" pitchFamily="18" charset="0"/>
              </a:rPr>
              <a:t>DECLARE</a:t>
            </a:r>
          </a:p>
          <a:p>
            <a:pPr>
              <a:buNone/>
            </a:pPr>
            <a:r>
              <a:rPr lang="en-IN" sz="2000" b="0" dirty="0" smtClean="0">
                <a:solidFill>
                  <a:schemeClr val="tx1"/>
                </a:solidFill>
                <a:latin typeface="Times New Roman" pitchFamily="18" charset="0"/>
                <a:cs typeface="Times New Roman" pitchFamily="18" charset="0"/>
              </a:rPr>
              <a:t>v_num number (10):=0;</a:t>
            </a:r>
          </a:p>
          <a:p>
            <a:pPr>
              <a:buNone/>
            </a:pPr>
            <a:r>
              <a:rPr lang="en-IN" sz="2000" b="0" dirty="0" smtClean="0">
                <a:solidFill>
                  <a:schemeClr val="tx1"/>
                </a:solidFill>
                <a:latin typeface="Times New Roman" pitchFamily="18" charset="0"/>
                <a:cs typeface="Times New Roman" pitchFamily="18" charset="0"/>
              </a:rPr>
              <a:t>BEGIN</a:t>
            </a:r>
          </a:p>
          <a:p>
            <a:pPr>
              <a:buNone/>
            </a:pPr>
            <a:r>
              <a:rPr lang="en-IN" sz="2000" b="0" dirty="0" smtClean="0">
                <a:solidFill>
                  <a:schemeClr val="tx1"/>
                </a:solidFill>
                <a:latin typeface="Times New Roman" pitchFamily="18" charset="0"/>
                <a:cs typeface="Times New Roman" pitchFamily="18" charset="0"/>
              </a:rPr>
              <a:t>WHILE (v_num &lt;=10) loop</a:t>
            </a:r>
          </a:p>
          <a:p>
            <a:pPr>
              <a:buNone/>
            </a:pPr>
            <a:r>
              <a:rPr lang="en-IN" sz="2000" b="0" dirty="0" smtClean="0">
                <a:solidFill>
                  <a:schemeClr val="tx1"/>
                </a:solidFill>
                <a:latin typeface="Times New Roman" pitchFamily="18" charset="0"/>
                <a:cs typeface="Times New Roman" pitchFamily="18" charset="0"/>
              </a:rPr>
              <a:t>DBMS_OUTPUT.put_line (v_num);</a:t>
            </a:r>
          </a:p>
          <a:p>
            <a:pPr>
              <a:buNone/>
            </a:pPr>
            <a:r>
              <a:rPr lang="pt-BR" sz="2000" b="0" dirty="0" smtClean="0">
                <a:solidFill>
                  <a:schemeClr val="tx1"/>
                </a:solidFill>
                <a:latin typeface="Times New Roman" pitchFamily="18" charset="0"/>
                <a:cs typeface="Times New Roman" pitchFamily="18" charset="0"/>
              </a:rPr>
              <a:t>v_num:= v_num +1; </a:t>
            </a:r>
          </a:p>
          <a:p>
            <a:pPr>
              <a:buNone/>
            </a:pPr>
            <a:r>
              <a:rPr lang="en-IN" sz="2000" b="0" dirty="0" smtClean="0">
                <a:solidFill>
                  <a:schemeClr val="tx1"/>
                </a:solidFill>
                <a:latin typeface="Times New Roman" pitchFamily="18" charset="0"/>
                <a:cs typeface="Times New Roman" pitchFamily="18" charset="0"/>
              </a:rPr>
              <a:t>END LOOP;</a:t>
            </a:r>
          </a:p>
          <a:p>
            <a:pPr>
              <a:buNone/>
            </a:pPr>
            <a:r>
              <a:rPr lang="en-IN" sz="2000" b="0" dirty="0" smtClean="0">
                <a:solidFill>
                  <a:schemeClr val="tx1"/>
                </a:solidFill>
                <a:latin typeface="Times New Roman" pitchFamily="18" charset="0"/>
                <a:cs typeface="Times New Roman" pitchFamily="18" charset="0"/>
              </a:rPr>
              <a:t>END;</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33103526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7772400" cy="1447799"/>
          </a:xfrm>
        </p:spPr>
        <p:txBody>
          <a:bodyPr/>
          <a:lstStyle/>
          <a:p>
            <a:pPr>
              <a:buNone/>
            </a:pPr>
            <a:r>
              <a:rPr lang="en-US" sz="2000" b="0" dirty="0" smtClean="0">
                <a:solidFill>
                  <a:schemeClr val="tx1"/>
                </a:solidFill>
                <a:latin typeface="Times New Roman" pitchFamily="18" charset="0"/>
                <a:cs typeface="Times New Roman" pitchFamily="18" charset="0"/>
              </a:rPr>
              <a:t>For loop statements is used when we want to executes set of statements for a specific number of times. </a:t>
            </a:r>
            <a:endParaRPr lang="en-IN" sz="2000" b="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srcRect/>
          <a:stretch>
            <a:fillRect/>
          </a:stretch>
        </p:blipFill>
        <p:spPr bwMode="auto">
          <a:xfrm>
            <a:off x="2209800" y="3275428"/>
            <a:ext cx="4645819" cy="2287172"/>
          </a:xfrm>
          <a:prstGeom prst="rect">
            <a:avLst/>
          </a:prstGeom>
          <a:noFill/>
          <a:ln w="9525">
            <a:noFill/>
            <a:miter lim="800000"/>
            <a:headEnd/>
            <a:tailEnd/>
          </a:ln>
          <a:effectLst/>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7" name="Title 1"/>
          <p:cNvSpPr>
            <a:spLocks noGrp="1"/>
          </p:cNvSpPr>
          <p:nvPr>
            <p:ph type="title"/>
          </p:nvPr>
        </p:nvSpPr>
        <p:spPr>
          <a:xfrm>
            <a:off x="457200" y="320040"/>
            <a:ext cx="7239000" cy="1143000"/>
          </a:xfrm>
        </p:spPr>
        <p:txBody>
          <a:bodyPr/>
          <a:lstStyle/>
          <a:p>
            <a:r>
              <a:rPr lang="en-US" sz="2400" dirty="0" smtClean="0">
                <a:latin typeface="Times New Roman" pitchFamily="18" charset="0"/>
                <a:cs typeface="Times New Roman" pitchFamily="18" charset="0"/>
              </a:rPr>
              <a:t> </a:t>
            </a:r>
            <a:r>
              <a:rPr lang="en-US" sz="2400" b="0" dirty="0">
                <a:solidFill>
                  <a:schemeClr val="tx1"/>
                </a:solidFill>
                <a:latin typeface="Times New Roman" pitchFamily="18" charset="0"/>
                <a:cs typeface="Times New Roman" pitchFamily="18" charset="0"/>
              </a:rPr>
              <a:t>For </a:t>
            </a:r>
            <a:r>
              <a:rPr lang="en-US" sz="2400" b="0" dirty="0" smtClean="0">
                <a:solidFill>
                  <a:schemeClr val="tx1"/>
                </a:solidFill>
                <a:latin typeface="Times New Roman" pitchFamily="18" charset="0"/>
                <a:cs typeface="Times New Roman" pitchFamily="18" charset="0"/>
              </a:rPr>
              <a:t>loop</a:t>
            </a:r>
            <a:r>
              <a:rPr lang="en-US"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Tree>
    <p:extLst>
      <p:ext uri="{BB962C8B-B14F-4D97-AF65-F5344CB8AC3E}">
        <p14:creationId xmlns="" xmlns:p14="http://schemas.microsoft.com/office/powerpoint/2010/main" val="268609767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Content Placeholder 2"/>
          <p:cNvSpPr>
            <a:spLocks noGrp="1"/>
          </p:cNvSpPr>
          <p:nvPr>
            <p:ph idx="1"/>
          </p:nvPr>
        </p:nvSpPr>
        <p:spPr>
          <a:xfrm>
            <a:off x="457200" y="2057400"/>
            <a:ext cx="8229600" cy="2971799"/>
          </a:xfrm>
        </p:spPr>
        <p:txBody>
          <a:bodyPr>
            <a:normAutofit lnSpcReduction="10000"/>
          </a:bodyPr>
          <a:lstStyle/>
          <a:p>
            <a:pPr>
              <a:buNone/>
            </a:pPr>
            <a:r>
              <a:rPr lang="en-IN" sz="2000" b="0" dirty="0" smtClean="0">
                <a:solidFill>
                  <a:schemeClr val="tx1"/>
                </a:solidFill>
                <a:latin typeface="Times New Roman" pitchFamily="18" charset="0"/>
                <a:cs typeface="Times New Roman" pitchFamily="18" charset="0"/>
              </a:rPr>
              <a:t>BEGIN</a:t>
            </a:r>
          </a:p>
          <a:p>
            <a:pPr>
              <a:buNone/>
            </a:pPr>
            <a:r>
              <a:rPr lang="en-IN" sz="2000" b="0" dirty="0" smtClean="0">
                <a:solidFill>
                  <a:schemeClr val="tx1"/>
                </a:solidFill>
                <a:latin typeface="Times New Roman" pitchFamily="18" charset="0"/>
                <a:cs typeface="Times New Roman" pitchFamily="18" charset="0"/>
              </a:rPr>
              <a:t>DBMS_OUTPUT.put_line (' The Numbers Are');</a:t>
            </a:r>
          </a:p>
          <a:p>
            <a:pPr>
              <a:buNone/>
            </a:pPr>
            <a:r>
              <a:rPr lang="en-IN" sz="2000" b="0" dirty="0" smtClean="0">
                <a:solidFill>
                  <a:schemeClr val="tx1"/>
                </a:solidFill>
                <a:latin typeface="Times New Roman" pitchFamily="18" charset="0"/>
                <a:cs typeface="Times New Roman" pitchFamily="18" charset="0"/>
              </a:rPr>
              <a:t>DBMS_OUTPUT.put_line ('-------------------------');</a:t>
            </a:r>
          </a:p>
          <a:p>
            <a:pPr>
              <a:buNone/>
            </a:pPr>
            <a:r>
              <a:rPr lang="en-IN" sz="2000" b="0" dirty="0" smtClean="0">
                <a:solidFill>
                  <a:schemeClr val="tx1"/>
                </a:solidFill>
                <a:latin typeface="Times New Roman" pitchFamily="18" charset="0"/>
                <a:cs typeface="Times New Roman" pitchFamily="18" charset="0"/>
              </a:rPr>
              <a:t>FOR v_num IN 1..10</a:t>
            </a:r>
          </a:p>
          <a:p>
            <a:pPr>
              <a:buNone/>
            </a:pPr>
            <a:r>
              <a:rPr lang="en-IN" sz="2000" b="0" dirty="0" smtClean="0">
                <a:solidFill>
                  <a:schemeClr val="tx1"/>
                </a:solidFill>
                <a:latin typeface="Times New Roman" pitchFamily="18" charset="0"/>
                <a:cs typeface="Times New Roman" pitchFamily="18" charset="0"/>
              </a:rPr>
              <a:t>LOOP</a:t>
            </a:r>
          </a:p>
          <a:p>
            <a:pPr>
              <a:buNone/>
            </a:pPr>
            <a:r>
              <a:rPr lang="en-IN" sz="2000" b="0" dirty="0" smtClean="0">
                <a:solidFill>
                  <a:schemeClr val="tx1"/>
                </a:solidFill>
                <a:latin typeface="Times New Roman" pitchFamily="18" charset="0"/>
                <a:cs typeface="Times New Roman" pitchFamily="18" charset="0"/>
              </a:rPr>
              <a:t>DBMS_OUTPUT.put_line (v_num);</a:t>
            </a:r>
          </a:p>
          <a:p>
            <a:pPr>
              <a:buNone/>
            </a:pPr>
            <a:r>
              <a:rPr lang="en-IN" sz="2000" b="0" dirty="0" smtClean="0">
                <a:solidFill>
                  <a:schemeClr val="tx1"/>
                </a:solidFill>
                <a:latin typeface="Times New Roman" pitchFamily="18" charset="0"/>
                <a:cs typeface="Times New Roman" pitchFamily="18" charset="0"/>
              </a:rPr>
              <a:t>END LOOP;</a:t>
            </a:r>
          </a:p>
          <a:p>
            <a:pPr>
              <a:buNone/>
            </a:pPr>
            <a:r>
              <a:rPr lang="en-IN" sz="2000" b="0" dirty="0" smtClean="0">
                <a:solidFill>
                  <a:schemeClr val="tx1"/>
                </a:solidFill>
                <a:latin typeface="Times New Roman" pitchFamily="18" charset="0"/>
                <a:cs typeface="Times New Roman" pitchFamily="18" charset="0"/>
              </a:rPr>
              <a:t>END;</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40740105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solidFill>
                  <a:schemeClr val="tx2"/>
                </a:solidFill>
                <a:latin typeface="Times New Roman" pitchFamily="18" charset="0"/>
                <a:cs typeface="Times New Roman" pitchFamily="18" charset="0"/>
              </a:rPr>
              <a:t>GOTO and LABELS:</a:t>
            </a:r>
            <a:endParaRPr lang="en-IN" sz="2400" dirty="0">
              <a:solidFill>
                <a:schemeClr val="tx2"/>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1"/>
            <a:ext cx="7924800" cy="1066800"/>
          </a:xfrm>
        </p:spPr>
        <p:txBody>
          <a:bodyPr/>
          <a:lstStyle/>
          <a:p>
            <a:pPr>
              <a:buNone/>
            </a:pPr>
            <a:r>
              <a:rPr lang="en-US" sz="2000" b="0" dirty="0" smtClean="0">
                <a:solidFill>
                  <a:schemeClr val="tx1"/>
                </a:solidFill>
                <a:latin typeface="Times New Roman" pitchFamily="18" charset="0"/>
                <a:cs typeface="Times New Roman" pitchFamily="18" charset="0"/>
              </a:rPr>
              <a:t>GOTO statement is used when we want to skip the specific set of statements for execution.</a:t>
            </a:r>
            <a:endParaRPr lang="en-IN" sz="2000" b="0" dirty="0">
              <a:solidFill>
                <a:schemeClr val="tx1"/>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cstate="print"/>
          <a:srcRect/>
          <a:stretch>
            <a:fillRect/>
          </a:stretch>
        </p:blipFill>
        <p:spPr bwMode="auto">
          <a:xfrm>
            <a:off x="962464" y="2590800"/>
            <a:ext cx="4904935" cy="2153783"/>
          </a:xfrm>
          <a:prstGeom prst="rect">
            <a:avLst/>
          </a:prstGeom>
          <a:noFill/>
          <a:ln w="9525">
            <a:noFill/>
            <a:miter lim="800000"/>
            <a:headEnd/>
            <a:tailEnd/>
          </a:ln>
          <a:effectLst/>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31359480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8194"/>
            <a:ext cx="7239000" cy="1143000"/>
          </a:xfrm>
        </p:spPr>
        <p:txBody>
          <a:bodyPr/>
          <a:lstStyle/>
          <a:p>
            <a:r>
              <a:rPr lang="en-US" dirty="0" smtClean="0"/>
              <a:t>Example:			</a:t>
            </a:r>
            <a:endParaRPr lang="en-IN" dirty="0"/>
          </a:p>
        </p:txBody>
      </p:sp>
      <p:sp>
        <p:nvSpPr>
          <p:cNvPr id="3" name="Content Placeholder 2"/>
          <p:cNvSpPr>
            <a:spLocks noGrp="1"/>
          </p:cNvSpPr>
          <p:nvPr>
            <p:ph idx="1"/>
          </p:nvPr>
        </p:nvSpPr>
        <p:spPr>
          <a:xfrm>
            <a:off x="457200" y="1295400"/>
            <a:ext cx="8229600" cy="4724400"/>
          </a:xfrm>
        </p:spPr>
        <p:txBody>
          <a:bodyPr/>
          <a:lstStyle/>
          <a:p>
            <a:pPr>
              <a:buNone/>
            </a:pPr>
            <a:r>
              <a:rPr lang="en-IN" sz="2000" b="0" dirty="0" smtClean="0">
                <a:solidFill>
                  <a:schemeClr val="tx1"/>
                </a:solidFill>
                <a:latin typeface="Times New Roman" pitchFamily="18" charset="0"/>
                <a:cs typeface="Times New Roman" pitchFamily="18" charset="0"/>
              </a:rPr>
              <a:t>BEGIN</a:t>
            </a:r>
          </a:p>
          <a:p>
            <a:pPr>
              <a:buNone/>
            </a:pPr>
            <a:r>
              <a:rPr lang="en-IN" sz="2000" b="0" dirty="0" smtClean="0">
                <a:solidFill>
                  <a:schemeClr val="tx1"/>
                </a:solidFill>
                <a:latin typeface="Times New Roman" pitchFamily="18" charset="0"/>
                <a:cs typeface="Times New Roman" pitchFamily="18" charset="0"/>
              </a:rPr>
              <a:t>FOR v_num IN 1..5</a:t>
            </a:r>
          </a:p>
          <a:p>
            <a:pPr>
              <a:buNone/>
            </a:pPr>
            <a:r>
              <a:rPr lang="en-IN" sz="2000" b="0" dirty="0" smtClean="0">
                <a:solidFill>
                  <a:schemeClr val="tx1"/>
                </a:solidFill>
                <a:latin typeface="Times New Roman" pitchFamily="18" charset="0"/>
                <a:cs typeface="Times New Roman" pitchFamily="18" charset="0"/>
              </a:rPr>
              <a:t>LOOP</a:t>
            </a:r>
          </a:p>
          <a:p>
            <a:pPr>
              <a:buNone/>
            </a:pPr>
            <a:r>
              <a:rPr lang="en-IN" sz="2000" b="0" dirty="0" smtClean="0">
                <a:solidFill>
                  <a:schemeClr val="tx1"/>
                </a:solidFill>
                <a:latin typeface="Times New Roman" pitchFamily="18" charset="0"/>
                <a:cs typeface="Times New Roman" pitchFamily="18" charset="0"/>
              </a:rPr>
              <a:t>DBMS_OUTPUT.put_line (v_num);</a:t>
            </a:r>
          </a:p>
          <a:p>
            <a:pPr>
              <a:buNone/>
            </a:pPr>
            <a:r>
              <a:rPr lang="en-IN" sz="2000" b="0" dirty="0" smtClean="0">
                <a:solidFill>
                  <a:schemeClr val="tx1"/>
                </a:solidFill>
                <a:latin typeface="Times New Roman" pitchFamily="18" charset="0"/>
                <a:cs typeface="Times New Roman" pitchFamily="18" charset="0"/>
              </a:rPr>
              <a:t>IF v_num = 3</a:t>
            </a:r>
          </a:p>
          <a:p>
            <a:pPr>
              <a:buNone/>
            </a:pPr>
            <a:r>
              <a:rPr lang="en-IN" sz="2000" b="0" dirty="0" smtClean="0">
                <a:solidFill>
                  <a:schemeClr val="tx1"/>
                </a:solidFill>
                <a:latin typeface="Times New Roman" pitchFamily="18" charset="0"/>
                <a:cs typeface="Times New Roman" pitchFamily="18" charset="0"/>
              </a:rPr>
              <a:t>THEN</a:t>
            </a:r>
          </a:p>
          <a:p>
            <a:pPr>
              <a:buNone/>
            </a:pPr>
            <a:r>
              <a:rPr lang="en-IN" sz="2000" b="0" dirty="0" smtClean="0">
                <a:solidFill>
                  <a:schemeClr val="tx1"/>
                </a:solidFill>
                <a:latin typeface="Times New Roman" pitchFamily="18" charset="0"/>
                <a:cs typeface="Times New Roman" pitchFamily="18" charset="0"/>
              </a:rPr>
              <a:t>GOTO exit_loop;</a:t>
            </a:r>
          </a:p>
          <a:p>
            <a:pPr>
              <a:buNone/>
            </a:pPr>
            <a:r>
              <a:rPr lang="en-IN" sz="2000" b="0" dirty="0" smtClean="0">
                <a:solidFill>
                  <a:schemeClr val="tx1"/>
                </a:solidFill>
                <a:latin typeface="Times New Roman" pitchFamily="18" charset="0"/>
                <a:cs typeface="Times New Roman" pitchFamily="18" charset="0"/>
              </a:rPr>
              <a:t>END IF;</a:t>
            </a:r>
          </a:p>
          <a:p>
            <a:pPr>
              <a:buNone/>
            </a:pPr>
            <a:r>
              <a:rPr lang="en-IN" sz="2000" b="0" dirty="0" smtClean="0">
                <a:solidFill>
                  <a:schemeClr val="tx1"/>
                </a:solidFill>
                <a:latin typeface="Times New Roman" pitchFamily="18" charset="0"/>
                <a:cs typeface="Times New Roman" pitchFamily="18" charset="0"/>
              </a:rPr>
              <a:t>END LOOP;</a:t>
            </a:r>
          </a:p>
          <a:p>
            <a:pPr>
              <a:buNone/>
            </a:pPr>
            <a:r>
              <a:rPr lang="en-IN" sz="2000" b="0" dirty="0" smtClean="0">
                <a:solidFill>
                  <a:schemeClr val="tx1"/>
                </a:solidFill>
                <a:latin typeface="Times New Roman" pitchFamily="18" charset="0"/>
                <a:cs typeface="Times New Roman" pitchFamily="18" charset="0"/>
              </a:rPr>
              <a:t>&lt;&lt;exit_loop&gt;&gt;</a:t>
            </a:r>
          </a:p>
          <a:p>
            <a:pPr>
              <a:buNone/>
            </a:pPr>
            <a:r>
              <a:rPr lang="en-IN" sz="2000" b="0" dirty="0" smtClean="0">
                <a:solidFill>
                  <a:schemeClr val="tx1"/>
                </a:solidFill>
                <a:latin typeface="Times New Roman" pitchFamily="18" charset="0"/>
                <a:cs typeface="Times New Roman" pitchFamily="18" charset="0"/>
              </a:rPr>
              <a:t>DBMS_OUTPUT.put_line (' End of program');</a:t>
            </a:r>
          </a:p>
          <a:p>
            <a:pPr>
              <a:buNone/>
            </a:pPr>
            <a:r>
              <a:rPr lang="en-US" sz="2000" b="0" dirty="0" smtClean="0">
                <a:solidFill>
                  <a:schemeClr val="tx1"/>
                </a:solidFill>
                <a:latin typeface="Times New Roman" pitchFamily="18" charset="0"/>
                <a:cs typeface="Times New Roman" pitchFamily="18" charset="0"/>
              </a:rPr>
              <a:t>END;</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043832" y="5334000"/>
            <a:ext cx="1553031" cy="1026942"/>
          </a:xfrm>
          <a:prstGeom prst="rect">
            <a:avLst/>
          </a:prstGeom>
        </p:spPr>
      </p:pic>
    </p:spTree>
    <p:extLst>
      <p:ext uri="{BB962C8B-B14F-4D97-AF65-F5344CB8AC3E}">
        <p14:creationId xmlns="" xmlns:p14="http://schemas.microsoft.com/office/powerpoint/2010/main" val="20864058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Restrictions for using GOTO:</a:t>
            </a:r>
            <a:endParaRPr lang="en-IN" dirty="0"/>
          </a:p>
        </p:txBody>
      </p:sp>
      <p:sp>
        <p:nvSpPr>
          <p:cNvPr id="3" name="Content Placeholder 2"/>
          <p:cNvSpPr>
            <a:spLocks noGrp="1"/>
          </p:cNvSpPr>
          <p:nvPr>
            <p:ph idx="1"/>
          </p:nvPr>
        </p:nvSpPr>
        <p:spPr>
          <a:xfrm>
            <a:off x="457200" y="2133600"/>
            <a:ext cx="7772400" cy="2819399"/>
          </a:xfrm>
        </p:spPr>
        <p:txBody>
          <a:bodyPr/>
          <a:lstStyle/>
          <a:p>
            <a:pPr>
              <a:buNone/>
            </a:pPr>
            <a:r>
              <a:rPr lang="en-IN" sz="2000" b="0" dirty="0" smtClean="0">
                <a:solidFill>
                  <a:schemeClr val="tx1"/>
                </a:solidFill>
                <a:latin typeface="Times New Roman" pitchFamily="18" charset="0"/>
                <a:cs typeface="Times New Roman" pitchFamily="18" charset="0"/>
              </a:rPr>
              <a:t>We cannot use GOTO statement where ever we want in PLSQL code, there are several restrictions defined for the usage as GOTO jumps the program control from one place to another.</a:t>
            </a:r>
          </a:p>
          <a:p>
            <a:pPr>
              <a:buNone/>
            </a:pPr>
            <a:endParaRPr lang="en-US" sz="2000" b="0" dirty="0" smtClean="0">
              <a:solidFill>
                <a:schemeClr val="tx1"/>
              </a:solidFill>
              <a:latin typeface="Times New Roman" pitchFamily="18" charset="0"/>
              <a:cs typeface="Times New Roman" pitchFamily="18" charset="0"/>
            </a:endParaRPr>
          </a:p>
          <a:p>
            <a:pPr>
              <a:buClrTx/>
              <a:buFont typeface="Wingdings" pitchFamily="2" charset="2"/>
              <a:buChar char="ü"/>
            </a:pPr>
            <a:r>
              <a:rPr lang="en-IN" sz="2000" b="0" dirty="0" smtClean="0">
                <a:solidFill>
                  <a:schemeClr val="tx1"/>
                </a:solidFill>
                <a:latin typeface="Times New Roman" pitchFamily="18" charset="0"/>
                <a:cs typeface="Times New Roman" pitchFamily="18" charset="0"/>
              </a:rPr>
              <a:t>It is illegal to branch into an inner block, loop.</a:t>
            </a:r>
          </a:p>
          <a:p>
            <a:pPr>
              <a:buClrTx/>
              <a:buFont typeface="Wingdings" pitchFamily="2" charset="2"/>
              <a:buChar char="ü"/>
            </a:pPr>
            <a:r>
              <a:rPr lang="en-IN" sz="2000" b="0" dirty="0" smtClean="0">
                <a:solidFill>
                  <a:schemeClr val="tx1"/>
                </a:solidFill>
                <a:latin typeface="Times New Roman" pitchFamily="18" charset="0"/>
                <a:cs typeface="Times New Roman" pitchFamily="18" charset="0"/>
              </a:rPr>
              <a:t>At least one executable statement must follow.</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3784953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Restrictions for using GOTO:</a:t>
            </a:r>
            <a:endParaRPr lang="en-IN" dirty="0"/>
          </a:p>
        </p:txBody>
      </p:sp>
      <p:pic>
        <p:nvPicPr>
          <p:cNvPr id="5" name="Picture 2"/>
          <p:cNvPicPr>
            <a:picLocks noGrp="1" noChangeAspect="1" noChangeArrowheads="1"/>
          </p:cNvPicPr>
          <p:nvPr>
            <p:ph idx="1"/>
          </p:nvPr>
        </p:nvPicPr>
        <p:blipFill>
          <a:blip r:embed="rId2" cstate="print"/>
          <a:srcRect/>
          <a:stretch>
            <a:fillRect/>
          </a:stretch>
        </p:blipFill>
        <p:spPr bwMode="auto">
          <a:xfrm>
            <a:off x="2057400" y="2340179"/>
            <a:ext cx="4304156" cy="3124462"/>
          </a:xfrm>
          <a:prstGeom prst="rect">
            <a:avLst/>
          </a:prstGeom>
          <a:noFill/>
          <a:ln w="9525">
            <a:noFill/>
            <a:miter lim="800000"/>
            <a:headEnd/>
            <a:tailEnd/>
          </a:ln>
          <a:effectLst/>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6700847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a:xfrm>
            <a:off x="457200" y="1600200"/>
            <a:ext cx="8229600" cy="4572000"/>
          </a:xfrm>
        </p:spPr>
        <p:txBody>
          <a:bodyPr>
            <a:normAutofit lnSpcReduction="10000"/>
          </a:bodyPr>
          <a:lstStyle/>
          <a:p>
            <a:pPr>
              <a:buNone/>
            </a:pPr>
            <a:r>
              <a:rPr lang="en-IN" sz="2000" b="0" dirty="0" smtClean="0">
                <a:solidFill>
                  <a:schemeClr val="tx1"/>
                </a:solidFill>
                <a:latin typeface="Times New Roman" pitchFamily="18" charset="0"/>
                <a:cs typeface="Times New Roman" pitchFamily="18" charset="0"/>
              </a:rPr>
              <a:t>BEGIN</a:t>
            </a:r>
          </a:p>
          <a:p>
            <a:pPr>
              <a:buNone/>
            </a:pPr>
            <a:r>
              <a:rPr lang="en-IN" sz="2000" b="0" dirty="0" smtClean="0">
                <a:solidFill>
                  <a:schemeClr val="tx1"/>
                </a:solidFill>
                <a:latin typeface="Times New Roman" pitchFamily="18" charset="0"/>
                <a:cs typeface="Times New Roman" pitchFamily="18" charset="0"/>
              </a:rPr>
              <a:t>FOR v_num IN 1..5</a:t>
            </a:r>
          </a:p>
          <a:p>
            <a:pPr>
              <a:buNone/>
            </a:pPr>
            <a:r>
              <a:rPr lang="en-IN" sz="2000" b="0" dirty="0" smtClean="0">
                <a:solidFill>
                  <a:schemeClr val="tx1"/>
                </a:solidFill>
                <a:latin typeface="Times New Roman" pitchFamily="18" charset="0"/>
                <a:cs typeface="Times New Roman" pitchFamily="18" charset="0"/>
              </a:rPr>
              <a:t>LOOP</a:t>
            </a:r>
          </a:p>
          <a:p>
            <a:pPr>
              <a:buNone/>
            </a:pPr>
            <a:r>
              <a:rPr lang="en-IN" sz="2000" b="0" dirty="0" smtClean="0">
                <a:solidFill>
                  <a:schemeClr val="tx1"/>
                </a:solidFill>
                <a:latin typeface="Times New Roman" pitchFamily="18" charset="0"/>
                <a:cs typeface="Times New Roman" pitchFamily="18" charset="0"/>
              </a:rPr>
              <a:t>DBMS_OUTPUT.put_line (' v_num = ' || v_num);</a:t>
            </a:r>
          </a:p>
          <a:p>
            <a:pPr>
              <a:buNone/>
            </a:pPr>
            <a:r>
              <a:rPr lang="en-IN" sz="2000" b="0" dirty="0" smtClean="0">
                <a:solidFill>
                  <a:schemeClr val="tx1"/>
                </a:solidFill>
                <a:latin typeface="Times New Roman" pitchFamily="18" charset="0"/>
                <a:cs typeface="Times New Roman" pitchFamily="18" charset="0"/>
              </a:rPr>
              <a:t>IF v_num = 4</a:t>
            </a:r>
          </a:p>
          <a:p>
            <a:pPr>
              <a:buNone/>
            </a:pPr>
            <a:r>
              <a:rPr lang="en-IN" sz="2000" b="0" dirty="0" smtClean="0">
                <a:solidFill>
                  <a:schemeClr val="tx1"/>
                </a:solidFill>
                <a:latin typeface="Times New Roman" pitchFamily="18" charset="0"/>
                <a:cs typeface="Times New Roman" pitchFamily="18" charset="0"/>
              </a:rPr>
              <a:t>THEN</a:t>
            </a:r>
          </a:p>
          <a:p>
            <a:pPr>
              <a:buNone/>
            </a:pPr>
            <a:r>
              <a:rPr lang="en-IN" sz="2000" b="0" dirty="0" smtClean="0">
                <a:solidFill>
                  <a:schemeClr val="tx1"/>
                </a:solidFill>
                <a:latin typeface="Times New Roman" pitchFamily="18" charset="0"/>
                <a:cs typeface="Times New Roman" pitchFamily="18" charset="0"/>
              </a:rPr>
              <a:t>GOTO exit_loop;</a:t>
            </a:r>
          </a:p>
          <a:p>
            <a:pPr>
              <a:buNone/>
            </a:pPr>
            <a:r>
              <a:rPr lang="en-IN" sz="2000" b="0" dirty="0" smtClean="0">
                <a:solidFill>
                  <a:schemeClr val="tx1"/>
                </a:solidFill>
                <a:latin typeface="Times New Roman" pitchFamily="18" charset="0"/>
                <a:cs typeface="Times New Roman" pitchFamily="18" charset="0"/>
              </a:rPr>
              <a:t>END IF;</a:t>
            </a:r>
          </a:p>
          <a:p>
            <a:pPr>
              <a:buNone/>
            </a:pPr>
            <a:r>
              <a:rPr lang="en-IN" sz="2000" b="0" dirty="0" smtClean="0">
                <a:solidFill>
                  <a:schemeClr val="tx1"/>
                </a:solidFill>
                <a:latin typeface="Times New Roman" pitchFamily="18" charset="0"/>
                <a:cs typeface="Times New Roman" pitchFamily="18" charset="0"/>
              </a:rPr>
              <a:t>END LOOP;</a:t>
            </a:r>
          </a:p>
          <a:p>
            <a:pPr>
              <a:buNone/>
            </a:pPr>
            <a:r>
              <a:rPr lang="en-IN" sz="2000" b="0" dirty="0" smtClean="0">
                <a:solidFill>
                  <a:schemeClr val="tx1"/>
                </a:solidFill>
                <a:latin typeface="Times New Roman" pitchFamily="18" charset="0"/>
                <a:cs typeface="Times New Roman" pitchFamily="18" charset="0"/>
              </a:rPr>
              <a:t>&lt;&lt;exit_loop&gt;&gt;</a:t>
            </a:r>
          </a:p>
          <a:p>
            <a:pPr>
              <a:buNone/>
            </a:pPr>
            <a:r>
              <a:rPr lang="en-IN" sz="2000" b="0" dirty="0" smtClean="0">
                <a:solidFill>
                  <a:schemeClr val="tx1"/>
                </a:solidFill>
                <a:latin typeface="Times New Roman" pitchFamily="18" charset="0"/>
                <a:cs typeface="Times New Roman" pitchFamily="18" charset="0"/>
              </a:rPr>
              <a:t>DBMS_OUTPUT.put_line (' End of program');</a:t>
            </a:r>
          </a:p>
          <a:p>
            <a:pPr>
              <a:buNone/>
            </a:pPr>
            <a:r>
              <a:rPr lang="en-IN" sz="2000" b="0" dirty="0" smtClean="0">
                <a:solidFill>
                  <a:schemeClr val="tx1"/>
                </a:solidFill>
                <a:latin typeface="Times New Roman" pitchFamily="18" charset="0"/>
                <a:cs typeface="Times New Roman" pitchFamily="18" charset="0"/>
              </a:rPr>
              <a:t>END;</a:t>
            </a:r>
            <a:endParaRPr lang="en-IN" sz="2000" b="0" dirty="0">
              <a:solidFill>
                <a:schemeClr val="tx1"/>
              </a:solidFill>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9501363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QUESTIONS:</a:t>
            </a:r>
            <a:endParaRPr lang="en-US" dirty="0">
              <a:solidFill>
                <a:srgbClr val="FF0000"/>
              </a:solidFill>
            </a:endParaRPr>
          </a:p>
        </p:txBody>
      </p:sp>
      <p:sp>
        <p:nvSpPr>
          <p:cNvPr id="3" name="Content Placeholder 2"/>
          <p:cNvSpPr>
            <a:spLocks noGrp="1"/>
          </p:cNvSpPr>
          <p:nvPr>
            <p:ph idx="1"/>
          </p:nvPr>
        </p:nvSpPr>
        <p:spPr>
          <a:xfrm>
            <a:off x="457200" y="2011680"/>
            <a:ext cx="7239000" cy="3868615"/>
          </a:xfrm>
        </p:spPr>
        <p:txBody>
          <a:bodyPr>
            <a:normAutofit/>
          </a:bodyPr>
          <a:lstStyle/>
          <a:p>
            <a:pPr marL="457200" indent="-457200">
              <a:buFont typeface="+mj-lt"/>
              <a:buAutoNum type="arabicPeriod"/>
            </a:pPr>
            <a:r>
              <a:rPr lang="en-US" sz="2000" dirty="0" smtClean="0"/>
              <a:t>GOTO STATEMENT CANNOT SKIP STATEMENT IN ANY PART OF THE PROGRAM?</a:t>
            </a:r>
          </a:p>
          <a:p>
            <a:pPr marL="457200" indent="-457200">
              <a:buAutoNum type="alphaUcParenR"/>
            </a:pPr>
            <a:r>
              <a:rPr lang="en-US" sz="2000" dirty="0" smtClean="0"/>
              <a:t>TRUE</a:t>
            </a:r>
          </a:p>
          <a:p>
            <a:pPr marL="457200" indent="-457200">
              <a:buAutoNum type="alphaUcParenR"/>
            </a:pPr>
            <a:r>
              <a:rPr lang="en-US" sz="2000" dirty="0" smtClean="0"/>
              <a:t>FALSE</a:t>
            </a:r>
          </a:p>
          <a:p>
            <a:pPr marL="457200" indent="-457200">
              <a:buAutoNum type="alphaUcParenR"/>
            </a:pPr>
            <a:endParaRPr lang="en-US" sz="2000" dirty="0"/>
          </a:p>
          <a:p>
            <a:pPr marL="457200" indent="-457200">
              <a:buAutoNum type="arabicPeriod" startAt="2"/>
            </a:pPr>
            <a:r>
              <a:rPr lang="en-US" sz="2000" dirty="0" smtClean="0"/>
              <a:t>HOW MANY VALUES SCALAR DATA TYPE CAN HOLD?</a:t>
            </a:r>
          </a:p>
          <a:p>
            <a:pPr marL="457200" indent="-457200">
              <a:buAutoNum type="alphaUcParenR"/>
            </a:pPr>
            <a:r>
              <a:rPr lang="en-US" sz="2000" dirty="0" smtClean="0"/>
              <a:t>SINGLE VALUE</a:t>
            </a:r>
          </a:p>
          <a:p>
            <a:pPr marL="457200" indent="-457200">
              <a:buAutoNum type="alphaUcParenR"/>
            </a:pPr>
            <a:r>
              <a:rPr lang="en-US" sz="2000" dirty="0" smtClean="0"/>
              <a:t>MULTIPLE VALUES </a:t>
            </a:r>
          </a:p>
          <a:p>
            <a:pPr marL="457200" indent="-457200">
              <a:buAutoNum type="arabicPeriod" startAt="2"/>
            </a:pPr>
            <a:endParaRPr lang="en-US" sz="2000" dirty="0" smtClean="0"/>
          </a:p>
          <a:p>
            <a:pPr marL="0" indent="0">
              <a:buNone/>
            </a:pPr>
            <a:endParaRPr lang="en-US" sz="2000" dirty="0" smtClean="0"/>
          </a:p>
          <a:p>
            <a:pPr marL="457200" indent="-457200">
              <a:buFont typeface="+mj-lt"/>
              <a:buAutoNum type="arabicPeriod"/>
            </a:pPr>
            <a:endParaRPr lang="en-US" sz="20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724400" y="4501662"/>
            <a:ext cx="2143125" cy="2133600"/>
          </a:xfrm>
          <a:prstGeom prst="rect">
            <a:avLst/>
          </a:prstGeom>
        </p:spPr>
      </p:pic>
    </p:spTree>
    <p:extLst>
      <p:ext uri="{BB962C8B-B14F-4D97-AF65-F5344CB8AC3E}">
        <p14:creationId xmlns="" xmlns:p14="http://schemas.microsoft.com/office/powerpoint/2010/main" val="19275508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AutoNum type="arabicPeriod" startAt="3"/>
            </a:pPr>
            <a:r>
              <a:rPr lang="en-US" sz="2000" dirty="0"/>
              <a:t>IN WHICH BLOCK WE CAN ASSIGN THE VALUE FOR CONSTANT VARIABLE?</a:t>
            </a:r>
          </a:p>
          <a:p>
            <a:pPr marL="457200" indent="-457200">
              <a:buAutoNum type="alphaUcParenR"/>
            </a:pPr>
            <a:r>
              <a:rPr lang="en-US" sz="2000" dirty="0"/>
              <a:t>DECLARE BLOCK</a:t>
            </a:r>
          </a:p>
          <a:p>
            <a:pPr marL="457200" indent="-457200">
              <a:buAutoNum type="alphaUcParenR"/>
            </a:pPr>
            <a:r>
              <a:rPr lang="en-US" sz="2000" dirty="0" smtClean="0"/>
              <a:t>EXECUTION </a:t>
            </a:r>
            <a:r>
              <a:rPr lang="en-US" sz="2000" dirty="0"/>
              <a:t>BLOCK</a:t>
            </a:r>
          </a:p>
          <a:p>
            <a:pPr marL="457200" indent="-457200">
              <a:buAutoNum type="alphaUcParenR"/>
            </a:pPr>
            <a:r>
              <a:rPr lang="en-US" sz="2000" dirty="0"/>
              <a:t>BOTH A &amp; B</a:t>
            </a:r>
          </a:p>
          <a:p>
            <a:pPr marL="0" indent="0">
              <a:buNone/>
            </a:pPr>
            <a:endParaRPr lang="en-US" sz="2000" dirty="0" smtClean="0"/>
          </a:p>
          <a:p>
            <a:pPr marL="457200" indent="-457200">
              <a:buAutoNum type="arabicPeriod" startAt="4"/>
            </a:pPr>
            <a:r>
              <a:rPr lang="en-US" sz="2000" dirty="0" smtClean="0"/>
              <a:t>WHICH DATA TYPE WILL GIVE TOTAL TABLE STRUCTURE?</a:t>
            </a:r>
          </a:p>
          <a:p>
            <a:pPr marL="457200" indent="-457200">
              <a:buAutoNum type="alphaUcParenR"/>
            </a:pPr>
            <a:r>
              <a:rPr lang="en-US" sz="2000" dirty="0" smtClean="0"/>
              <a:t>COMPOSITE DATA TYPE</a:t>
            </a:r>
          </a:p>
          <a:p>
            <a:pPr marL="457200" indent="-457200">
              <a:buAutoNum type="alphaUcParenR"/>
            </a:pPr>
            <a:r>
              <a:rPr lang="en-US" sz="2000" dirty="0" smtClean="0"/>
              <a:t>REFERENCE DATA TYPE</a:t>
            </a:r>
          </a:p>
          <a:p>
            <a:pPr marL="457200" indent="-457200">
              <a:buAutoNum type="alphaUcParenR"/>
            </a:pPr>
            <a:r>
              <a:rPr lang="en-US" sz="2000" dirty="0" smtClean="0"/>
              <a:t>BOTH A &amp; B</a:t>
            </a:r>
            <a:endParaRPr lang="en-US" sz="20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32715310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smtClean="0">
                <a:latin typeface="Times New Roman" pitchFamily="18" charset="0"/>
                <a:cs typeface="Times New Roman" pitchFamily="18" charset="0"/>
              </a:rPr>
              <a:t>CURSOR</a:t>
            </a:r>
            <a:endParaRPr lang="en-IN" sz="3600"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dirty="0" smtClean="0">
                <a:latin typeface="Times New Roman" pitchFamily="18" charset="0"/>
                <a:cs typeface="Times New Roman" pitchFamily="18" charset="0"/>
              </a:rPr>
              <a:t>CURSOR is a handle or pointer to the context area. Using a cursor, the PL/SQL program can control the context area.</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There are two types of cursors in PL/SQL:</a:t>
            </a:r>
          </a:p>
          <a:p>
            <a:r>
              <a:rPr lang="en-IN" dirty="0" smtClean="0">
                <a:latin typeface="Times New Roman" pitchFamily="18" charset="0"/>
                <a:cs typeface="Times New Roman" pitchFamily="18" charset="0"/>
              </a:rPr>
              <a:t> Implicit Cursors</a:t>
            </a:r>
          </a:p>
          <a:p>
            <a:r>
              <a:rPr lang="en-IN" dirty="0" smtClean="0">
                <a:latin typeface="Times New Roman" pitchFamily="18" charset="0"/>
                <a:cs typeface="Times New Roman" pitchFamily="18" charset="0"/>
              </a:rPr>
              <a:t> Explicit Cursors</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download (1).png"/>
          <p:cNvPicPr>
            <a:picLocks noChangeAspect="1"/>
          </p:cNvPicPr>
          <p:nvPr/>
        </p:nvPicPr>
        <p:blipFill>
          <a:blip r:embed="rId3" cstate="print"/>
          <a:stretch>
            <a:fillRect/>
          </a:stretch>
        </p:blipFill>
        <p:spPr>
          <a:xfrm>
            <a:off x="5562600" y="4038600"/>
            <a:ext cx="1905000" cy="2400300"/>
          </a:xfrm>
          <a:prstGeom prst="rect">
            <a:avLst/>
          </a:prstGeom>
        </p:spPr>
      </p:pic>
    </p:spTree>
    <p:extLst>
      <p:ext uri="{BB962C8B-B14F-4D97-AF65-F5344CB8AC3E}">
        <p14:creationId xmlns="" xmlns:p14="http://schemas.microsoft.com/office/powerpoint/2010/main" val="7385535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b="1" dirty="0" smtClean="0">
                <a:latin typeface="Times New Roman" pitchFamily="18" charset="0"/>
                <a:cs typeface="Times New Roman" pitchFamily="18" charset="0"/>
              </a:rPr>
              <a:t>Implicit Cursors:</a:t>
            </a:r>
          </a:p>
          <a:p>
            <a:pPr>
              <a:buNone/>
            </a:pPr>
            <a:r>
              <a:rPr lang="en-IN" dirty="0" smtClean="0">
                <a:latin typeface="Times New Roman" pitchFamily="18" charset="0"/>
                <a:cs typeface="Times New Roman" pitchFamily="18" charset="0"/>
              </a:rPr>
              <a:t>    Implicit cursor is automatically created by the system</a:t>
            </a:r>
          </a:p>
          <a:p>
            <a:pPr>
              <a:buNone/>
            </a:pPr>
            <a:r>
              <a:rPr lang="en-IN" dirty="0" smtClean="0">
                <a:latin typeface="Times New Roman" pitchFamily="18" charset="0"/>
                <a:cs typeface="Times New Roman" pitchFamily="18" charset="0"/>
              </a:rPr>
              <a:t>    whenever program executes DML statements like</a:t>
            </a:r>
          </a:p>
          <a:p>
            <a:pPr>
              <a:buNone/>
            </a:pPr>
            <a:r>
              <a:rPr lang="en-IN" dirty="0" smtClean="0">
                <a:latin typeface="Times New Roman" pitchFamily="18" charset="0"/>
                <a:cs typeface="Times New Roman" pitchFamily="18" charset="0"/>
              </a:rPr>
              <a:t>    DELETE, INSERT, UPDATE statements.</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a:spLocks noGrp="1"/>
          </p:cNvSpPr>
          <p:nvPr>
            <p:ph type="title"/>
          </p:nvPr>
        </p:nvSpPr>
        <p:spPr>
          <a:xfrm>
            <a:off x="457200" y="320040"/>
            <a:ext cx="7239000" cy="1143000"/>
          </a:xfrm>
        </p:spPr>
        <p:txBody>
          <a:bodyPr>
            <a:normAutofit/>
          </a:bodyPr>
          <a:lstStyle/>
          <a:p>
            <a:r>
              <a:rPr lang="en-US" sz="3600" dirty="0" smtClean="0">
                <a:latin typeface="Times New Roman" pitchFamily="18" charset="0"/>
                <a:cs typeface="Times New Roman" pitchFamily="18" charset="0"/>
              </a:rPr>
              <a:t>IMPLICIT CURSOR</a:t>
            </a:r>
            <a:endParaRPr lang="en-IN" sz="3600" dirty="0">
              <a:latin typeface="Times New Roman" pitchFamily="18" charset="0"/>
              <a:cs typeface="Times New Roman" pitchFamily="18" charset="0"/>
            </a:endParaRPr>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68392021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IMPLICIT CURSOR</a:t>
            </a:r>
            <a:endParaRPr lang="en-IN" sz="3600" dirty="0">
              <a:latin typeface="Times New Roman" pitchFamily="18" charset="0"/>
              <a:cs typeface="Times New Roman" pitchFamily="18" charset="0"/>
            </a:endParaRPr>
          </a:p>
        </p:txBody>
      </p:sp>
      <p:pic>
        <p:nvPicPr>
          <p:cNvPr id="7170" name="Picture 2"/>
          <p:cNvPicPr>
            <a:picLocks noGrp="1" noChangeAspect="1" noChangeArrowheads="1"/>
          </p:cNvPicPr>
          <p:nvPr>
            <p:ph idx="1"/>
          </p:nvPr>
        </p:nvPicPr>
        <p:blipFill>
          <a:blip r:embed="rId2" cstate="print"/>
          <a:srcRect/>
          <a:stretch>
            <a:fillRect/>
          </a:stretch>
        </p:blipFill>
        <p:spPr bwMode="auto">
          <a:xfrm>
            <a:off x="914400" y="2119437"/>
            <a:ext cx="6477000" cy="3234364"/>
          </a:xfrm>
          <a:prstGeom prst="rect">
            <a:avLst/>
          </a:prstGeom>
          <a:noFill/>
          <a:ln w="9525">
            <a:noFill/>
            <a:miter lim="800000"/>
            <a:headEnd/>
            <a:tailEnd/>
          </a:ln>
          <a:effectLst/>
        </p:spPr>
      </p:pic>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15081927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EXAMPLE:</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400" dirty="0" smtClean="0">
                <a:latin typeface="Times New Roman" pitchFamily="18" charset="0"/>
                <a:cs typeface="Times New Roman" pitchFamily="18" charset="0"/>
              </a:rPr>
              <a:t>DECLARE</a:t>
            </a:r>
          </a:p>
          <a:p>
            <a:pPr>
              <a:buNone/>
            </a:pPr>
            <a:r>
              <a:rPr lang="en-IN" sz="2400" dirty="0" smtClean="0">
                <a:latin typeface="Times New Roman" pitchFamily="18" charset="0"/>
                <a:cs typeface="Times New Roman" pitchFamily="18" charset="0"/>
              </a:rPr>
              <a:t>    V_ENAME VARCHAR2(10);</a:t>
            </a:r>
          </a:p>
          <a:p>
            <a:pPr>
              <a:buNone/>
            </a:pPr>
            <a:r>
              <a:rPr lang="en-IN" sz="2400" dirty="0" smtClean="0">
                <a:latin typeface="Times New Roman" pitchFamily="18" charset="0"/>
                <a:cs typeface="Times New Roman" pitchFamily="18" charset="0"/>
              </a:rPr>
              <a:t>    V_JOB VARCHAR2(10):='SALES';</a:t>
            </a:r>
          </a:p>
          <a:p>
            <a:pPr>
              <a:buNone/>
            </a:pPr>
            <a:r>
              <a:rPr lang="en-IN" sz="2400" dirty="0" smtClean="0">
                <a:latin typeface="Times New Roman" pitchFamily="18" charset="0"/>
                <a:cs typeface="Times New Roman" pitchFamily="18" charset="0"/>
              </a:rPr>
              <a:t>    BEGIN</a:t>
            </a:r>
          </a:p>
          <a:p>
            <a:pPr>
              <a:buNone/>
            </a:pPr>
            <a:r>
              <a:rPr lang="en-IN" sz="2400" dirty="0" smtClean="0">
                <a:latin typeface="Times New Roman" pitchFamily="18" charset="0"/>
                <a:cs typeface="Times New Roman" pitchFamily="18" charset="0"/>
              </a:rPr>
              <a:t>    UPDATE EMP SET SAL=SAL+77 WHERE DEPTNO=(SELECT DEPTNO FROM EMP WHERE JOB='SALES');</a:t>
            </a:r>
          </a:p>
          <a:p>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69829803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IF SQL%</a:t>
            </a:r>
            <a:r>
              <a:rPr lang="en-IN" sz="2400" dirty="0" smtClean="0">
                <a:solidFill>
                  <a:srgbClr val="7030A0"/>
                </a:solidFill>
                <a:latin typeface="Times New Roman" pitchFamily="18" charset="0"/>
                <a:cs typeface="Times New Roman" pitchFamily="18" charset="0"/>
              </a:rPr>
              <a:t>FOUND</a:t>
            </a:r>
            <a:r>
              <a:rPr lang="en-IN" sz="2400" dirty="0" smtClean="0">
                <a:latin typeface="Times New Roman" pitchFamily="18" charset="0"/>
                <a:cs typeface="Times New Roman" pitchFamily="18" charset="0"/>
              </a:rPr>
              <a:t> THEN</a:t>
            </a:r>
          </a:p>
          <a:p>
            <a:pPr>
              <a:buNone/>
            </a:pPr>
            <a:r>
              <a:rPr lang="en-IN" sz="2400" dirty="0" smtClean="0">
                <a:latin typeface="Times New Roman" pitchFamily="18" charset="0"/>
                <a:cs typeface="Times New Roman" pitchFamily="18" charset="0"/>
              </a:rPr>
              <a:t>DBMS_OUTPUT.PUT_LINE(SQL%</a:t>
            </a:r>
            <a:r>
              <a:rPr lang="en-IN" sz="2400" dirty="0" smtClean="0">
                <a:solidFill>
                  <a:srgbClr val="7030A0"/>
                </a:solidFill>
                <a:latin typeface="Times New Roman" pitchFamily="18" charset="0"/>
                <a:cs typeface="Times New Roman" pitchFamily="18" charset="0"/>
              </a:rPr>
              <a:t>ROWCOUNT</a:t>
            </a:r>
            <a:r>
              <a:rPr lang="en-IN" sz="2400" dirty="0" smtClean="0">
                <a:latin typeface="Times New Roman" pitchFamily="18" charset="0"/>
                <a:cs typeface="Times New Roman" pitchFamily="18" charset="0"/>
              </a:rPr>
              <a:t>||'   '||'ROW(s) ARE UPDATED');</a:t>
            </a:r>
          </a:p>
          <a:p>
            <a:pPr>
              <a:buNone/>
            </a:pPr>
            <a:r>
              <a:rPr lang="en-IN" sz="2400" dirty="0" smtClean="0">
                <a:latin typeface="Times New Roman" pitchFamily="18" charset="0"/>
                <a:cs typeface="Times New Roman" pitchFamily="18" charset="0"/>
              </a:rPr>
              <a:t>ELSE</a:t>
            </a:r>
          </a:p>
          <a:p>
            <a:pPr>
              <a:buNone/>
            </a:pPr>
            <a:r>
              <a:rPr lang="en-IN" sz="2400" dirty="0" smtClean="0">
                <a:latin typeface="Times New Roman" pitchFamily="18" charset="0"/>
                <a:cs typeface="Times New Roman" pitchFamily="18" charset="0"/>
              </a:rPr>
              <a:t>DBMS_OUTPUT.PUT_LINE('NO RECORDS ARE UPDATED');</a:t>
            </a:r>
          </a:p>
          <a:p>
            <a:pPr>
              <a:buNone/>
            </a:pPr>
            <a:r>
              <a:rPr lang="en-IN" sz="2400" dirty="0" smtClean="0">
                <a:latin typeface="Times New Roman" pitchFamily="18" charset="0"/>
                <a:cs typeface="Times New Roman" pitchFamily="18" charset="0"/>
              </a:rPr>
              <a:t>END IF;</a:t>
            </a:r>
          </a:p>
          <a:p>
            <a:pPr>
              <a:buNone/>
            </a:pPr>
            <a:r>
              <a:rPr lang="en-IN" sz="2400" dirty="0" smtClean="0">
                <a:latin typeface="Times New Roman" pitchFamily="18" charset="0"/>
                <a:cs typeface="Times New Roman" pitchFamily="18" charset="0"/>
              </a:rPr>
              <a:t>END;</a:t>
            </a:r>
          </a:p>
          <a:p>
            <a:pPr>
              <a:buNone/>
            </a:pPr>
            <a:r>
              <a:rPr lang="en-US" sz="2400" dirty="0" smtClean="0">
                <a:latin typeface="Times New Roman" pitchFamily="18" charset="0"/>
                <a:cs typeface="Times New Roman" pitchFamily="18" charset="0"/>
              </a:rPr>
              <a:t>/</a:t>
            </a:r>
            <a:endParaRPr lang="en-IN" sz="2400" dirty="0" smtClean="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22409194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800" b="1" dirty="0" smtClean="0">
                <a:latin typeface="Times New Roman" pitchFamily="18" charset="0"/>
                <a:cs typeface="Times New Roman" pitchFamily="18" charset="0"/>
              </a:rPr>
              <a:t>Explicit Cursors:</a:t>
            </a:r>
          </a:p>
          <a:p>
            <a:pPr>
              <a:buNone/>
            </a:pPr>
            <a:r>
              <a:rPr lang="en-IN" sz="2800" dirty="0" smtClean="0">
                <a:latin typeface="Times New Roman" pitchFamily="18" charset="0"/>
                <a:cs typeface="Times New Roman" pitchFamily="18" charset="0"/>
              </a:rPr>
              <a:t>    Explicit cursor should be explicitly defined in the declaration section of the PL/SQL Block. </a:t>
            </a:r>
          </a:p>
          <a:p>
            <a:pPr>
              <a:buNone/>
            </a:pPr>
            <a:endParaRPr lang="en-IN" sz="2800" dirty="0" smtClean="0">
              <a:latin typeface="Times New Roman" pitchFamily="18" charset="0"/>
              <a:cs typeface="Times New Roman" pitchFamily="18" charset="0"/>
            </a:endParaRPr>
          </a:p>
          <a:p>
            <a:pPr>
              <a:buNone/>
            </a:pPr>
            <a:r>
              <a:rPr lang="en-IN" sz="2800" dirty="0" smtClean="0">
                <a:latin typeface="Times New Roman" pitchFamily="18" charset="0"/>
                <a:cs typeface="Times New Roman" pitchFamily="18" charset="0"/>
              </a:rPr>
              <a:t>    Explicit cursor is created on a SELECT Statement which returns more than one row from the database.</a:t>
            </a:r>
            <a:endParaRPr lang="en-IN" sz="28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Title 1"/>
          <p:cNvSpPr>
            <a:spLocks noGrp="1"/>
          </p:cNvSpPr>
          <p:nvPr>
            <p:ph type="title"/>
          </p:nvPr>
        </p:nvSpPr>
        <p:spPr>
          <a:xfrm>
            <a:off x="457200" y="320040"/>
            <a:ext cx="7239000" cy="1143000"/>
          </a:xfrm>
        </p:spPr>
        <p:txBody>
          <a:bodyPr>
            <a:normAutofit/>
          </a:bodyPr>
          <a:lstStyle/>
          <a:p>
            <a:r>
              <a:rPr lang="en-US" sz="3600" dirty="0" smtClean="0">
                <a:latin typeface="Times New Roman" pitchFamily="18" charset="0"/>
                <a:cs typeface="Times New Roman" pitchFamily="18" charset="0"/>
              </a:rPr>
              <a:t>EXPLICIT CURSOR</a:t>
            </a:r>
            <a:endParaRPr lang="en-IN" sz="3600" dirty="0">
              <a:latin typeface="Times New Roman" pitchFamily="18" charset="0"/>
              <a:cs typeface="Times New Roman" pitchFamily="18" charset="0"/>
            </a:endParaRPr>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smtClean="0">
                <a:solidFill>
                  <a:schemeClr val="bg1">
                    <a:lumMod val="85000"/>
                  </a:schemeClr>
                </a:solidFill>
              </a:rPr>
              <a:t>www.provendwconsultant.com</a:t>
            </a:r>
            <a:endParaRPr lang="en-US" sz="1800" dirty="0">
              <a:solidFill>
                <a:schemeClr val="bg1">
                  <a:lumMod val="85000"/>
                </a:schemeClr>
              </a:solidFill>
            </a:endParaRPr>
          </a:p>
        </p:txBody>
      </p:sp>
      <p:pic>
        <p:nvPicPr>
          <p:cNvPr id="2" name="Picture 1"/>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572000" y="4508500"/>
            <a:ext cx="2159000" cy="2159000"/>
          </a:xfrm>
          <a:prstGeom prst="rect">
            <a:avLst/>
          </a:prstGeom>
        </p:spPr>
      </p:pic>
    </p:spTree>
    <p:extLst>
      <p:ext uri="{BB962C8B-B14F-4D97-AF65-F5344CB8AC3E}">
        <p14:creationId xmlns="" xmlns:p14="http://schemas.microsoft.com/office/powerpoint/2010/main" val="302894149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EXPLICIT CURSOR</a:t>
            </a:r>
            <a:endParaRPr lang="en-IN" sz="3600"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2" cstate="print"/>
          <a:stretch>
            <a:fillRect/>
          </a:stretch>
        </p:blipFill>
        <p:spPr bwMode="auto">
          <a:xfrm>
            <a:off x="1752600" y="4038600"/>
            <a:ext cx="5181600" cy="2029857"/>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cstate="print"/>
          <a:srcRect/>
          <a:stretch>
            <a:fillRect/>
          </a:stretch>
        </p:blipFill>
        <p:spPr bwMode="auto">
          <a:xfrm>
            <a:off x="1693325" y="1755613"/>
            <a:ext cx="5300150" cy="1790006"/>
          </a:xfrm>
          <a:prstGeom prst="rect">
            <a:avLst/>
          </a:prstGeom>
          <a:noFill/>
          <a:ln w="9525">
            <a:noFill/>
            <a:miter lim="800000"/>
            <a:headEnd/>
            <a:tailEnd/>
          </a:ln>
          <a:effectLst/>
        </p:spPr>
      </p:pic>
      <p:pic>
        <p:nvPicPr>
          <p:cNvPr id="6"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1545788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EXAMPLE</a:t>
            </a:r>
            <a:r>
              <a:rPr lang="en-US" dirty="0" smtClean="0"/>
              <a:t>:</a:t>
            </a:r>
            <a:endParaRPr lang="en-IN" dirty="0"/>
          </a:p>
        </p:txBody>
      </p:sp>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DECLARE</a:t>
            </a:r>
          </a:p>
          <a:p>
            <a:pPr>
              <a:buNone/>
            </a:pPr>
            <a:r>
              <a:rPr lang="en-IN" sz="2400" dirty="0" smtClean="0">
                <a:latin typeface="Times New Roman" pitchFamily="18" charset="0"/>
                <a:cs typeface="Times New Roman" pitchFamily="18" charset="0"/>
              </a:rPr>
              <a:t> CURSOR CUR_EMP IS SELECT ENAME,SAL,COMM FROM EMP ORDER BY DEPTNO;</a:t>
            </a:r>
          </a:p>
          <a:p>
            <a:pPr>
              <a:buNone/>
            </a:pPr>
            <a:r>
              <a:rPr lang="en-IN" sz="2400" dirty="0" smtClean="0">
                <a:latin typeface="Times New Roman" pitchFamily="18" charset="0"/>
                <a:cs typeface="Times New Roman" pitchFamily="18" charset="0"/>
              </a:rPr>
              <a:t> V_ENAME VARCHAR2(10);</a:t>
            </a:r>
          </a:p>
          <a:p>
            <a:pPr>
              <a:buNone/>
            </a:pPr>
            <a:r>
              <a:rPr lang="en-IN" sz="2400" dirty="0" smtClean="0">
                <a:latin typeface="Times New Roman" pitchFamily="18" charset="0"/>
                <a:cs typeface="Times New Roman" pitchFamily="18" charset="0"/>
              </a:rPr>
              <a:t> V_SAL NUMBER(20);</a:t>
            </a:r>
          </a:p>
          <a:p>
            <a:pPr>
              <a:buNone/>
            </a:pPr>
            <a:r>
              <a:rPr lang="en-IN" sz="2400" dirty="0" smtClean="0">
                <a:latin typeface="Times New Roman" pitchFamily="18" charset="0"/>
                <a:cs typeface="Times New Roman" pitchFamily="18" charset="0"/>
              </a:rPr>
              <a:t> V_COMM NUMBER(9);</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78102057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BEGIN</a:t>
            </a:r>
          </a:p>
          <a:p>
            <a:pPr>
              <a:buNone/>
            </a:pPr>
            <a:r>
              <a:rPr lang="en-IN" sz="2400" dirty="0" smtClean="0">
                <a:latin typeface="Times New Roman" pitchFamily="18" charset="0"/>
                <a:cs typeface="Times New Roman" pitchFamily="18" charset="0"/>
              </a:rPr>
              <a:t> </a:t>
            </a:r>
            <a:r>
              <a:rPr lang="en-IN" sz="2400" dirty="0" smtClean="0">
                <a:solidFill>
                  <a:srgbClr val="C00000"/>
                </a:solidFill>
                <a:latin typeface="Times New Roman" pitchFamily="18" charset="0"/>
                <a:cs typeface="Times New Roman" pitchFamily="18" charset="0"/>
              </a:rPr>
              <a:t>OPEN </a:t>
            </a:r>
            <a:r>
              <a:rPr lang="en-IN" sz="2400" dirty="0" smtClean="0">
                <a:solidFill>
                  <a:schemeClr val="tx2">
                    <a:lumMod val="50000"/>
                  </a:schemeClr>
                </a:solidFill>
                <a:latin typeface="Times New Roman" pitchFamily="18" charset="0"/>
                <a:cs typeface="Times New Roman" pitchFamily="18" charset="0"/>
              </a:rPr>
              <a:t>CUR_EMP</a:t>
            </a:r>
            <a:r>
              <a:rPr lang="en-IN" sz="2400" dirty="0" smtClean="0">
                <a:latin typeface="Times New Roman" pitchFamily="18" charset="0"/>
                <a:cs typeface="Times New Roman" pitchFamily="18" charset="0"/>
              </a:rPr>
              <a:t>;</a:t>
            </a:r>
          </a:p>
          <a:p>
            <a:pPr>
              <a:buNone/>
            </a:pPr>
            <a:r>
              <a:rPr lang="en-IN" sz="2400" dirty="0" smtClean="0">
                <a:latin typeface="Times New Roman" pitchFamily="18" charset="0"/>
                <a:cs typeface="Times New Roman" pitchFamily="18" charset="0"/>
              </a:rPr>
              <a:t> IF CUR_EMP%</a:t>
            </a:r>
            <a:r>
              <a:rPr lang="en-IN" sz="2400" dirty="0" smtClean="0">
                <a:solidFill>
                  <a:schemeClr val="tx1"/>
                </a:solidFill>
                <a:latin typeface="Times New Roman" pitchFamily="18" charset="0"/>
                <a:cs typeface="Times New Roman" pitchFamily="18" charset="0"/>
              </a:rPr>
              <a:t>ISOPEN</a:t>
            </a:r>
            <a:r>
              <a:rPr lang="en-IN" sz="2400" dirty="0" smtClean="0">
                <a:latin typeface="Times New Roman" pitchFamily="18" charset="0"/>
                <a:cs typeface="Times New Roman" pitchFamily="18" charset="0"/>
              </a:rPr>
              <a:t> THEN</a:t>
            </a:r>
          </a:p>
          <a:p>
            <a:pPr>
              <a:buNone/>
            </a:pPr>
            <a:r>
              <a:rPr lang="en-IN" sz="2400" dirty="0" smtClean="0">
                <a:latin typeface="Times New Roman" pitchFamily="18" charset="0"/>
                <a:cs typeface="Times New Roman" pitchFamily="18" charset="0"/>
              </a:rPr>
              <a:t> DBMS_OUTPUT.PUT_LINE('THE RECORDS ARE TO BE FETCH');</a:t>
            </a:r>
          </a:p>
          <a:p>
            <a:pPr>
              <a:buNone/>
            </a:pPr>
            <a:r>
              <a:rPr lang="en-IN" sz="2400" dirty="0" smtClean="0">
                <a:latin typeface="Times New Roman" pitchFamily="18" charset="0"/>
                <a:cs typeface="Times New Roman" pitchFamily="18" charset="0"/>
              </a:rPr>
              <a:t> END IF;</a:t>
            </a:r>
          </a:p>
          <a:p>
            <a:pPr>
              <a:buNone/>
            </a:pPr>
            <a:endParaRPr lang="en-IN" sz="2400" dirty="0" smtClean="0">
              <a:latin typeface="Times New Roman" pitchFamily="18" charset="0"/>
              <a:cs typeface="Times New Roman" pitchFamily="18" charset="0"/>
            </a:endParaRP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3835436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IN" sz="2400" dirty="0" smtClean="0">
                <a:latin typeface="Times New Roman" pitchFamily="18" charset="0"/>
                <a:cs typeface="Times New Roman" pitchFamily="18" charset="0"/>
              </a:rPr>
              <a:t> LOOP</a:t>
            </a:r>
          </a:p>
          <a:p>
            <a:pPr>
              <a:buNone/>
            </a:pPr>
            <a:r>
              <a:rPr lang="en-IN" sz="2400" dirty="0" smtClean="0">
                <a:solidFill>
                  <a:srgbClr val="C00000"/>
                </a:solidFill>
                <a:latin typeface="Times New Roman" pitchFamily="18" charset="0"/>
                <a:cs typeface="Times New Roman" pitchFamily="18" charset="0"/>
              </a:rPr>
              <a:t> FETCH </a:t>
            </a:r>
            <a:r>
              <a:rPr lang="en-IN" sz="2400" dirty="0" smtClean="0">
                <a:latin typeface="Times New Roman" pitchFamily="18" charset="0"/>
                <a:cs typeface="Times New Roman" pitchFamily="18" charset="0"/>
              </a:rPr>
              <a:t>CUR_EMP INTO V_ENAME,V_SAL,V_COMM;</a:t>
            </a:r>
          </a:p>
          <a:p>
            <a:pPr>
              <a:buNone/>
            </a:pPr>
            <a:r>
              <a:rPr lang="en-IN" sz="2400" dirty="0" smtClean="0">
                <a:latin typeface="Times New Roman" pitchFamily="18" charset="0"/>
                <a:cs typeface="Times New Roman" pitchFamily="18" charset="0"/>
              </a:rPr>
              <a:t> EXIT WHEN CUR_EMP%NOTFOUND;</a:t>
            </a:r>
          </a:p>
          <a:p>
            <a:pPr>
              <a:buNone/>
            </a:pPr>
            <a:r>
              <a:rPr lang="en-IN" sz="2400" dirty="0" smtClean="0">
                <a:latin typeface="Times New Roman" pitchFamily="18" charset="0"/>
                <a:cs typeface="Times New Roman" pitchFamily="18" charset="0"/>
              </a:rPr>
              <a:t> DBMS_OUTPUT.PUT_LINE(CUR_EMP%</a:t>
            </a:r>
            <a:r>
              <a:rPr lang="en-IN" sz="2400" dirty="0" smtClean="0">
                <a:solidFill>
                  <a:schemeClr val="tx1"/>
                </a:solidFill>
                <a:latin typeface="Times New Roman" pitchFamily="18" charset="0"/>
                <a:cs typeface="Times New Roman" pitchFamily="18" charset="0"/>
              </a:rPr>
              <a:t>ROWCOUNT</a:t>
            </a:r>
            <a:r>
              <a:rPr lang="en-IN" sz="2400" dirty="0" smtClean="0">
                <a:latin typeface="Times New Roman" pitchFamily="18" charset="0"/>
                <a:cs typeface="Times New Roman" pitchFamily="18" charset="0"/>
              </a:rPr>
              <a:t>||'    '||V_ENAME);</a:t>
            </a:r>
          </a:p>
          <a:p>
            <a:pPr>
              <a:buNone/>
            </a:pPr>
            <a:r>
              <a:rPr lang="en-IN" sz="2400" dirty="0" smtClean="0">
                <a:latin typeface="Times New Roman" pitchFamily="18" charset="0"/>
                <a:cs typeface="Times New Roman" pitchFamily="18" charset="0"/>
              </a:rPr>
              <a:t> END LOOP;</a:t>
            </a:r>
          </a:p>
          <a:p>
            <a:pPr>
              <a:buNone/>
            </a:pPr>
            <a:r>
              <a:rPr lang="en-IN" sz="2400" dirty="0" smtClean="0">
                <a:latin typeface="Times New Roman" pitchFamily="18" charset="0"/>
                <a:cs typeface="Times New Roman" pitchFamily="18" charset="0"/>
              </a:rPr>
              <a:t> </a:t>
            </a:r>
            <a:r>
              <a:rPr lang="en-IN" sz="2400" dirty="0" smtClean="0">
                <a:solidFill>
                  <a:srgbClr val="C00000"/>
                </a:solidFill>
                <a:latin typeface="Times New Roman" pitchFamily="18" charset="0"/>
                <a:cs typeface="Times New Roman" pitchFamily="18" charset="0"/>
              </a:rPr>
              <a:t>CLOSE</a:t>
            </a:r>
            <a:r>
              <a:rPr lang="en-IN" sz="2400" dirty="0" smtClean="0">
                <a:latin typeface="Times New Roman" pitchFamily="18" charset="0"/>
                <a:cs typeface="Times New Roman" pitchFamily="18" charset="0"/>
              </a:rPr>
              <a:t> CUR_EMP;</a:t>
            </a:r>
          </a:p>
          <a:p>
            <a:pPr>
              <a:buNone/>
            </a:pPr>
            <a:r>
              <a:rPr lang="en-IN" sz="2400" dirty="0" smtClean="0">
                <a:latin typeface="Times New Roman" pitchFamily="18" charset="0"/>
                <a:cs typeface="Times New Roman" pitchFamily="18" charset="0"/>
              </a:rPr>
              <a:t> END;</a:t>
            </a:r>
          </a:p>
          <a:p>
            <a:pPr>
              <a:buNone/>
            </a:pPr>
            <a:r>
              <a:rPr lang="en-IN" sz="2400" dirty="0" smtClean="0">
                <a:latin typeface="Times New Roman" pitchFamily="18" charset="0"/>
                <a:cs typeface="Times New Roman" pitchFamily="18" charset="0"/>
              </a:rPr>
              <a:t>/</a:t>
            </a:r>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37681024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7239000" cy="701040"/>
          </a:xfrm>
        </p:spPr>
        <p:txBody>
          <a:bodyPr/>
          <a:lstStyle/>
          <a:p>
            <a:r>
              <a:rPr lang="en-US" sz="3200" dirty="0" smtClean="0">
                <a:latin typeface="Times New Roman" pitchFamily="18" charset="0"/>
                <a:cs typeface="Times New Roman" pitchFamily="18" charset="0"/>
              </a:rPr>
              <a:t>Record type:</a:t>
            </a:r>
            <a:endParaRPr lang="en-IN" sz="3200" dirty="0">
              <a:latin typeface="Times New Roman" pitchFamily="18" charset="0"/>
              <a:cs typeface="Times New Roman" pitchFamily="18" charset="0"/>
            </a:endParaRPr>
          </a:p>
        </p:txBody>
      </p:sp>
      <p:sp>
        <p:nvSpPr>
          <p:cNvPr id="3" name="Content Placeholder 2"/>
          <p:cNvSpPr>
            <a:spLocks noGrp="1"/>
          </p:cNvSpPr>
          <p:nvPr>
            <p:ph idx="1"/>
          </p:nvPr>
        </p:nvSpPr>
        <p:spPr>
          <a:xfrm>
            <a:off x="357158" y="2143116"/>
            <a:ext cx="8229600" cy="1928826"/>
          </a:xfrm>
        </p:spPr>
        <p:txBody>
          <a:bodyPr/>
          <a:lstStyle/>
          <a:p>
            <a:r>
              <a:rPr lang="en-IN" sz="2000" b="0" dirty="0" smtClean="0">
                <a:solidFill>
                  <a:srgbClr val="000000"/>
                </a:solidFill>
                <a:effectLst/>
                <a:latin typeface="Times New Roman" pitchFamily="18" charset="0"/>
                <a:cs typeface="Times New Roman" pitchFamily="18" charset="0"/>
              </a:rPr>
              <a:t>Records are called composite data types, as record is a combination of multiple scalar data types like char,varchar2, number etc.</a:t>
            </a:r>
          </a:p>
          <a:p>
            <a:r>
              <a:rPr lang="en-IN" sz="2000" b="0" dirty="0" smtClean="0">
                <a:solidFill>
                  <a:srgbClr val="000000"/>
                </a:solidFill>
                <a:effectLst/>
                <a:latin typeface="Times New Roman" pitchFamily="18" charset="0"/>
                <a:cs typeface="Times New Roman" pitchFamily="18" charset="0"/>
              </a:rPr>
              <a:t>Each field in the PL/SQL record has its own name and data type.</a:t>
            </a:r>
            <a:endParaRPr lang="en-IN" sz="2000" b="0" dirty="0">
              <a:solidFill>
                <a:srgbClr val="000000"/>
              </a:solidFill>
              <a:effectLst/>
              <a:latin typeface="Times New Roman" pitchFamily="18" charset="0"/>
              <a:cs typeface="Times New Roman" pitchFamily="18" charset="0"/>
            </a:endParaRPr>
          </a:p>
        </p:txBody>
      </p:sp>
      <p:sp>
        <p:nvSpPr>
          <p:cNvPr id="4" name="TextBox 3"/>
          <p:cNvSpPr txBox="1"/>
          <p:nvPr/>
        </p:nvSpPr>
        <p:spPr>
          <a:xfrm>
            <a:off x="428596" y="4071942"/>
            <a:ext cx="7786742" cy="1323439"/>
          </a:xfrm>
          <a:prstGeom prst="rect">
            <a:avLst/>
          </a:prstGeom>
          <a:noFill/>
        </p:spPr>
        <p:txBody>
          <a:bodyPr wrap="square" rtlCol="0">
            <a:spAutoFit/>
          </a:bodyPr>
          <a:lstStyle/>
          <a:p>
            <a:r>
              <a:rPr lang="en-US" sz="2000" dirty="0" smtClean="0">
                <a:solidFill>
                  <a:srgbClr val="000000"/>
                </a:solidFill>
                <a:latin typeface="Times New Roman" pitchFamily="18" charset="0"/>
                <a:cs typeface="Times New Roman" pitchFamily="18" charset="0"/>
              </a:rPr>
              <a:t>A record can be created in two ways……</a:t>
            </a:r>
          </a:p>
          <a:p>
            <a:endParaRPr lang="en-US" sz="2000" dirty="0" smtClean="0">
              <a:solidFill>
                <a:srgbClr val="000000"/>
              </a:solidFill>
              <a:latin typeface="Times New Roman" pitchFamily="18" charset="0"/>
              <a:cs typeface="Times New Roman" pitchFamily="18" charset="0"/>
            </a:endParaRPr>
          </a:p>
          <a:p>
            <a:pPr>
              <a:buFont typeface="Wingdings" pitchFamily="2" charset="2"/>
              <a:buChar char="ü"/>
            </a:pPr>
            <a:r>
              <a:rPr lang="en-US" sz="2000" dirty="0" smtClean="0">
                <a:solidFill>
                  <a:srgbClr val="000000"/>
                </a:solidFill>
                <a:latin typeface="Times New Roman" pitchFamily="18" charset="0"/>
                <a:cs typeface="Times New Roman" pitchFamily="18" charset="0"/>
              </a:rPr>
              <a:t> Using General syntax</a:t>
            </a:r>
          </a:p>
          <a:p>
            <a:pPr>
              <a:buFont typeface="Wingdings" pitchFamily="2" charset="2"/>
              <a:buChar char="ü"/>
            </a:pPr>
            <a:r>
              <a:rPr lang="en-US" sz="2000" dirty="0" smtClean="0">
                <a:solidFill>
                  <a:srgbClr val="000000"/>
                </a:solidFill>
                <a:latin typeface="Times New Roman" pitchFamily="18" charset="0"/>
                <a:cs typeface="Times New Roman" pitchFamily="18" charset="0"/>
              </a:rPr>
              <a:t> Using %ROWTYPE</a:t>
            </a:r>
            <a:endParaRPr lang="en-IN" sz="2000" dirty="0">
              <a:solidFill>
                <a:srgbClr val="000000"/>
              </a:solidFill>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139589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edg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edg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 calcmode="lin" valueType="num">
                                      <p:cBhvr>
                                        <p:cTn id="1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30680"/>
            <a:ext cx="7239000" cy="4846320"/>
          </a:xfrm>
        </p:spPr>
        <p:txBody>
          <a:bodyPr/>
          <a:lstStyle/>
          <a:p>
            <a:pPr>
              <a:buNone/>
            </a:pPr>
            <a:r>
              <a:rPr lang="en-US" sz="2000" dirty="0" smtClean="0">
                <a:solidFill>
                  <a:srgbClr val="000000"/>
                </a:solidFill>
                <a:effectLst/>
                <a:latin typeface="Times New Roman" pitchFamily="18" charset="0"/>
                <a:cs typeface="Times New Roman" pitchFamily="18" charset="0"/>
              </a:rPr>
              <a:t>USING %ROWTYPE:</a:t>
            </a:r>
          </a:p>
          <a:p>
            <a:r>
              <a:rPr lang="en-IN" sz="2000" b="0" dirty="0" smtClean="0">
                <a:effectLst/>
                <a:latin typeface="Times New Roman" pitchFamily="18" charset="0"/>
                <a:cs typeface="Times New Roman" pitchFamily="18" charset="0"/>
              </a:rPr>
              <a:t>%ROWTYPE is used to refer to table structure. When we use %ROWTYPE system will internally create a record with the structure same as table record.</a:t>
            </a:r>
          </a:p>
          <a:p>
            <a:pPr>
              <a:buNone/>
            </a:pPr>
            <a:endParaRPr lang="en-US" sz="2000" b="0" u="sng" dirty="0" smtClean="0">
              <a:solidFill>
                <a:srgbClr val="000000"/>
              </a:solidFill>
              <a:effectLst/>
              <a:latin typeface="Times New Roman" pitchFamily="18" charset="0"/>
              <a:cs typeface="Times New Roman" pitchFamily="18" charset="0"/>
            </a:endParaRPr>
          </a:p>
          <a:p>
            <a:pPr>
              <a:buNone/>
            </a:pPr>
            <a:r>
              <a:rPr lang="en-US" sz="2000" b="0" u="sng" dirty="0" smtClean="0">
                <a:solidFill>
                  <a:srgbClr val="000000"/>
                </a:solidFill>
                <a:effectLst/>
                <a:latin typeface="Times New Roman" pitchFamily="18" charset="0"/>
                <a:cs typeface="Times New Roman" pitchFamily="18" charset="0"/>
              </a:rPr>
              <a:t>Syntax:</a:t>
            </a:r>
          </a:p>
          <a:p>
            <a:pPr>
              <a:buNone/>
            </a:pPr>
            <a:r>
              <a:rPr lang="en-IN" sz="2000" b="0" dirty="0" smtClean="0">
                <a:solidFill>
                  <a:srgbClr val="000000"/>
                </a:solidFill>
                <a:effectLst/>
                <a:latin typeface="Times New Roman" pitchFamily="18" charset="0"/>
                <a:cs typeface="Times New Roman" pitchFamily="18" charset="0"/>
              </a:rPr>
              <a:t>Emp_rec   EMP%rowtype;</a:t>
            </a:r>
          </a:p>
          <a:p>
            <a:pPr>
              <a:buNone/>
            </a:pPr>
            <a:endParaRPr lang="en-US" sz="2000" b="0" u="sng" dirty="0" smtClean="0">
              <a:solidFill>
                <a:srgbClr val="000000"/>
              </a:solidFill>
              <a:effectLst/>
              <a:latin typeface="Times New Roman" pitchFamily="18" charset="0"/>
              <a:cs typeface="Times New Roman" pitchFamily="18" charset="0"/>
            </a:endParaRPr>
          </a:p>
          <a:p>
            <a:pPr>
              <a:buNone/>
            </a:pPr>
            <a:endParaRPr lang="en-IN" sz="2000" b="0" u="sng" dirty="0">
              <a:solidFill>
                <a:srgbClr val="000000"/>
              </a:solidFill>
              <a:effectLst/>
              <a:latin typeface="Times New Roman" pitchFamily="18" charset="0"/>
              <a:cs typeface="Times New Roman" pitchFamily="18" charset="0"/>
            </a:endParaRPr>
          </a:p>
        </p:txBody>
      </p:sp>
      <p:sp>
        <p:nvSpPr>
          <p:cNvPr id="4" name="TextBox 3"/>
          <p:cNvSpPr txBox="1"/>
          <p:nvPr/>
        </p:nvSpPr>
        <p:spPr>
          <a:xfrm>
            <a:off x="500034" y="4714884"/>
            <a:ext cx="5777544" cy="707886"/>
          </a:xfrm>
          <a:prstGeom prst="rect">
            <a:avLst/>
          </a:prstGeom>
          <a:noFill/>
        </p:spPr>
        <p:txBody>
          <a:bodyPr wrap="none" rtlCol="0">
            <a:spAutoFit/>
          </a:bodyPr>
          <a:lstStyle/>
          <a:p>
            <a:r>
              <a:rPr lang="en-US" sz="2000" dirty="0" smtClean="0">
                <a:solidFill>
                  <a:srgbClr val="000000"/>
                </a:solidFill>
                <a:latin typeface="Times New Roman" pitchFamily="18" charset="0"/>
                <a:cs typeface="Times New Roman" pitchFamily="18" charset="0"/>
              </a:rPr>
              <a:t>Individual record fields are referenced via dot notation</a:t>
            </a:r>
          </a:p>
          <a:p>
            <a:r>
              <a:rPr lang="en-US" sz="2000" dirty="0" smtClean="0">
                <a:solidFill>
                  <a:srgbClr val="000000"/>
                </a:solidFill>
                <a:latin typeface="Times New Roman" pitchFamily="18" charset="0"/>
                <a:cs typeface="Times New Roman" pitchFamily="18" charset="0"/>
              </a:rPr>
              <a:t>&lt;record_name&gt;  &lt;field_name&gt;</a:t>
            </a:r>
            <a:endParaRPr lang="en-IN" sz="2000" dirty="0">
              <a:solidFill>
                <a:srgbClr val="000000"/>
              </a:solidFill>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31289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2000" i="1" u="sng" dirty="0" smtClean="0">
                <a:solidFill>
                  <a:srgbClr val="000000"/>
                </a:solidFill>
                <a:effectLst/>
                <a:latin typeface="Times New Roman" pitchFamily="18" charset="0"/>
                <a:cs typeface="Times New Roman" pitchFamily="18" charset="0"/>
              </a:rPr>
              <a:t>Example:</a:t>
            </a:r>
            <a:endParaRPr lang="en-IN" sz="2000" i="1" u="sng" dirty="0" smtClean="0">
              <a:solidFill>
                <a:srgbClr val="000000"/>
              </a:solidFill>
              <a:effectLst/>
              <a:latin typeface="Times New Roman" pitchFamily="18" charset="0"/>
              <a:cs typeface="Times New Roman" pitchFamily="18" charset="0"/>
            </a:endParaRPr>
          </a:p>
          <a:p>
            <a:pPr>
              <a:buNone/>
            </a:pPr>
            <a:endParaRPr lang="en-IN" sz="2000" b="0" dirty="0" smtClean="0">
              <a:solidFill>
                <a:srgbClr val="000000"/>
              </a:solidFill>
              <a:effectLst/>
              <a:latin typeface="Times New Roman" pitchFamily="18" charset="0"/>
              <a:cs typeface="Times New Roman" pitchFamily="18" charset="0"/>
            </a:endParaRPr>
          </a:p>
          <a:p>
            <a:pPr>
              <a:buNone/>
            </a:pPr>
            <a:endParaRPr lang="en-IN" sz="2000" b="0" dirty="0" smtClean="0">
              <a:solidFill>
                <a:srgbClr val="000000"/>
              </a:solidFill>
              <a:effectLst/>
              <a:latin typeface="Times New Roman" pitchFamily="18" charset="0"/>
              <a:cs typeface="Times New Roman" pitchFamily="18" charset="0"/>
            </a:endParaRPr>
          </a:p>
          <a:p>
            <a:pPr>
              <a:buNone/>
            </a:pPr>
            <a:endParaRPr lang="en-IN" sz="2000" b="0" dirty="0" smtClean="0">
              <a:solidFill>
                <a:srgbClr val="000000"/>
              </a:solidFill>
              <a:effectLst/>
              <a:latin typeface="Times New Roman" pitchFamily="18" charset="0"/>
              <a:cs typeface="Times New Roman" pitchFamily="18" charset="0"/>
            </a:endParaRPr>
          </a:p>
          <a:p>
            <a:pPr>
              <a:buNone/>
            </a:pPr>
            <a:endParaRPr lang="en-IN" sz="2000" b="0" dirty="0" smtClean="0">
              <a:solidFill>
                <a:srgbClr val="000000"/>
              </a:solidFill>
              <a:effectLst/>
              <a:latin typeface="Times New Roman" pitchFamily="18" charset="0"/>
              <a:cs typeface="Times New Roman" pitchFamily="18" charset="0"/>
            </a:endParaRPr>
          </a:p>
          <a:p>
            <a:pPr>
              <a:buNone/>
            </a:pPr>
            <a:endParaRPr lang="en-US" sz="2000" b="0" dirty="0" smtClean="0">
              <a:solidFill>
                <a:srgbClr val="000000"/>
              </a:solidFill>
              <a:effectLst/>
              <a:latin typeface="Times New Roman" pitchFamily="18" charset="0"/>
              <a:cs typeface="Times New Roman" pitchFamily="18" charset="0"/>
            </a:endParaRPr>
          </a:p>
          <a:p>
            <a:pPr>
              <a:buNone/>
            </a:pPr>
            <a:endParaRPr lang="en-US" sz="2000" b="0" dirty="0" smtClean="0">
              <a:solidFill>
                <a:srgbClr val="000000"/>
              </a:solidFill>
              <a:effectLst/>
              <a:latin typeface="Times New Roman" pitchFamily="18" charset="0"/>
              <a:cs typeface="Times New Roman" pitchFamily="18" charset="0"/>
            </a:endParaRPr>
          </a:p>
          <a:p>
            <a:pPr>
              <a:buNone/>
            </a:pPr>
            <a:endParaRPr lang="en-US" sz="2000" b="0" dirty="0" smtClean="0">
              <a:solidFill>
                <a:srgbClr val="000000"/>
              </a:solidFill>
              <a:effectLst/>
              <a:latin typeface="Times New Roman" pitchFamily="18" charset="0"/>
              <a:cs typeface="Times New Roman" pitchFamily="18" charset="0"/>
            </a:endParaRPr>
          </a:p>
          <a:p>
            <a:pPr>
              <a:buNone/>
            </a:pPr>
            <a:endParaRPr lang="en-US" sz="2000" b="0" dirty="0" smtClean="0">
              <a:solidFill>
                <a:srgbClr val="000000"/>
              </a:solidFill>
              <a:effectLst/>
              <a:latin typeface="Times New Roman" pitchFamily="18" charset="0"/>
              <a:cs typeface="Times New Roman" pitchFamily="18" charset="0"/>
            </a:endParaRPr>
          </a:p>
          <a:p>
            <a:pPr>
              <a:buNone/>
            </a:pPr>
            <a:endParaRPr lang="en-US" sz="2000" b="0" dirty="0" smtClean="0">
              <a:solidFill>
                <a:srgbClr val="000000"/>
              </a:solidFill>
              <a:effectLst/>
              <a:latin typeface="Times New Roman" pitchFamily="18" charset="0"/>
              <a:cs typeface="Times New Roman" pitchFamily="18" charset="0"/>
            </a:endParaRPr>
          </a:p>
          <a:p>
            <a:pPr>
              <a:buNone/>
            </a:pPr>
            <a:r>
              <a:rPr lang="en-IN" sz="2000" b="0" dirty="0" smtClean="0">
                <a:solidFill>
                  <a:srgbClr val="000000"/>
                </a:solidFill>
                <a:effectLst/>
                <a:latin typeface="Times New Roman" pitchFamily="18" charset="0"/>
                <a:cs typeface="Times New Roman" pitchFamily="18" charset="0"/>
              </a:rPr>
              <a:t>END;</a:t>
            </a:r>
            <a:endParaRPr lang="en-IN" sz="2000" b="0" dirty="0">
              <a:solidFill>
                <a:srgbClr val="000000"/>
              </a:solidFill>
              <a:effectLst/>
              <a:latin typeface="Times New Roman" pitchFamily="18" charset="0"/>
              <a:cs typeface="Times New Roman" pitchFamily="18" charset="0"/>
            </a:endParaRPr>
          </a:p>
        </p:txBody>
      </p:sp>
      <p:sp>
        <p:nvSpPr>
          <p:cNvPr id="5" name="TextBox 4"/>
          <p:cNvSpPr txBox="1"/>
          <p:nvPr/>
        </p:nvSpPr>
        <p:spPr>
          <a:xfrm>
            <a:off x="500034" y="3143248"/>
            <a:ext cx="7805766" cy="2523768"/>
          </a:xfrm>
          <a:prstGeom prst="rect">
            <a:avLst/>
          </a:prstGeom>
          <a:noFill/>
        </p:spPr>
        <p:txBody>
          <a:bodyPr wrap="square" rtlCol="0">
            <a:spAutoFit/>
          </a:bodyPr>
          <a:lstStyle/>
          <a:p>
            <a:pPr>
              <a:buNone/>
            </a:pPr>
            <a:r>
              <a:rPr lang="en-IN" sz="2000" dirty="0" smtClean="0">
                <a:solidFill>
                  <a:srgbClr val="000000"/>
                </a:solidFill>
                <a:latin typeface="Times New Roman" pitchFamily="18" charset="0"/>
                <a:cs typeface="Times New Roman" pitchFamily="18" charset="0"/>
              </a:rPr>
              <a:t>BEGIN</a:t>
            </a:r>
          </a:p>
          <a:p>
            <a:pPr>
              <a:buNone/>
            </a:pPr>
            <a:r>
              <a:rPr lang="en-IN" sz="2000" dirty="0" smtClean="0">
                <a:solidFill>
                  <a:srgbClr val="000000"/>
                </a:solidFill>
                <a:latin typeface="Times New Roman" pitchFamily="18" charset="0"/>
                <a:cs typeface="Times New Roman" pitchFamily="18" charset="0"/>
              </a:rPr>
              <a:t>emp_rec.ename := 'BLAKE'; </a:t>
            </a:r>
          </a:p>
          <a:p>
            <a:pPr>
              <a:buNone/>
            </a:pPr>
            <a:r>
              <a:rPr lang="en-IN" sz="2000" dirty="0" smtClean="0">
                <a:solidFill>
                  <a:srgbClr val="000000"/>
                </a:solidFill>
                <a:latin typeface="Times New Roman" pitchFamily="18" charset="0"/>
                <a:cs typeface="Times New Roman" pitchFamily="18" charset="0"/>
              </a:rPr>
              <a:t>SELECT * INTO emp_rec FROM emp</a:t>
            </a:r>
          </a:p>
          <a:p>
            <a:pPr>
              <a:buNone/>
            </a:pPr>
            <a:r>
              <a:rPr lang="en-IN" sz="2000" dirty="0" smtClean="0">
                <a:solidFill>
                  <a:srgbClr val="000000"/>
                </a:solidFill>
                <a:latin typeface="Times New Roman" pitchFamily="18" charset="0"/>
                <a:cs typeface="Times New Roman" pitchFamily="18" charset="0"/>
              </a:rPr>
              <a:t>WHERE ename=emp_rec.ename;</a:t>
            </a:r>
          </a:p>
          <a:p>
            <a:pPr>
              <a:buNone/>
            </a:pPr>
            <a:r>
              <a:rPr lang="en-IN" sz="2000" dirty="0" smtClean="0">
                <a:solidFill>
                  <a:srgbClr val="000000"/>
                </a:solidFill>
                <a:latin typeface="Times New Roman" pitchFamily="18" charset="0"/>
                <a:cs typeface="Times New Roman" pitchFamily="18" charset="0"/>
              </a:rPr>
              <a:t>DBMS_OUTPUT.put_line( emp_rec.empno ||' '|| emp_rec.ename ||' '|| emp_rec.sal||' '||emp_rec.job||' '||emp_rec. hiredate||' '||emp_rec.comm||' '||emp_rec. deptno);</a:t>
            </a:r>
          </a:p>
          <a:p>
            <a:r>
              <a:rPr lang="en-US" dirty="0" smtClean="0"/>
              <a:t> </a:t>
            </a:r>
            <a:endParaRPr lang="en-IN" dirty="0"/>
          </a:p>
        </p:txBody>
      </p:sp>
      <p:sp>
        <p:nvSpPr>
          <p:cNvPr id="6" name="TextBox 5"/>
          <p:cNvSpPr txBox="1"/>
          <p:nvPr/>
        </p:nvSpPr>
        <p:spPr>
          <a:xfrm>
            <a:off x="500034" y="2214554"/>
            <a:ext cx="2807179" cy="923330"/>
          </a:xfrm>
          <a:prstGeom prst="rect">
            <a:avLst/>
          </a:prstGeom>
          <a:noFill/>
        </p:spPr>
        <p:txBody>
          <a:bodyPr wrap="none" rtlCol="0">
            <a:spAutoFit/>
          </a:bodyPr>
          <a:lstStyle/>
          <a:p>
            <a:pPr>
              <a:buNone/>
            </a:pPr>
            <a:r>
              <a:rPr lang="en-IN" dirty="0" smtClean="0">
                <a:solidFill>
                  <a:srgbClr val="000000"/>
                </a:solidFill>
                <a:latin typeface="Times New Roman" pitchFamily="18" charset="0"/>
                <a:cs typeface="Times New Roman" pitchFamily="18" charset="0"/>
              </a:rPr>
              <a:t>DECLARE</a:t>
            </a:r>
          </a:p>
          <a:p>
            <a:pPr>
              <a:buNone/>
            </a:pPr>
            <a:r>
              <a:rPr lang="en-IN" dirty="0" smtClean="0">
                <a:solidFill>
                  <a:srgbClr val="000000"/>
                </a:solidFill>
                <a:latin typeface="Times New Roman" pitchFamily="18" charset="0"/>
                <a:cs typeface="Times New Roman" pitchFamily="18" charset="0"/>
              </a:rPr>
              <a:t>emp_rec emp%ROWTYPE;</a:t>
            </a:r>
          </a:p>
          <a:p>
            <a:endParaRPr lang="en-IN" dirty="0"/>
          </a:p>
        </p:txBody>
      </p:sp>
      <p:pic>
        <p:nvPicPr>
          <p:cNvPr id="8"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9"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34514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8229600" cy="3650772"/>
          </a:xfrm>
        </p:spPr>
        <p:txBody>
          <a:bodyPr/>
          <a:lstStyle/>
          <a:p>
            <a:pPr>
              <a:buNone/>
            </a:pPr>
            <a:r>
              <a:rPr lang="en-US" sz="1600" b="0" dirty="0" smtClean="0">
                <a:solidFill>
                  <a:srgbClr val="000000"/>
                </a:solidFill>
                <a:effectLst/>
                <a:latin typeface="Times New Roman" pitchFamily="18" charset="0"/>
                <a:cs typeface="Times New Roman" pitchFamily="18" charset="0"/>
              </a:rPr>
              <a:t>A Record can be visualized as a row data.</a:t>
            </a:r>
            <a:endParaRPr lang="en-IN" sz="1600" b="0" dirty="0" smtClean="0">
              <a:solidFill>
                <a:srgbClr val="000000"/>
              </a:solidFill>
              <a:effectLst/>
              <a:latin typeface="Times New Roman" pitchFamily="18" charset="0"/>
              <a:cs typeface="Times New Roman" pitchFamily="18" charset="0"/>
            </a:endParaRPr>
          </a:p>
          <a:p>
            <a:pPr>
              <a:buNone/>
            </a:pPr>
            <a:r>
              <a:rPr lang="en-US" sz="1600" b="0" u="sng" dirty="0" smtClean="0">
                <a:solidFill>
                  <a:srgbClr val="000000"/>
                </a:solidFill>
                <a:effectLst/>
                <a:latin typeface="Times New Roman" pitchFamily="18" charset="0"/>
                <a:cs typeface="Times New Roman" pitchFamily="18" charset="0"/>
              </a:rPr>
              <a:t>Example:</a:t>
            </a:r>
          </a:p>
          <a:p>
            <a:pPr>
              <a:buNone/>
            </a:pPr>
            <a:endParaRPr lang="en-IN" sz="1600" b="0" u="sng" dirty="0" smtClean="0">
              <a:solidFill>
                <a:srgbClr val="000000"/>
              </a:solidFill>
              <a:effectLst/>
              <a:latin typeface="Times New Roman" pitchFamily="18" charset="0"/>
              <a:cs typeface="Times New Roman" pitchFamily="18" charset="0"/>
            </a:endParaRPr>
          </a:p>
          <a:p>
            <a:pPr>
              <a:buNone/>
            </a:pPr>
            <a:r>
              <a:rPr lang="en-US" sz="1600" b="0" dirty="0" smtClean="0">
                <a:solidFill>
                  <a:srgbClr val="000000"/>
                </a:solidFill>
                <a:effectLst/>
                <a:latin typeface="Times New Roman" pitchFamily="18" charset="0"/>
                <a:cs typeface="Times New Roman" pitchFamily="18" charset="0"/>
              </a:rPr>
              <a:t>Declare</a:t>
            </a:r>
            <a:endParaRPr lang="en-IN" sz="1600" b="0" dirty="0" smtClean="0">
              <a:solidFill>
                <a:srgbClr val="000000"/>
              </a:solidFill>
              <a:effectLst/>
              <a:latin typeface="Times New Roman" pitchFamily="18" charset="0"/>
              <a:cs typeface="Times New Roman" pitchFamily="18" charset="0"/>
            </a:endParaRPr>
          </a:p>
          <a:p>
            <a:pPr>
              <a:buNone/>
            </a:pPr>
            <a:r>
              <a:rPr lang="en-IN" sz="1600" b="0" dirty="0" smtClean="0">
                <a:solidFill>
                  <a:srgbClr val="000000"/>
                </a:solidFill>
                <a:effectLst/>
                <a:latin typeface="Times New Roman" pitchFamily="18" charset="0"/>
                <a:cs typeface="Times New Roman" pitchFamily="18" charset="0"/>
              </a:rPr>
              <a:t>TYPE Emp_type IS RECORD</a:t>
            </a:r>
          </a:p>
          <a:p>
            <a:pPr>
              <a:buNone/>
            </a:pPr>
            <a:r>
              <a:rPr lang="en-IN" sz="1600" b="0" dirty="0" smtClean="0">
                <a:solidFill>
                  <a:srgbClr val="000000"/>
                </a:solidFill>
                <a:effectLst/>
                <a:latin typeface="Times New Roman" pitchFamily="18" charset="0"/>
                <a:cs typeface="Times New Roman" pitchFamily="18" charset="0"/>
              </a:rPr>
              <a:t>( empno NUMBER(5),</a:t>
            </a:r>
          </a:p>
          <a:p>
            <a:pPr>
              <a:buNone/>
            </a:pPr>
            <a:r>
              <a:rPr lang="en-IN" sz="1600" b="0" dirty="0" smtClean="0">
                <a:solidFill>
                  <a:srgbClr val="000000"/>
                </a:solidFill>
                <a:effectLst/>
                <a:latin typeface="Times New Roman" pitchFamily="18" charset="0"/>
                <a:cs typeface="Times New Roman" pitchFamily="18" charset="0"/>
              </a:rPr>
              <a:t>ename VARCHAR2(25),</a:t>
            </a:r>
          </a:p>
          <a:p>
            <a:pPr>
              <a:buNone/>
            </a:pPr>
            <a:r>
              <a:rPr lang="en-IN" sz="1600" b="0" dirty="0" smtClean="0">
                <a:solidFill>
                  <a:srgbClr val="000000"/>
                </a:solidFill>
                <a:effectLst/>
                <a:latin typeface="Times New Roman" pitchFamily="18" charset="0"/>
                <a:cs typeface="Times New Roman" pitchFamily="18" charset="0"/>
              </a:rPr>
              <a:t>job VARCHAR2 (25),</a:t>
            </a:r>
          </a:p>
          <a:p>
            <a:pPr>
              <a:buNone/>
            </a:pPr>
            <a:r>
              <a:rPr lang="en-IN" sz="1600" b="0" dirty="0" smtClean="0">
                <a:solidFill>
                  <a:srgbClr val="000000"/>
                </a:solidFill>
                <a:effectLst/>
                <a:latin typeface="Times New Roman" pitchFamily="18" charset="0"/>
                <a:cs typeface="Times New Roman" pitchFamily="18" charset="0"/>
              </a:rPr>
              <a:t>sal NUMBER(10)</a:t>
            </a:r>
          </a:p>
          <a:p>
            <a:pPr>
              <a:buNone/>
            </a:pPr>
            <a:r>
              <a:rPr lang="en-IN" sz="1600" b="0" dirty="0" smtClean="0">
                <a:solidFill>
                  <a:srgbClr val="000000"/>
                </a:solidFill>
                <a:effectLst/>
                <a:latin typeface="Times New Roman" pitchFamily="18" charset="0"/>
                <a:cs typeface="Times New Roman" pitchFamily="18" charset="0"/>
              </a:rPr>
              <a:t>hire_date DATE );</a:t>
            </a:r>
          </a:p>
          <a:p>
            <a:pPr>
              <a:buNone/>
            </a:pPr>
            <a:r>
              <a:rPr lang="en-IN" sz="1600" b="0" dirty="0" smtClean="0">
                <a:solidFill>
                  <a:srgbClr val="000000"/>
                </a:solidFill>
                <a:effectLst/>
                <a:latin typeface="Times New Roman" pitchFamily="18" charset="0"/>
                <a:cs typeface="Times New Roman" pitchFamily="18" charset="0"/>
              </a:rPr>
              <a:t>Emp_rec   Emp_type;</a:t>
            </a:r>
          </a:p>
          <a:p>
            <a:pPr>
              <a:buNone/>
            </a:pPr>
            <a:endParaRPr lang="en-US" sz="1600" b="0" dirty="0" smtClean="0">
              <a:solidFill>
                <a:srgbClr val="000000"/>
              </a:solidFill>
              <a:effectLst/>
              <a:latin typeface="Times New Roman" pitchFamily="18" charset="0"/>
              <a:cs typeface="Times New Roman" pitchFamily="18" charset="0"/>
            </a:endParaRPr>
          </a:p>
        </p:txBody>
      </p:sp>
      <p:sp>
        <p:nvSpPr>
          <p:cNvPr id="4" name="Title 1"/>
          <p:cNvSpPr>
            <a:spLocks noGrp="1"/>
          </p:cNvSpPr>
          <p:nvPr>
            <p:ph type="title"/>
          </p:nvPr>
        </p:nvSpPr>
        <p:spPr>
          <a:xfrm>
            <a:off x="214282" y="214290"/>
            <a:ext cx="8229600" cy="1143000"/>
          </a:xfrm>
        </p:spPr>
        <p:txBody>
          <a:bodyPr/>
          <a:lstStyle/>
          <a:p>
            <a:r>
              <a:rPr lang="en-US" sz="2400" dirty="0">
                <a:latin typeface="Times New Roman" pitchFamily="18" charset="0"/>
                <a:cs typeface="Times New Roman" pitchFamily="18" charset="0"/>
              </a:rPr>
              <a:t>USING GENERAL SYNTAX:</a:t>
            </a:r>
            <a:endParaRPr lang="en-IN" sz="2400" dirty="0">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2755624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sz="1600" b="0" dirty="0">
                <a:solidFill>
                  <a:srgbClr val="000000"/>
                </a:solidFill>
                <a:effectLst/>
                <a:latin typeface="Times New Roman" pitchFamily="18" charset="0"/>
                <a:cs typeface="Times New Roman" pitchFamily="18" charset="0"/>
              </a:rPr>
              <a:t>Begin</a:t>
            </a:r>
          </a:p>
          <a:p>
            <a:pPr>
              <a:buNone/>
            </a:pPr>
            <a:r>
              <a:rPr lang="en-US" sz="1600" b="0" dirty="0">
                <a:solidFill>
                  <a:srgbClr val="000000"/>
                </a:solidFill>
                <a:effectLst/>
                <a:latin typeface="Times New Roman" pitchFamily="18" charset="0"/>
                <a:cs typeface="Times New Roman" pitchFamily="18" charset="0"/>
              </a:rPr>
              <a:t>Emp_rec.ename:=‘king’;</a:t>
            </a:r>
          </a:p>
          <a:p>
            <a:pPr>
              <a:buNone/>
            </a:pPr>
            <a:r>
              <a:rPr lang="en-US" sz="1600" b="0" dirty="0">
                <a:solidFill>
                  <a:srgbClr val="000000"/>
                </a:solidFill>
                <a:effectLst/>
                <a:latin typeface="Times New Roman" pitchFamily="18" charset="0"/>
                <a:cs typeface="Times New Roman" pitchFamily="18" charset="0"/>
              </a:rPr>
              <a:t>Select * into emp_rec</a:t>
            </a:r>
          </a:p>
          <a:p>
            <a:pPr>
              <a:buNone/>
            </a:pPr>
            <a:r>
              <a:rPr lang="en-US" sz="1600" b="0" dirty="0">
                <a:solidFill>
                  <a:srgbClr val="000000"/>
                </a:solidFill>
                <a:effectLst/>
                <a:latin typeface="Times New Roman" pitchFamily="18" charset="0"/>
                <a:cs typeface="Times New Roman" pitchFamily="18" charset="0"/>
              </a:rPr>
              <a:t>From emp</a:t>
            </a:r>
          </a:p>
          <a:p>
            <a:pPr>
              <a:buNone/>
            </a:pPr>
            <a:r>
              <a:rPr lang="en-US" sz="1600" b="0" dirty="0">
                <a:solidFill>
                  <a:srgbClr val="000000"/>
                </a:solidFill>
                <a:effectLst/>
                <a:latin typeface="Times New Roman" pitchFamily="18" charset="0"/>
                <a:cs typeface="Times New Roman" pitchFamily="18" charset="0"/>
              </a:rPr>
              <a:t>Where ename:=emp_rec.ename;</a:t>
            </a:r>
          </a:p>
          <a:p>
            <a:pPr>
              <a:buNone/>
            </a:pPr>
            <a:r>
              <a:rPr lang="en-IN" sz="1600" b="0" dirty="0">
                <a:solidFill>
                  <a:srgbClr val="000000"/>
                </a:solidFill>
                <a:effectLst/>
                <a:latin typeface="Times New Roman" pitchFamily="18" charset="0"/>
                <a:cs typeface="Times New Roman" pitchFamily="18" charset="0"/>
              </a:rPr>
              <a:t>DBMS_OUTPUT.put_line( emp_rec.empno|| ' '||emp_rec.ename|| ' '|| emp_rec.sal||' '|| emp_rec.job);</a:t>
            </a:r>
          </a:p>
          <a:p>
            <a:pPr>
              <a:buNone/>
            </a:pPr>
            <a:r>
              <a:rPr lang="en-US" sz="1600" b="0" dirty="0">
                <a:solidFill>
                  <a:srgbClr val="000000"/>
                </a:solidFill>
                <a:effectLst/>
                <a:latin typeface="Times New Roman" pitchFamily="18" charset="0"/>
                <a:cs typeface="Times New Roman" pitchFamily="18" charset="0"/>
              </a:rPr>
              <a:t>End;</a:t>
            </a:r>
          </a:p>
          <a:p>
            <a:endParaRPr lang="en-US" sz="16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extLst>
      <p:ext uri="{BB962C8B-B14F-4D97-AF65-F5344CB8AC3E}">
        <p14:creationId xmlns="" xmlns:p14="http://schemas.microsoft.com/office/powerpoint/2010/main" val="78456290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Content Placeholder 10" descr="image001.png"/>
          <p:cNvPicPr>
            <a:picLocks noChangeAspect="1"/>
          </p:cNvPicPr>
          <p:nvPr/>
        </p:nvPicPr>
        <p:blipFill>
          <a:blip r:embed="rId3" cstate="print"/>
          <a:srcRect/>
          <a:stretch>
            <a:fillRect/>
          </a:stretch>
        </p:blipFill>
        <p:spPr bwMode="auto">
          <a:xfrm>
            <a:off x="7381875" y="0"/>
            <a:ext cx="1762125" cy="647700"/>
          </a:xfrm>
          <a:prstGeom prst="rect">
            <a:avLst/>
          </a:prstGeom>
          <a:noFill/>
          <a:ln w="9525">
            <a:noFill/>
            <a:miter lim="800000"/>
            <a:headEnd/>
            <a:tailEnd/>
          </a:ln>
        </p:spPr>
      </p:pic>
      <p:sp>
        <p:nvSpPr>
          <p:cNvPr id="8" name="Rectangle 7"/>
          <p:cNvSpPr/>
          <p:nvPr/>
        </p:nvSpPr>
        <p:spPr>
          <a:xfrm>
            <a:off x="53280" y="1901555"/>
            <a:ext cx="8481120" cy="3942618"/>
          </a:xfrm>
          <a:prstGeom prst="rect">
            <a:avLst/>
          </a:prstGeom>
        </p:spPr>
        <p:txBody>
          <a:bodyPr wrap="square">
            <a:spAutoFit/>
          </a:bodyPr>
          <a:lstStyle/>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Two types of errors can be found in a program: </a:t>
            </a:r>
            <a:r>
              <a:rPr lang="en-US"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compilation errors and runtime errors. </a:t>
            </a:r>
            <a:endParaRPr lang="en-US"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endPar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Runtime errors are known as </a:t>
            </a:r>
            <a:r>
              <a:rPr lang="en-US"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Exceptions.</a:t>
            </a:r>
          </a:p>
          <a:p>
            <a:pPr marL="742950" indent="-571500">
              <a:buFontTx/>
              <a:buChar char="•"/>
            </a:pPr>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There is a special section in a PL/SQL block that handles the runtime errors</a:t>
            </a:r>
            <a:r>
              <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buFontTx/>
              <a:buChar char="•"/>
            </a:pPr>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This section is called the </a:t>
            </a:r>
            <a:r>
              <a:rPr lang="en-US" b="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exception-handling</a:t>
            </a:r>
            <a:r>
              <a:rPr lang="en-US" i="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i="1"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section</a:t>
            </a: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and in it, runtime errors are referred to as </a:t>
            </a:r>
            <a:r>
              <a:rPr lang="en-US" i="1"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exceptions</a:t>
            </a:r>
            <a:r>
              <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171450"/>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 exception-handling section allows programmers to specify what actions should be taken when a specific exception occurs.</a:t>
            </a:r>
          </a:p>
          <a:p>
            <a:pPr marL="742950" indent="-571500">
              <a:lnSpc>
                <a:spcPct val="90000"/>
              </a:lnSpc>
              <a:buFontTx/>
              <a:buChar char="•"/>
            </a:pPr>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9" name="Rectangle 8"/>
          <p:cNvSpPr/>
          <p:nvPr/>
        </p:nvSpPr>
        <p:spPr>
          <a:xfrm>
            <a:off x="533400" y="675875"/>
            <a:ext cx="1165704" cy="523220"/>
          </a:xfrm>
          <a:prstGeom prst="rect">
            <a:avLst/>
          </a:prstGeom>
        </p:spPr>
        <p:txBody>
          <a:bodyPr wrap="none">
            <a:spAutoFit/>
          </a:bodyPr>
          <a:lstStyle/>
          <a:p>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Errors</a:t>
            </a:r>
          </a:p>
        </p:txBody>
      </p:sp>
    </p:spTree>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685800"/>
            <a:ext cx="5599610" cy="523220"/>
          </a:xfrm>
          <a:prstGeom prst="rect">
            <a:avLst/>
          </a:prstGeom>
        </p:spPr>
        <p:txBody>
          <a:bodyPr wrap="none">
            <a:spAutoFit/>
          </a:bodyPr>
          <a:lstStyle/>
          <a:p>
            <a:r>
              <a:rPr lang="en-US" sz="2800"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Why to handle the Exceptions….?</a:t>
            </a:r>
            <a:endParaRPr lang="en-US" sz="2800"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5" name="Rectangle 4"/>
          <p:cNvSpPr/>
          <p:nvPr/>
        </p:nvSpPr>
        <p:spPr>
          <a:xfrm>
            <a:off x="926569" y="2215698"/>
            <a:ext cx="9091490" cy="2031325"/>
          </a:xfrm>
          <a:prstGeom prst="rect">
            <a:avLst/>
          </a:prstGeom>
        </p:spPr>
        <p:txBody>
          <a:bodyPr wrap="square">
            <a:spAutoFit/>
          </a:bodyPr>
          <a:lstStyle/>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Whenever any exception raised in the execution block of Pl/</a:t>
            </a:r>
            <a:r>
              <a:rPr lang="en-US" dirty="0" err="1"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sql</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we </a:t>
            </a:r>
          </a:p>
          <a:p>
            <a:endPar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have to handle that exception if not the program control comes out </a:t>
            </a:r>
          </a:p>
          <a:p>
            <a:endPar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of the execution block and execution stops </a:t>
            </a:r>
            <a:r>
              <a:rPr lang="en-US" b="1"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abruptly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and generates</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system error message. </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pic>
        <p:nvPicPr>
          <p:cNvPr id="6" name="Picture 5" descr="exception.jpg"/>
          <p:cNvPicPr>
            <a:picLocks noChangeAspect="1"/>
          </p:cNvPicPr>
          <p:nvPr/>
        </p:nvPicPr>
        <p:blipFill>
          <a:blip r:embed="rId2" cstate="print"/>
          <a:stretch>
            <a:fillRect/>
          </a:stretch>
        </p:blipFill>
        <p:spPr>
          <a:xfrm>
            <a:off x="4343400" y="4191000"/>
            <a:ext cx="2466975" cy="1847850"/>
          </a:xfrm>
          <a:prstGeom prst="rect">
            <a:avLst/>
          </a:prstGeom>
        </p:spPr>
      </p:pic>
    </p:spTree>
    <p:extLst>
      <p:ext uri="{BB962C8B-B14F-4D97-AF65-F5344CB8AC3E}">
        <p14:creationId xmlns="" xmlns:p14="http://schemas.microsoft.com/office/powerpoint/2010/main" val="1264328114"/>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496" y="548680"/>
            <a:ext cx="3286477" cy="523220"/>
          </a:xfrm>
          <a:prstGeom prst="rect">
            <a:avLst/>
          </a:prstGeom>
        </p:spPr>
        <p:txBody>
          <a:bodyPr wrap="none">
            <a:spAutoFit/>
          </a:bodyPr>
          <a:lstStyle/>
          <a:p>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 Handling</a:t>
            </a:r>
            <a:endParaRPr lang="en-US" sz="2800"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4" name="Rectangle 3"/>
          <p:cNvSpPr/>
          <p:nvPr/>
        </p:nvSpPr>
        <p:spPr>
          <a:xfrm>
            <a:off x="0" y="1653838"/>
            <a:ext cx="7924800" cy="3139321"/>
          </a:xfrm>
          <a:prstGeom prst="rect">
            <a:avLst/>
          </a:prstGeom>
          <a:effectLst>
            <a:outerShdw blurRad="50800" dist="50800" dir="5400000" algn="ctr" rotWithShape="0">
              <a:schemeClr val="bg1"/>
            </a:outerShdw>
          </a:effectLst>
        </p:spPr>
        <p:txBody>
          <a:bodyPr wrap="square">
            <a:spAutoFit/>
          </a:bodyPr>
          <a:lstStyle/>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In order to handle run time errors in the program, an exception handler must be added</a:t>
            </a:r>
            <a:r>
              <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buFontTx/>
              <a:buChar char="•"/>
            </a:pPr>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 exception-handling section has the following </a:t>
            </a:r>
            <a:r>
              <a:rPr lang="en-US"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syntax:</a:t>
            </a:r>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2136775" lvl="2" indent="-568325"/>
            <a:r>
              <a:rPr lang="en-US" b="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p>
          <a:p>
            <a:pPr marL="2136775" lvl="2" indent="-568325"/>
            <a:r>
              <a:rPr lang="en-US" b="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WHEN EXCEPTION_NAME</a:t>
            </a:r>
          </a:p>
          <a:p>
            <a:pPr marL="2136775" lvl="2" indent="-568325"/>
            <a:r>
              <a:rPr lang="en-US" b="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THEN</a:t>
            </a:r>
          </a:p>
          <a:p>
            <a:pPr marL="2136775" lvl="2" indent="-568325"/>
            <a:r>
              <a:rPr lang="en-US" b="1"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ERROR-PROCESSING STATEMENTS</a:t>
            </a:r>
            <a:r>
              <a:rPr lang="en-US" b="1"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2136775" lvl="2" indent="-568325"/>
            <a:endPar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buFontTx/>
              <a:buChar char="•"/>
            </a:pPr>
            <a:r>
              <a:rPr lang="en-US"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 exception-handling section is placed after the executable section of the block. </a:t>
            </a:r>
          </a:p>
        </p:txBody>
      </p:sp>
    </p:spTree>
    <p:extLst>
      <p:ext uri="{BB962C8B-B14F-4D97-AF65-F5344CB8AC3E}">
        <p14:creationId xmlns="" xmlns:p14="http://schemas.microsoft.com/office/powerpoint/2010/main" val="3109287087"/>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2819400" y="1219200"/>
            <a:ext cx="2587352" cy="914400"/>
          </a:xfrm>
          <a:prstGeom prst="ellipse">
            <a:avLst/>
          </a:prstGeom>
          <a:pattFill prst="pct25">
            <a:fgClr>
              <a:srgbClr val="FFFF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rgbClr val="0070C0"/>
                </a:solidFill>
                <a:effectLst>
                  <a:outerShdw blurRad="38100" dist="38100" dir="2700000" algn="tl">
                    <a:srgbClr val="000000">
                      <a:alpha val="43137"/>
                    </a:srgbClr>
                  </a:outerShdw>
                </a:effectLst>
              </a:rPr>
              <a:t>Exceptions</a:t>
            </a:r>
            <a:endParaRPr lang="en-US" sz="2400" dirty="0">
              <a:solidFill>
                <a:srgbClr val="0070C0"/>
              </a:solidFill>
              <a:effectLst>
                <a:outerShdw blurRad="38100" dist="38100" dir="2700000" algn="tl">
                  <a:srgbClr val="000000">
                    <a:alpha val="43137"/>
                  </a:srgbClr>
                </a:outerShdw>
              </a:effectLst>
            </a:endParaRPr>
          </a:p>
        </p:txBody>
      </p:sp>
      <p:sp>
        <p:nvSpPr>
          <p:cNvPr id="3" name="Down Arrow 2"/>
          <p:cNvSpPr/>
          <p:nvPr/>
        </p:nvSpPr>
        <p:spPr>
          <a:xfrm>
            <a:off x="3847531" y="2133600"/>
            <a:ext cx="495869" cy="1066800"/>
          </a:xfrm>
          <a:prstGeom prst="downArrow">
            <a:avLst/>
          </a:prstGeom>
          <a:pattFill prst="pct25">
            <a:fgClr>
              <a:srgbClr val="FFFF0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outerShdw blurRad="38100" dist="38100" dir="2700000" algn="tl">
                  <a:srgbClr val="000000">
                    <a:alpha val="43137"/>
                  </a:srgbClr>
                </a:outerShdw>
              </a:effectLst>
            </a:endParaRPr>
          </a:p>
        </p:txBody>
      </p:sp>
      <p:sp>
        <p:nvSpPr>
          <p:cNvPr id="4" name="Rounded Rectangle 3"/>
          <p:cNvSpPr/>
          <p:nvPr/>
        </p:nvSpPr>
        <p:spPr>
          <a:xfrm>
            <a:off x="304800" y="3200400"/>
            <a:ext cx="7620000" cy="2743200"/>
          </a:xfrm>
          <a:prstGeom prst="roundRect">
            <a:avLst>
              <a:gd name="adj" fmla="val 24130"/>
            </a:avLst>
          </a:prstGeom>
          <a:pattFill prst="pct75">
            <a:fgClr>
              <a:schemeClr val="bg1"/>
            </a:fgClr>
            <a:bgClr>
              <a:srgbClr val="FFFF00"/>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outerShdw blurRad="38100" dist="38100" dir="2700000" algn="tl">
                  <a:srgbClr val="000000">
                    <a:alpha val="43137"/>
                  </a:srgbClr>
                </a:outerShdw>
              </a:effectLst>
            </a:endParaRPr>
          </a:p>
        </p:txBody>
      </p:sp>
      <p:sp>
        <p:nvSpPr>
          <p:cNvPr id="5" name="Rounded Rectangle 4"/>
          <p:cNvSpPr/>
          <p:nvPr/>
        </p:nvSpPr>
        <p:spPr>
          <a:xfrm>
            <a:off x="1066800" y="3933800"/>
            <a:ext cx="15240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effectLst>
                  <a:outerShdw blurRad="38100" dist="38100" dir="2700000" algn="tl">
                    <a:srgbClr val="000000">
                      <a:alpha val="43137"/>
                    </a:srgbClr>
                  </a:outerShdw>
                </a:effectLst>
              </a:rPr>
              <a:t>Pre-defined</a:t>
            </a:r>
            <a:endParaRPr lang="en-US" dirty="0">
              <a:effectLst>
                <a:outerShdw blurRad="38100" dist="38100" dir="2700000" algn="tl">
                  <a:srgbClr val="000000">
                    <a:alpha val="43137"/>
                  </a:srgbClr>
                </a:outerShdw>
              </a:effectLst>
            </a:endParaRPr>
          </a:p>
        </p:txBody>
      </p:sp>
      <p:sp>
        <p:nvSpPr>
          <p:cNvPr id="6" name="Rounded Rectangle 5"/>
          <p:cNvSpPr/>
          <p:nvPr/>
        </p:nvSpPr>
        <p:spPr>
          <a:xfrm>
            <a:off x="3429000" y="3933800"/>
            <a:ext cx="15240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effectLst>
                  <a:outerShdw blurRad="38100" dist="38100" dir="2700000" algn="tl">
                    <a:srgbClr val="000000">
                      <a:alpha val="43137"/>
                    </a:srgbClr>
                  </a:outerShdw>
                </a:effectLst>
              </a:rPr>
              <a:t>Non pre-defined</a:t>
            </a:r>
            <a:endParaRPr lang="en-US" dirty="0">
              <a:effectLst>
                <a:outerShdw blurRad="38100" dist="38100" dir="2700000" algn="tl">
                  <a:srgbClr val="000000">
                    <a:alpha val="43137"/>
                  </a:srgbClr>
                </a:outerShdw>
              </a:effectLst>
            </a:endParaRPr>
          </a:p>
        </p:txBody>
      </p:sp>
      <p:sp>
        <p:nvSpPr>
          <p:cNvPr id="7" name="Rounded Rectangle 6"/>
          <p:cNvSpPr/>
          <p:nvPr/>
        </p:nvSpPr>
        <p:spPr>
          <a:xfrm>
            <a:off x="5791200" y="3933800"/>
            <a:ext cx="15240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effectLst>
                  <a:outerShdw blurRad="38100" dist="38100" dir="2700000" algn="tl">
                    <a:srgbClr val="000000">
                      <a:alpha val="43137"/>
                    </a:srgbClr>
                  </a:outerShdw>
                </a:effectLst>
              </a:rPr>
              <a:t>User defined</a:t>
            </a:r>
            <a:endParaRPr lang="en-US" dirty="0">
              <a:effectLst>
                <a:outerShdw blurRad="38100" dist="38100" dir="2700000" algn="tl">
                  <a:srgbClr val="000000">
                    <a:alpha val="43137"/>
                  </a:srgbClr>
                </a:outerShdw>
              </a:effectLst>
            </a:endParaRPr>
          </a:p>
        </p:txBody>
      </p:sp>
      <p:sp>
        <p:nvSpPr>
          <p:cNvPr id="8" name="Rectangle 7"/>
          <p:cNvSpPr/>
          <p:nvPr/>
        </p:nvSpPr>
        <p:spPr>
          <a:xfrm>
            <a:off x="57341" y="548680"/>
            <a:ext cx="3522118" cy="523220"/>
          </a:xfrm>
          <a:prstGeom prst="rect">
            <a:avLst/>
          </a:prstGeom>
        </p:spPr>
        <p:txBody>
          <a:bodyPr wrap="none">
            <a:spAutoFit/>
          </a:bodyPr>
          <a:lstStyle/>
          <a:p>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Types of Exceptions:</a:t>
            </a:r>
          </a:p>
        </p:txBody>
      </p:sp>
    </p:spTree>
    <p:extLst>
      <p:ext uri="{BB962C8B-B14F-4D97-AF65-F5344CB8AC3E}">
        <p14:creationId xmlns="" xmlns:p14="http://schemas.microsoft.com/office/powerpoint/2010/main" val="2026562420"/>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750" fill="hold"/>
                                        <p:tgtEl>
                                          <p:spTgt spid="2"/>
                                        </p:tgtEl>
                                        <p:attrNameLst>
                                          <p:attrName>ppt_w</p:attrName>
                                        </p:attrNameLst>
                                      </p:cBhvr>
                                      <p:tavLst>
                                        <p:tav tm="0">
                                          <p:val>
                                            <p:fltVal val="0"/>
                                          </p:val>
                                        </p:tav>
                                        <p:tav tm="100000">
                                          <p:val>
                                            <p:strVal val="#ppt_w"/>
                                          </p:val>
                                        </p:tav>
                                      </p:tavLst>
                                    </p:anim>
                                    <p:anim calcmode="lin" valueType="num">
                                      <p:cBhvr>
                                        <p:cTn id="8" dur="750" fill="hold"/>
                                        <p:tgtEl>
                                          <p:spTgt spid="2"/>
                                        </p:tgtEl>
                                        <p:attrNameLst>
                                          <p:attrName>ppt_h</p:attrName>
                                        </p:attrNameLst>
                                      </p:cBhvr>
                                      <p:tavLst>
                                        <p:tav tm="0">
                                          <p:val>
                                            <p:fltVal val="0"/>
                                          </p:val>
                                        </p:tav>
                                        <p:tav tm="100000">
                                          <p:val>
                                            <p:strVal val="#ppt_h"/>
                                          </p:val>
                                        </p:tav>
                                      </p:tavLst>
                                    </p:anim>
                                    <p:animEffect transition="in" filter="fade">
                                      <p:cBhvr>
                                        <p:cTn id="9" dur="750"/>
                                        <p:tgtEl>
                                          <p:spTgt spid="2"/>
                                        </p:tgtEl>
                                      </p:cBhvr>
                                    </p:animEffect>
                                  </p:childTnLst>
                                </p:cTn>
                              </p:par>
                            </p:childTnLst>
                          </p:cTn>
                        </p:par>
                        <p:par>
                          <p:cTn id="10" fill="hold">
                            <p:stCondLst>
                              <p:cond delay="750"/>
                            </p:stCondLst>
                            <p:childTnLst>
                              <p:par>
                                <p:cTn id="11" presetID="22" presetClass="entr" presetSubtype="1"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up)">
                                      <p:cBhvr>
                                        <p:cTn id="13" dur="750"/>
                                        <p:tgtEl>
                                          <p:spTgt spid="3"/>
                                        </p:tgtEl>
                                      </p:cBhvr>
                                    </p:animEffect>
                                  </p:childTnLst>
                                </p:cTn>
                              </p:par>
                            </p:childTnLst>
                          </p:cTn>
                        </p:par>
                        <p:par>
                          <p:cTn id="14" fill="hold">
                            <p:stCondLst>
                              <p:cond delay="1500"/>
                            </p:stCondLst>
                            <p:childTnLst>
                              <p:par>
                                <p:cTn id="15" presetID="22" presetClass="entr" presetSubtype="1"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750"/>
                                        <p:tgtEl>
                                          <p:spTgt spid="4"/>
                                        </p:tgtEl>
                                      </p:cBhvr>
                                    </p:animEffect>
                                  </p:childTnLst>
                                </p:cTn>
                              </p:par>
                            </p:childTnLst>
                          </p:cTn>
                        </p:par>
                        <p:par>
                          <p:cTn id="18" fill="hold">
                            <p:stCondLst>
                              <p:cond delay="2250"/>
                            </p:stCondLst>
                            <p:childTnLst>
                              <p:par>
                                <p:cTn id="19" presetID="53" presetClass="entr" presetSubtype="16"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750" fill="hold"/>
                                        <p:tgtEl>
                                          <p:spTgt spid="5"/>
                                        </p:tgtEl>
                                        <p:attrNameLst>
                                          <p:attrName>ppt_w</p:attrName>
                                        </p:attrNameLst>
                                      </p:cBhvr>
                                      <p:tavLst>
                                        <p:tav tm="0">
                                          <p:val>
                                            <p:fltVal val="0"/>
                                          </p:val>
                                        </p:tav>
                                        <p:tav tm="100000">
                                          <p:val>
                                            <p:strVal val="#ppt_w"/>
                                          </p:val>
                                        </p:tav>
                                      </p:tavLst>
                                    </p:anim>
                                    <p:anim calcmode="lin" valueType="num">
                                      <p:cBhvr>
                                        <p:cTn id="22" dur="750" fill="hold"/>
                                        <p:tgtEl>
                                          <p:spTgt spid="5"/>
                                        </p:tgtEl>
                                        <p:attrNameLst>
                                          <p:attrName>ppt_h</p:attrName>
                                        </p:attrNameLst>
                                      </p:cBhvr>
                                      <p:tavLst>
                                        <p:tav tm="0">
                                          <p:val>
                                            <p:fltVal val="0"/>
                                          </p:val>
                                        </p:tav>
                                        <p:tav tm="100000">
                                          <p:val>
                                            <p:strVal val="#ppt_h"/>
                                          </p:val>
                                        </p:tav>
                                      </p:tavLst>
                                    </p:anim>
                                    <p:animEffect transition="in" filter="fade">
                                      <p:cBhvr>
                                        <p:cTn id="23" dur="750"/>
                                        <p:tgtEl>
                                          <p:spTgt spid="5"/>
                                        </p:tgtEl>
                                      </p:cBhvr>
                                    </p:animEffect>
                                  </p:childTnLst>
                                </p:cTn>
                              </p:par>
                            </p:childTnLst>
                          </p:cTn>
                        </p:par>
                        <p:par>
                          <p:cTn id="24" fill="hold">
                            <p:stCondLst>
                              <p:cond delay="3000"/>
                            </p:stCondLst>
                            <p:childTnLst>
                              <p:par>
                                <p:cTn id="25" presetID="53" presetClass="entr" presetSubtype="16"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750" fill="hold"/>
                                        <p:tgtEl>
                                          <p:spTgt spid="6"/>
                                        </p:tgtEl>
                                        <p:attrNameLst>
                                          <p:attrName>ppt_w</p:attrName>
                                        </p:attrNameLst>
                                      </p:cBhvr>
                                      <p:tavLst>
                                        <p:tav tm="0">
                                          <p:val>
                                            <p:fltVal val="0"/>
                                          </p:val>
                                        </p:tav>
                                        <p:tav tm="100000">
                                          <p:val>
                                            <p:strVal val="#ppt_w"/>
                                          </p:val>
                                        </p:tav>
                                      </p:tavLst>
                                    </p:anim>
                                    <p:anim calcmode="lin" valueType="num">
                                      <p:cBhvr>
                                        <p:cTn id="28" dur="750" fill="hold"/>
                                        <p:tgtEl>
                                          <p:spTgt spid="6"/>
                                        </p:tgtEl>
                                        <p:attrNameLst>
                                          <p:attrName>ppt_h</p:attrName>
                                        </p:attrNameLst>
                                      </p:cBhvr>
                                      <p:tavLst>
                                        <p:tav tm="0">
                                          <p:val>
                                            <p:fltVal val="0"/>
                                          </p:val>
                                        </p:tav>
                                        <p:tav tm="100000">
                                          <p:val>
                                            <p:strVal val="#ppt_h"/>
                                          </p:val>
                                        </p:tav>
                                      </p:tavLst>
                                    </p:anim>
                                    <p:animEffect transition="in" filter="fade">
                                      <p:cBhvr>
                                        <p:cTn id="29" dur="750"/>
                                        <p:tgtEl>
                                          <p:spTgt spid="6"/>
                                        </p:tgtEl>
                                      </p:cBhvr>
                                    </p:animEffect>
                                  </p:childTnLst>
                                </p:cTn>
                              </p:par>
                            </p:childTnLst>
                          </p:cTn>
                        </p:par>
                        <p:par>
                          <p:cTn id="30" fill="hold">
                            <p:stCondLst>
                              <p:cond delay="3750"/>
                            </p:stCondLst>
                            <p:childTnLst>
                              <p:par>
                                <p:cTn id="31" presetID="53" presetClass="entr" presetSubtype="16"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750" fill="hold"/>
                                        <p:tgtEl>
                                          <p:spTgt spid="7"/>
                                        </p:tgtEl>
                                        <p:attrNameLst>
                                          <p:attrName>ppt_w</p:attrName>
                                        </p:attrNameLst>
                                      </p:cBhvr>
                                      <p:tavLst>
                                        <p:tav tm="0">
                                          <p:val>
                                            <p:fltVal val="0"/>
                                          </p:val>
                                        </p:tav>
                                        <p:tav tm="100000">
                                          <p:val>
                                            <p:strVal val="#ppt_w"/>
                                          </p:val>
                                        </p:tav>
                                      </p:tavLst>
                                    </p:anim>
                                    <p:anim calcmode="lin" valueType="num">
                                      <p:cBhvr>
                                        <p:cTn id="34" dur="750" fill="hold"/>
                                        <p:tgtEl>
                                          <p:spTgt spid="7"/>
                                        </p:tgtEl>
                                        <p:attrNameLst>
                                          <p:attrName>ppt_h</p:attrName>
                                        </p:attrNameLst>
                                      </p:cBhvr>
                                      <p:tavLst>
                                        <p:tav tm="0">
                                          <p:val>
                                            <p:fltVal val="0"/>
                                          </p:val>
                                        </p:tav>
                                        <p:tav tm="100000">
                                          <p:val>
                                            <p:strVal val="#ppt_h"/>
                                          </p:val>
                                        </p:tav>
                                      </p:tavLst>
                                    </p:anim>
                                    <p:animEffect transition="in" filter="fade">
                                      <p:cBhvr>
                                        <p:cTn id="35"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548680"/>
            <a:ext cx="3966150" cy="523220"/>
          </a:xfrm>
          <a:prstGeom prst="rect">
            <a:avLst/>
          </a:prstGeom>
          <a:noFill/>
        </p:spPr>
        <p:txBody>
          <a:bodyPr wrap="none" rtlCol="0">
            <a:spAutoFit/>
          </a:bodyPr>
          <a:lstStyle/>
          <a:p>
            <a:r>
              <a:rPr lang="en-US" sz="28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Pre-Defined Exceptions</a:t>
            </a:r>
            <a:endPar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3" name="TextBox 2"/>
          <p:cNvSpPr txBox="1"/>
          <p:nvPr/>
        </p:nvSpPr>
        <p:spPr>
          <a:xfrm>
            <a:off x="160362" y="1569566"/>
            <a:ext cx="4599272" cy="923330"/>
          </a:xfrm>
          <a:prstGeom prst="rect">
            <a:avLst/>
          </a:prstGeom>
          <a:noFill/>
        </p:spPr>
        <p:txBody>
          <a:bodyPr wrap="none" rtlCol="0">
            <a:spAutoFit/>
          </a:bodyPr>
          <a:lstStyle/>
          <a:p>
            <a:pPr marL="457200" indent="-457200">
              <a:buFont typeface="Arial" pitchFamily="34" charset="0"/>
              <a:buChar char="•"/>
            </a:pPr>
            <a:r>
              <a:rPr lang="en-US" dirty="0" smtClean="0">
                <a:solidFill>
                  <a:srgbClr val="000000"/>
                </a:solidFill>
                <a:effectLst>
                  <a:outerShdw blurRad="38100" dist="38100" dir="2700000" algn="tl">
                    <a:srgbClr val="000000">
                      <a:alpha val="43137"/>
                    </a:srgbClr>
                  </a:outerShdw>
                </a:effectLst>
              </a:rPr>
              <a:t>These are defined by Oracle.</a:t>
            </a:r>
          </a:p>
          <a:p>
            <a:pPr marL="457200" indent="-457200">
              <a:buFont typeface="Arial" pitchFamily="34" charset="0"/>
              <a:buChar char="•"/>
            </a:pPr>
            <a:endParaRPr lang="en-US" dirty="0" smtClean="0">
              <a:solidFill>
                <a:srgbClr val="000000"/>
              </a:solidFill>
              <a:effectLst>
                <a:outerShdw blurRad="38100" dist="38100" dir="2700000" algn="tl">
                  <a:srgbClr val="000000">
                    <a:alpha val="43137"/>
                  </a:srgbClr>
                </a:outerShdw>
              </a:effectLst>
            </a:endParaRPr>
          </a:p>
          <a:p>
            <a:pPr marL="457200" indent="-457200">
              <a:buFont typeface="Arial" pitchFamily="34" charset="0"/>
              <a:buChar char="•"/>
            </a:pPr>
            <a:r>
              <a:rPr lang="en-US" dirty="0" smtClean="0">
                <a:solidFill>
                  <a:srgbClr val="000000"/>
                </a:solidFill>
                <a:effectLst>
                  <a:outerShdw blurRad="38100" dist="38100" dir="2700000" algn="tl">
                    <a:srgbClr val="000000">
                      <a:alpha val="43137"/>
                    </a:srgbClr>
                  </a:outerShdw>
                </a:effectLst>
              </a:rPr>
              <a:t>Activated by Oracle automatically.</a:t>
            </a:r>
            <a:endParaRPr lang="en-US" dirty="0">
              <a:solidFill>
                <a:srgbClr val="000000"/>
              </a:solidFill>
              <a:effectLst>
                <a:outerShdw blurRad="38100" dist="38100" dir="2700000" algn="tl">
                  <a:srgbClr val="000000">
                    <a:alpha val="43137"/>
                  </a:srgbClr>
                </a:outerShdw>
              </a:effectLst>
            </a:endParaRPr>
          </a:p>
        </p:txBody>
      </p:sp>
      <p:sp>
        <p:nvSpPr>
          <p:cNvPr id="4" name="TextBox 3"/>
          <p:cNvSpPr txBox="1"/>
          <p:nvPr/>
        </p:nvSpPr>
        <p:spPr>
          <a:xfrm>
            <a:off x="179512" y="2628201"/>
            <a:ext cx="1192955" cy="584775"/>
          </a:xfrm>
          <a:prstGeom prst="rect">
            <a:avLst/>
          </a:prstGeom>
          <a:noFill/>
        </p:spPr>
        <p:txBody>
          <a:bodyPr wrap="none" rtlCol="0">
            <a:spAutoFit/>
          </a:bodyPr>
          <a:lstStyle/>
          <a:p>
            <a:r>
              <a:rPr lang="en-US" sz="2000" b="1" dirty="0" smtClean="0">
                <a:solidFill>
                  <a:srgbClr val="00B0F0"/>
                </a:solidFill>
                <a:effectLst>
                  <a:outerShdw blurRad="38100" dist="38100" dir="2700000" algn="tl">
                    <a:srgbClr val="000000">
                      <a:alpha val="43137"/>
                    </a:srgbClr>
                  </a:outerShdw>
                </a:effectLst>
              </a:rPr>
              <a:t>Types</a:t>
            </a:r>
            <a:r>
              <a:rPr lang="en-US" sz="3200" b="1" dirty="0" smtClean="0">
                <a:solidFill>
                  <a:srgbClr val="00B0F0"/>
                </a:solidFill>
                <a:effectLst>
                  <a:outerShdw blurRad="38100" dist="38100" dir="2700000" algn="tl">
                    <a:srgbClr val="000000">
                      <a:alpha val="43137"/>
                    </a:srgbClr>
                  </a:outerShdw>
                </a:effectLst>
              </a:rPr>
              <a:t>:</a:t>
            </a:r>
            <a:endParaRPr lang="en-US" sz="3200" b="1" dirty="0">
              <a:solidFill>
                <a:srgbClr val="00B0F0"/>
              </a:solidFill>
              <a:effectLst>
                <a:outerShdw blurRad="38100" dist="38100" dir="2700000" algn="tl">
                  <a:srgbClr val="000000">
                    <a:alpha val="43137"/>
                  </a:srgbClr>
                </a:outerShdw>
              </a:effectLst>
            </a:endParaRPr>
          </a:p>
        </p:txBody>
      </p:sp>
      <p:sp>
        <p:nvSpPr>
          <p:cNvPr id="5" name="TextBox 4"/>
          <p:cNvSpPr txBox="1"/>
          <p:nvPr/>
        </p:nvSpPr>
        <p:spPr>
          <a:xfrm>
            <a:off x="685800" y="3276600"/>
            <a:ext cx="4085542" cy="2308324"/>
          </a:xfrm>
          <a:prstGeom prst="rect">
            <a:avLst/>
          </a:prstGeom>
          <a:noFill/>
        </p:spPr>
        <p:txBody>
          <a:bodyPr wrap="none" rtlCol="0">
            <a:spAutoFit/>
          </a:bodyPr>
          <a:lstStyle/>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rPr>
              <a:t>No data found(ora-11403/100)</a:t>
            </a:r>
          </a:p>
          <a:p>
            <a:pPr marL="285750" indent="-285750">
              <a:buFont typeface="Arial" pitchFamily="34" charset="0"/>
              <a:buChar char="•"/>
            </a:pPr>
            <a:endParaRPr lang="en-US" dirty="0" smtClean="0">
              <a:solidFill>
                <a:srgbClr val="000000"/>
              </a:solidFill>
              <a:effectLst>
                <a:outerShdw blurRad="38100" dist="38100" dir="2700000" algn="tl">
                  <a:srgbClr val="000000">
                    <a:alpha val="43137"/>
                  </a:srgbClr>
                </a:outerShdw>
              </a:effectLst>
            </a:endParaRPr>
          </a:p>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rPr>
              <a:t>Value-Error(ora-01422)</a:t>
            </a:r>
          </a:p>
          <a:p>
            <a:pPr marL="285750" indent="-285750">
              <a:buFont typeface="Arial" pitchFamily="34" charset="0"/>
              <a:buChar char="•"/>
            </a:pPr>
            <a:endParaRPr lang="en-US" dirty="0">
              <a:solidFill>
                <a:srgbClr val="000000"/>
              </a:solidFill>
              <a:effectLst>
                <a:outerShdw blurRad="38100" dist="38100" dir="2700000" algn="tl">
                  <a:srgbClr val="000000">
                    <a:alpha val="43137"/>
                  </a:srgbClr>
                </a:outerShdw>
              </a:effectLst>
            </a:endParaRPr>
          </a:p>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rPr>
              <a:t>Zero-divide(ora-01746)</a:t>
            </a:r>
          </a:p>
          <a:p>
            <a:pPr marL="285750" indent="-285750">
              <a:buFont typeface="Arial" pitchFamily="34" charset="0"/>
              <a:buChar char="•"/>
            </a:pPr>
            <a:endParaRPr lang="en-US" dirty="0">
              <a:solidFill>
                <a:srgbClr val="000000"/>
              </a:solidFill>
              <a:effectLst>
                <a:outerShdw blurRad="38100" dist="38100" dir="2700000" algn="tl">
                  <a:srgbClr val="000000">
                    <a:alpha val="43137"/>
                  </a:srgbClr>
                </a:outerShdw>
              </a:effectLst>
            </a:endParaRPr>
          </a:p>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rPr>
              <a:t>Login-denied(ora-01017)</a:t>
            </a:r>
          </a:p>
          <a:p>
            <a:pPr marL="285750" indent="-285750">
              <a:buFont typeface="Arial" pitchFamily="34" charset="0"/>
              <a:buChar char="•"/>
            </a:pPr>
            <a:endParaRPr lang="en-US" dirty="0">
              <a:solidFill>
                <a:srgbClr val="000000"/>
              </a:solidFill>
              <a:effectLst>
                <a:outerShdw blurRad="38100" dist="38100" dir="2700000" algn="tl">
                  <a:srgbClr val="000000">
                    <a:alpha val="43137"/>
                  </a:srgbClr>
                </a:outerShdw>
              </a:effectLst>
            </a:endParaRPr>
          </a:p>
        </p:txBody>
      </p:sp>
    </p:spTree>
    <p:extLst>
      <p:ext uri="{BB962C8B-B14F-4D97-AF65-F5344CB8AC3E}">
        <p14:creationId xmlns="" xmlns:p14="http://schemas.microsoft.com/office/powerpoint/2010/main" val="740178169"/>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1532106"/>
            <a:ext cx="8763000" cy="4201150"/>
          </a:xfrm>
          <a:prstGeom prst="rect">
            <a:avLst/>
          </a:prstGeom>
        </p:spPr>
        <p:txBody>
          <a:bodyPr wrap="square" bIns="0">
            <a:spAutoFit/>
          </a:bodyPr>
          <a:lstStyle/>
          <a:p>
            <a:pPr marL="742950" indent="-5715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BEGIN</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 number(2);</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 number(2);</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c number(2);</a:t>
            </a:r>
          </a:p>
          <a:p>
            <a:pPr marL="742950" indent="-5715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EXECUTION</a:t>
            </a:r>
          </a:p>
          <a:p>
            <a:pPr marL="742950" indent="-5715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a:=10;</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b:=</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0;</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c:=a/b;</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WHEN ZERO_DIVIDE THEN</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DBMS_OUTPUT.PUT_LINE</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(‘Denominator cannot be zero’);</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WHEN OTHERS THEN</a:t>
            </a:r>
          </a:p>
          <a:p>
            <a:pPr marL="742950" indent="-5715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DBMS_OUTPUT.PUT_LINE</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(‘Please check your procedure');</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742950" indent="-5715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END</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3" name="TextBox 2"/>
          <p:cNvSpPr txBox="1"/>
          <p:nvPr/>
        </p:nvSpPr>
        <p:spPr>
          <a:xfrm>
            <a:off x="381000" y="562788"/>
            <a:ext cx="1685077" cy="523220"/>
          </a:xfrm>
          <a:prstGeom prst="rect">
            <a:avLst/>
          </a:prstGeom>
          <a:noFill/>
        </p:spPr>
        <p:txBody>
          <a:bodyPr wrap="none" rtlCol="0">
            <a:spAutoFit/>
          </a:bodyPr>
          <a:lstStyle/>
          <a:p>
            <a:r>
              <a:rPr lang="en-US" sz="28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Example:</a:t>
            </a:r>
            <a:endPar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Tree>
    <p:extLst>
      <p:ext uri="{BB962C8B-B14F-4D97-AF65-F5344CB8AC3E}">
        <p14:creationId xmlns="" xmlns:p14="http://schemas.microsoft.com/office/powerpoint/2010/main" val="2368450095"/>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529516"/>
            <a:ext cx="4666662" cy="523220"/>
          </a:xfrm>
          <a:prstGeom prst="rect">
            <a:avLst/>
          </a:prstGeom>
          <a:noFill/>
        </p:spPr>
        <p:txBody>
          <a:bodyPr wrap="none" rtlCol="0">
            <a:spAutoFit/>
          </a:bodyPr>
          <a:lstStyle/>
          <a:p>
            <a:r>
              <a:rPr lang="en-US" sz="28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Non-Predefined</a:t>
            </a:r>
            <a:r>
              <a:rPr lang="en-US" sz="2800" b="1"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a:t>
            </a:r>
            <a:r>
              <a:rPr lang="en-US" sz="28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xceptions</a:t>
            </a:r>
            <a:r>
              <a:rPr lang="en-US" sz="2800" b="1" dirty="0" smtClean="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endParaRPr lang="en-US" sz="2800" b="1" dirty="0">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4" name="Rectangle 3"/>
          <p:cNvSpPr/>
          <p:nvPr/>
        </p:nvSpPr>
        <p:spPr>
          <a:xfrm>
            <a:off x="35496" y="1353542"/>
            <a:ext cx="6248400" cy="923330"/>
          </a:xfrm>
          <a:prstGeom prst="rect">
            <a:avLst/>
          </a:prstGeom>
        </p:spPr>
        <p:txBody>
          <a:bodyPr wrap="square">
            <a:spAutoFit/>
          </a:bodyPr>
          <a:lstStyle/>
          <a:p>
            <a:pPr marL="457200" indent="-457200">
              <a:buFont typeface="Arial" pitchFamily="34" charset="0"/>
              <a:buChar char="•"/>
            </a:pPr>
            <a:r>
              <a:rPr lang="en-US" dirty="0">
                <a:solidFill>
                  <a:srgbClr val="000000"/>
                </a:solidFill>
                <a:effectLst>
                  <a:outerShdw blurRad="38100" dist="38100" dir="2700000" algn="tl">
                    <a:srgbClr val="000000">
                      <a:alpha val="43137"/>
                    </a:srgbClr>
                  </a:outerShdw>
                </a:effectLst>
              </a:rPr>
              <a:t>These are defined by Oracle</a:t>
            </a:r>
            <a:r>
              <a:rPr lang="en-US" dirty="0" smtClean="0">
                <a:solidFill>
                  <a:srgbClr val="000000"/>
                </a:solidFill>
                <a:effectLst>
                  <a:outerShdw blurRad="38100" dist="38100" dir="2700000" algn="tl">
                    <a:srgbClr val="000000">
                      <a:alpha val="43137"/>
                    </a:srgbClr>
                  </a:outerShdw>
                </a:effectLst>
              </a:rPr>
              <a:t>.</a:t>
            </a:r>
          </a:p>
          <a:p>
            <a:pPr marL="457200" indent="-457200">
              <a:buFont typeface="Arial" pitchFamily="34" charset="0"/>
              <a:buChar char="•"/>
            </a:pPr>
            <a:endParaRPr lang="en-US" dirty="0">
              <a:solidFill>
                <a:srgbClr val="000000"/>
              </a:solidFill>
              <a:effectLst>
                <a:outerShdw blurRad="38100" dist="38100" dir="2700000" algn="tl">
                  <a:srgbClr val="000000">
                    <a:alpha val="43137"/>
                  </a:srgbClr>
                </a:outerShdw>
              </a:effectLst>
            </a:endParaRPr>
          </a:p>
          <a:p>
            <a:pPr marL="457200" indent="-457200">
              <a:buFont typeface="Arial" pitchFamily="34" charset="0"/>
              <a:buChar char="•"/>
            </a:pPr>
            <a:r>
              <a:rPr lang="en-US" dirty="0">
                <a:solidFill>
                  <a:srgbClr val="000000"/>
                </a:solidFill>
                <a:effectLst>
                  <a:outerShdw blurRad="38100" dist="38100" dir="2700000" algn="tl">
                    <a:srgbClr val="000000">
                      <a:alpha val="43137"/>
                    </a:srgbClr>
                  </a:outerShdw>
                </a:effectLst>
              </a:rPr>
              <a:t>Activated </a:t>
            </a:r>
            <a:r>
              <a:rPr lang="en-US" dirty="0" smtClean="0">
                <a:solidFill>
                  <a:srgbClr val="000000"/>
                </a:solidFill>
                <a:effectLst>
                  <a:outerShdw blurRad="38100" dist="38100" dir="2700000" algn="tl">
                    <a:srgbClr val="000000">
                      <a:alpha val="43137"/>
                    </a:srgbClr>
                  </a:outerShdw>
                </a:effectLst>
              </a:rPr>
              <a:t>automatically by constraints</a:t>
            </a:r>
            <a:endParaRPr lang="en-US" dirty="0">
              <a:solidFill>
                <a:srgbClr val="000000"/>
              </a:solidFill>
              <a:effectLst>
                <a:outerShdw blurRad="38100" dist="38100" dir="2700000" algn="tl">
                  <a:srgbClr val="000000">
                    <a:alpha val="43137"/>
                  </a:srgbClr>
                </a:outerShdw>
              </a:effectLst>
            </a:endParaRPr>
          </a:p>
        </p:txBody>
      </p:sp>
      <p:sp>
        <p:nvSpPr>
          <p:cNvPr id="5" name="TextBox 4"/>
          <p:cNvSpPr txBox="1"/>
          <p:nvPr/>
        </p:nvSpPr>
        <p:spPr>
          <a:xfrm>
            <a:off x="539552" y="2391271"/>
            <a:ext cx="4132863" cy="461665"/>
          </a:xfrm>
          <a:prstGeom prst="rect">
            <a:avLst/>
          </a:prstGeom>
          <a:noFill/>
        </p:spPr>
        <p:txBody>
          <a:bodyPr wrap="none" rtlCol="0">
            <a:spAutoFit/>
          </a:bodyPr>
          <a:lstStyle/>
          <a:p>
            <a:r>
              <a:rPr lang="en-US" sz="24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PRAGMA_EXCEPTION-INIT</a:t>
            </a:r>
            <a:endParaRPr lang="en-US" sz="24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6" name="TextBox 5"/>
          <p:cNvSpPr txBox="1"/>
          <p:nvPr/>
        </p:nvSpPr>
        <p:spPr>
          <a:xfrm>
            <a:off x="35496" y="2955716"/>
            <a:ext cx="6994222" cy="3785652"/>
          </a:xfrm>
          <a:prstGeom prst="rect">
            <a:avLst/>
          </a:prstGeom>
          <a:noFill/>
        </p:spPr>
        <p:txBody>
          <a:bodyPr wrap="none" rtlCol="0">
            <a:spAutoFit/>
          </a:bodyPr>
          <a:lstStyle/>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rPr>
              <a:t>  Some of the system exceptions with error codes </a:t>
            </a:r>
          </a:p>
          <a:p>
            <a:pPr marL="285750" indent="-285750">
              <a:buFont typeface="Arial" pitchFamily="34" charset="0"/>
              <a:buChar char="•"/>
            </a:pPr>
            <a:endParaRPr lang="en-US" dirty="0" smtClean="0">
              <a:solidFill>
                <a:srgbClr val="000000"/>
              </a:solidFill>
              <a:effectLst>
                <a:outerShdw blurRad="38100" dist="38100" dir="2700000" algn="tl">
                  <a:srgbClr val="000000">
                    <a:alpha val="43137"/>
                  </a:srgbClr>
                </a:outerShdw>
              </a:effectLst>
            </a:endParaRPr>
          </a:p>
          <a:p>
            <a:r>
              <a:rPr lang="en-US" dirty="0" smtClean="0">
                <a:solidFill>
                  <a:srgbClr val="000000"/>
                </a:solidFill>
                <a:effectLst>
                  <a:outerShdw blurRad="38100" dist="38100" dir="2700000" algn="tl">
                    <a:srgbClr val="000000">
                      <a:alpha val="43137"/>
                    </a:srgbClr>
                  </a:outerShdw>
                </a:effectLst>
              </a:rPr>
              <a:t>     between the range -20999 through -20000 don’t have</a:t>
            </a:r>
          </a:p>
          <a:p>
            <a:r>
              <a:rPr lang="en-US" dirty="0" smtClean="0">
                <a:solidFill>
                  <a:srgbClr val="000000"/>
                </a:solidFill>
                <a:effectLst>
                  <a:outerShdw blurRad="38100" dist="38100" dir="2700000" algn="tl">
                    <a:srgbClr val="000000">
                      <a:alpha val="43137"/>
                    </a:srgbClr>
                  </a:outerShdw>
                </a:effectLst>
              </a:rPr>
              <a:t> </a:t>
            </a:r>
          </a:p>
          <a:p>
            <a:r>
              <a:rPr lang="en-US" dirty="0" smtClean="0">
                <a:solidFill>
                  <a:srgbClr val="000000"/>
                </a:solidFill>
                <a:effectLst>
                  <a:outerShdw blurRad="38100" dist="38100" dir="2700000" algn="tl">
                    <a:srgbClr val="000000">
                      <a:alpha val="43137"/>
                    </a:srgbClr>
                  </a:outerShdw>
                </a:effectLst>
              </a:rPr>
              <a:t>     a exception name.</a:t>
            </a:r>
          </a:p>
          <a:p>
            <a:endParaRPr lang="en-US" dirty="0" smtClean="0">
              <a:solidFill>
                <a:srgbClr val="000000"/>
              </a:solidFill>
              <a:effectLst>
                <a:outerShdw blurRad="38100" dist="38100" dir="2700000" algn="tl">
                  <a:srgbClr val="000000">
                    <a:alpha val="43137"/>
                  </a:srgbClr>
                </a:outerShdw>
              </a:effectLst>
            </a:endParaRPr>
          </a:p>
          <a:p>
            <a:pPr>
              <a:tabLst>
                <a:tab pos="171450" algn="l"/>
                <a:tab pos="512763" algn="l"/>
                <a:tab pos="573088" algn="l"/>
              </a:tabLst>
            </a:pPr>
            <a:r>
              <a:rPr lang="en-US" sz="2400"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sz="24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Syntax:</a:t>
            </a:r>
          </a:p>
          <a:p>
            <a:endParaRPr lang="en-US" b="1" dirty="0">
              <a:solidFill>
                <a:srgbClr val="000000"/>
              </a:solidFill>
              <a:effectLst>
                <a:outerShdw blurRad="38100" dist="38100" dir="2700000" algn="tl">
                  <a:srgbClr val="000000">
                    <a:alpha val="43137"/>
                  </a:srgbClr>
                </a:outerShdw>
              </a:effectLst>
            </a:endParaRPr>
          </a:p>
          <a:p>
            <a:pPr>
              <a:tabLst>
                <a:tab pos="573088" algn="l"/>
              </a:tabLst>
            </a:pPr>
            <a:r>
              <a:rPr lang="en-US" b="1" dirty="0" smtClean="0">
                <a:solidFill>
                  <a:srgbClr val="000000"/>
                </a:solidFill>
                <a:effectLst>
                  <a:outerShdw blurRad="38100" dist="38100" dir="2700000" algn="tl">
                    <a:srgbClr val="000000">
                      <a:alpha val="43137"/>
                    </a:srgbClr>
                  </a:outerShdw>
                </a:effectLst>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PRAGMA_EXCEPTION-INIT(exception-name, </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oracle-error-number);</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endPar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endParaRPr lang="en-US" dirty="0">
              <a:solidFill>
                <a:srgbClr val="000000"/>
              </a:solidFill>
              <a:effectLst>
                <a:outerShdw blurRad="38100" dist="38100" dir="2700000" algn="tl">
                  <a:srgbClr val="000000">
                    <a:alpha val="43137"/>
                  </a:srgbClr>
                </a:outerShdw>
              </a:effectLst>
            </a:endParaRPr>
          </a:p>
        </p:txBody>
      </p:sp>
    </p:spTree>
    <p:extLst>
      <p:ext uri="{BB962C8B-B14F-4D97-AF65-F5344CB8AC3E}">
        <p14:creationId xmlns="" xmlns:p14="http://schemas.microsoft.com/office/powerpoint/2010/main" val="1561411916"/>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96" y="548680"/>
            <a:ext cx="1685077" cy="523220"/>
          </a:xfrm>
          <a:prstGeom prst="rect">
            <a:avLst/>
          </a:prstGeom>
          <a:noFill/>
          <a:effectLst>
            <a:outerShdw blurRad="50800" dist="38100" dir="2700000" algn="tl" rotWithShape="0">
              <a:prstClr val="black">
                <a:alpha val="40000"/>
              </a:prstClr>
            </a:outerShdw>
          </a:effectLst>
        </p:spPr>
        <p:txBody>
          <a:bodyPr wrap="none" rtlCol="0">
            <a:spAutoFit/>
          </a:bodyPr>
          <a:lstStyle/>
          <a:p>
            <a:r>
              <a:rPr lang="en-US" sz="2800" b="1" dirty="0" smtClean="0">
                <a:solidFill>
                  <a:srgbClr val="00B0F0"/>
                </a:solidFill>
                <a:latin typeface="Arial Unicode MS" pitchFamily="34" charset="-128"/>
                <a:ea typeface="Arial Unicode MS" pitchFamily="34" charset="-128"/>
                <a:cs typeface="Arial Unicode MS" pitchFamily="34" charset="-128"/>
              </a:rPr>
              <a:t>Example:</a:t>
            </a:r>
            <a:endParaRPr lang="en-US" sz="2800" b="1" dirty="0">
              <a:solidFill>
                <a:srgbClr val="00B0F0"/>
              </a:solidFill>
              <a:latin typeface="Arial Unicode MS" pitchFamily="34" charset="-128"/>
              <a:ea typeface="Arial Unicode MS" pitchFamily="34" charset="-128"/>
              <a:cs typeface="Arial Unicode MS" pitchFamily="34" charset="-128"/>
            </a:endParaRPr>
          </a:p>
        </p:txBody>
      </p:sp>
      <p:sp>
        <p:nvSpPr>
          <p:cNvPr id="3" name="TextBox 2"/>
          <p:cNvSpPr txBox="1"/>
          <p:nvPr/>
        </p:nvSpPr>
        <p:spPr>
          <a:xfrm>
            <a:off x="251520" y="1803588"/>
            <a:ext cx="6724918" cy="2862322"/>
          </a:xfrm>
          <a:prstGeom prst="rect">
            <a:avLst/>
          </a:prstGeom>
          <a:noFill/>
        </p:spPr>
        <p:txBody>
          <a:bodyPr wrap="none" rtlCol="0">
            <a:spAutoFit/>
          </a:bodyPr>
          <a:lstStyle/>
          <a:p>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eclare</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deptno_exists exception</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PRAGMA_EXCEPTION-INIT</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(deptno_exists,-00001);</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Begin</a:t>
            </a:r>
          </a:p>
          <a:p>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insert into dept values(123,’abc’);</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p>
          <a:p>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When deptno_exists then</a:t>
            </a:r>
          </a:p>
          <a:p>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dbms_output.put_line(‘Deptno already exists with this’);</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End;</a:t>
            </a:r>
          </a:p>
          <a:p>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Tree>
    <p:extLst>
      <p:ext uri="{BB962C8B-B14F-4D97-AF65-F5344CB8AC3E}">
        <p14:creationId xmlns="" xmlns:p14="http://schemas.microsoft.com/office/powerpoint/2010/main" val="380299269"/>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96" y="548680"/>
            <a:ext cx="4184159" cy="523220"/>
          </a:xfrm>
          <a:prstGeom prst="rect">
            <a:avLst/>
          </a:prstGeom>
          <a:noFill/>
        </p:spPr>
        <p:txBody>
          <a:bodyPr wrap="none" rtlCol="0">
            <a:spAutoFit/>
          </a:bodyPr>
          <a:lstStyle/>
          <a:p>
            <a:r>
              <a:rPr lang="en-US" sz="2800" b="1" dirty="0" smtClean="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User defined Exceptions:</a:t>
            </a:r>
            <a:endPar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3" name="TextBox 2"/>
          <p:cNvSpPr txBox="1"/>
          <p:nvPr/>
        </p:nvSpPr>
        <p:spPr>
          <a:xfrm>
            <a:off x="467544" y="1659572"/>
            <a:ext cx="6154249" cy="2862322"/>
          </a:xfrm>
          <a:prstGeom prst="rect">
            <a:avLst/>
          </a:prstGeom>
          <a:noFill/>
        </p:spPr>
        <p:txBody>
          <a:bodyPr wrap="none" rtlCol="0">
            <a:spAutoFit/>
          </a:bodyPr>
          <a:lstStyle/>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These are defined  by user.</a:t>
            </a:r>
          </a:p>
          <a:p>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285750" indent="-285750">
              <a:buFont typeface="Arial" pitchFamily="34" charset="0"/>
              <a:buChar char="•"/>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 user-defined exception must be raised explicitly.</a:t>
            </a:r>
          </a:p>
          <a:p>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Activated by user using “</a:t>
            </a:r>
            <a:r>
              <a:rPr lang="en-US" dirty="0" smtClean="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RAISE</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Statement.</a:t>
            </a:r>
          </a:p>
          <a:p>
            <a:pPr marL="285750" indent="-285750">
              <a:buFont typeface="Arial" pitchFamily="34" charset="0"/>
              <a:buChar char="•"/>
            </a:pP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285750" indent="-285750">
              <a:buFont typeface="Arial" pitchFamily="34" charset="0"/>
              <a:buChar char="•"/>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Just like variables, exception has a type (EXCEPTION) </a:t>
            </a:r>
          </a:p>
          <a:p>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and scope</a:t>
            </a:r>
          </a:p>
          <a:p>
            <a:pPr marL="285750" indent="-285750">
              <a:buFont typeface="Arial" pitchFamily="34" charset="0"/>
              <a:buChar char="•"/>
            </a:pP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Tree>
    <p:extLst>
      <p:ext uri="{BB962C8B-B14F-4D97-AF65-F5344CB8AC3E}">
        <p14:creationId xmlns="" xmlns:p14="http://schemas.microsoft.com/office/powerpoint/2010/main" val="3180766222"/>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29516"/>
            <a:ext cx="3065263" cy="523220"/>
          </a:xfrm>
          <a:prstGeom prst="rect">
            <a:avLst/>
          </a:prstGeom>
          <a:noFill/>
        </p:spPr>
        <p:txBody>
          <a:bodyPr wrap="none" rtlCol="0">
            <a:spAutoFit/>
          </a:bodyPr>
          <a:lstStyle/>
          <a:p>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Raising Exception</a:t>
            </a:r>
          </a:p>
        </p:txBody>
      </p:sp>
      <p:sp>
        <p:nvSpPr>
          <p:cNvPr id="3" name="Rectangle 2"/>
          <p:cNvSpPr/>
          <p:nvPr/>
        </p:nvSpPr>
        <p:spPr>
          <a:xfrm>
            <a:off x="457200" y="1234606"/>
            <a:ext cx="4572000" cy="5650778"/>
          </a:xfrm>
          <a:prstGeom prst="rect">
            <a:avLst/>
          </a:prstGeom>
        </p:spPr>
        <p:txBody>
          <a:bodyPr>
            <a:spAutoFit/>
          </a:bodyPr>
          <a:lstStyle/>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DECLARE</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exception_name </a:t>
            </a:r>
            <a:r>
              <a:rPr lang="en-US"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spcBef>
                <a:spcPct val="20000"/>
              </a:spcBef>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BEGIN</a:t>
            </a:r>
          </a:p>
          <a:p>
            <a:pPr marL="742950" indent="-571500">
              <a:spcBef>
                <a:spcPct val="20000"/>
              </a:spcBef>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IF </a:t>
            </a:r>
            <a:r>
              <a:rPr lang="en-US" i="1"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CONDITION</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THEN</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a:solidFill>
                  <a:srgbClr val="FF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RAISE</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exception_name;</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ELSE</a:t>
            </a:r>
          </a:p>
          <a:p>
            <a:pPr marL="742950" indent="-571500">
              <a:spcBef>
                <a:spcPct val="20000"/>
              </a:spcBef>
            </a:pP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END IF;</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WHEN exception_name</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THEN</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ERROR-PROCESSING</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STATEMENTS;</a:t>
            </a:r>
          </a:p>
          <a:p>
            <a:pPr marL="742950" indent="-571500">
              <a:spcBef>
                <a:spcPct val="20000"/>
              </a:spcBef>
            </a:pP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END;</a:t>
            </a:r>
          </a:p>
          <a:p>
            <a:pPr marL="742950" indent="-571500">
              <a:spcBef>
                <a:spcPct val="20000"/>
              </a:spcBef>
            </a:pPr>
            <a:endParaRPr lang="en-US" sz="1600"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Tree>
    <p:extLst>
      <p:ext uri="{BB962C8B-B14F-4D97-AF65-F5344CB8AC3E}">
        <p14:creationId xmlns="" xmlns:p14="http://schemas.microsoft.com/office/powerpoint/2010/main" val="2112780970"/>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4969" y="1812880"/>
            <a:ext cx="8915401" cy="3693319"/>
          </a:xfrm>
          <a:prstGeom prst="rect">
            <a:avLst/>
          </a:prstGeom>
        </p:spPr>
        <p:txBody>
          <a:bodyPr wrap="square">
            <a:spAutoFit/>
          </a:bodyPr>
          <a:lstStyle/>
          <a:p>
            <a:pPr marL="742950" indent="-571500"/>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1454150" lvl="1" indent="-4572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DECLARE</a:t>
            </a:r>
          </a:p>
          <a:p>
            <a:pPr marL="1454150" lvl="1" indent="-4572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e_invalid_id EXCEPTION;</a:t>
            </a: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BEGIN</a:t>
            </a: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if EMPNO &lt; 0</a:t>
            </a: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THEN</a:t>
            </a: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RAISE </a:t>
            </a:r>
            <a:r>
              <a:rPr lang="en-US" dirty="0" err="1">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e_invalid_id</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a:t>
            </a:r>
            <a:endPar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EXCEPTION</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WHEN </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e_invalid_id</a:t>
            </a:r>
          </a:p>
          <a:p>
            <a:pPr marL="1454150" lvl="1" indent="-457200"/>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THEN</a:t>
            </a: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a:p>
            <a:pPr marL="1454150" lvl="1" indent="-4572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		DBMS_OUTPUT.PUT_LINE ('An id cannot </a:t>
            </a:r>
            <a:r>
              <a:rPr lang="en-US" dirty="0" smtClean="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be negative</a:t>
            </a:r>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a:t>
            </a:r>
          </a:p>
          <a:p>
            <a:pPr marL="1454150" lvl="1" indent="-457200"/>
            <a:r>
              <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END;</a:t>
            </a:r>
          </a:p>
          <a:p>
            <a:pPr marL="742950" indent="-571500">
              <a:buFontTx/>
              <a:buChar char="•"/>
            </a:pPr>
            <a:endParaRPr lang="en-US" dirty="0">
              <a:solidFill>
                <a:srgbClr val="00000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endParaRPr>
          </a:p>
        </p:txBody>
      </p:sp>
      <p:sp>
        <p:nvSpPr>
          <p:cNvPr id="3" name="Rectangle 2"/>
          <p:cNvSpPr/>
          <p:nvPr/>
        </p:nvSpPr>
        <p:spPr>
          <a:xfrm>
            <a:off x="35496" y="529516"/>
            <a:ext cx="1585690" cy="523220"/>
          </a:xfrm>
          <a:prstGeom prst="rect">
            <a:avLst/>
          </a:prstGeom>
        </p:spPr>
        <p:txBody>
          <a:bodyPr wrap="none">
            <a:spAutoFit/>
          </a:bodyPr>
          <a:lstStyle/>
          <a:p>
            <a:r>
              <a:rPr lang="en-US" sz="2800" b="1" dirty="0">
                <a:solidFill>
                  <a:srgbClr val="00B0F0"/>
                </a:solidFill>
                <a:effectLst>
                  <a:outerShdw blurRad="38100" dist="38100" dir="2700000" algn="tl">
                    <a:srgbClr val="000000">
                      <a:alpha val="43137"/>
                    </a:srgbClr>
                  </a:outerShdw>
                </a:effectLst>
                <a:latin typeface="Arial Unicode MS" pitchFamily="34" charset="-128"/>
                <a:ea typeface="Arial Unicode MS" pitchFamily="34" charset="-128"/>
                <a:cs typeface="Arial Unicode MS" pitchFamily="34" charset="-128"/>
              </a:rPr>
              <a:t>Example</a:t>
            </a:r>
          </a:p>
        </p:txBody>
      </p:sp>
    </p:spTree>
    <p:extLst>
      <p:ext uri="{BB962C8B-B14F-4D97-AF65-F5344CB8AC3E}">
        <p14:creationId xmlns="" xmlns:p14="http://schemas.microsoft.com/office/powerpoint/2010/main" val="965769895"/>
      </p:ext>
    </p:extLst>
  </p:cSld>
  <p:clrMapOvr>
    <a:masterClrMapping/>
  </p:clrMapOvr>
  <mc:AlternateContent xmlns:mc="http://schemas.openxmlformats.org/markup-compatibility/2006">
    <mc:Choice xmlns=""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QUESTIONS:</a:t>
            </a:r>
            <a:endParaRPr lang="en-US" dirty="0">
              <a:solidFill>
                <a:srgbClr val="FF0000"/>
              </a:solidFill>
            </a:endParaRP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000" dirty="0" smtClean="0"/>
              <a:t>IMPLICIT CURSOR GETS AUTOMATICALLY CREATED,WHEN WE USE______STATEMENT?</a:t>
            </a:r>
          </a:p>
          <a:p>
            <a:pPr marL="514350" indent="-514350">
              <a:buAutoNum type="alphaUcParenR"/>
            </a:pPr>
            <a:r>
              <a:rPr lang="en-US" sz="2000" dirty="0" smtClean="0"/>
              <a:t>INSERT </a:t>
            </a:r>
          </a:p>
          <a:p>
            <a:pPr marL="514350" indent="-514350">
              <a:buAutoNum type="alphaUcParenR"/>
            </a:pPr>
            <a:r>
              <a:rPr lang="en-US" sz="2000" dirty="0" smtClean="0"/>
              <a:t>SELECT </a:t>
            </a:r>
          </a:p>
          <a:p>
            <a:pPr marL="514350" indent="-514350">
              <a:buAutoNum type="alphaUcParenR"/>
            </a:pPr>
            <a:r>
              <a:rPr lang="en-US" sz="2000" dirty="0" smtClean="0"/>
              <a:t>BOTH A&amp;B</a:t>
            </a:r>
          </a:p>
          <a:p>
            <a:pPr marL="514350" indent="-514350">
              <a:buAutoNum type="alphaUcParenR"/>
            </a:pPr>
            <a:endParaRPr lang="en-US" sz="2000" dirty="0"/>
          </a:p>
          <a:p>
            <a:pPr marL="457200" indent="-457200">
              <a:buAutoNum type="arabicPeriod" startAt="2"/>
            </a:pPr>
            <a:r>
              <a:rPr lang="en-US" sz="2000" dirty="0" smtClean="0"/>
              <a:t>WHICH OF THE FOLLOWING ATTRIBUTE IS USED IN EXPLICIT CURSOR?</a:t>
            </a:r>
          </a:p>
          <a:p>
            <a:pPr marL="457200" indent="-457200">
              <a:buAutoNum type="alphaUcParenR"/>
            </a:pPr>
            <a:r>
              <a:rPr lang="en-US" sz="2000" dirty="0" smtClean="0"/>
              <a:t>OPEN</a:t>
            </a:r>
          </a:p>
          <a:p>
            <a:pPr marL="457200" indent="-457200">
              <a:buAutoNum type="alphaUcParenR"/>
            </a:pPr>
            <a:r>
              <a:rPr lang="en-US" sz="2000" dirty="0" smtClean="0"/>
              <a:t>%FOUND</a:t>
            </a:r>
          </a:p>
          <a:p>
            <a:pPr marL="457200" indent="-457200">
              <a:buAutoNum type="alphaUcParenR"/>
            </a:pPr>
            <a:r>
              <a:rPr lang="en-US" sz="2000" dirty="0" smtClean="0"/>
              <a:t>BOTH A&amp;B</a:t>
            </a:r>
          </a:p>
          <a:p>
            <a:pPr marL="0" indent="0">
              <a:buNone/>
            </a:pPr>
            <a:endParaRPr lang="en-US" sz="2000" dirty="0" smtClean="0"/>
          </a:p>
          <a:p>
            <a:pPr marL="0" indent="0">
              <a:buNone/>
            </a:pPr>
            <a:endParaRPr lang="en-US" sz="20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413944" y="4648200"/>
            <a:ext cx="1942140" cy="1697431"/>
          </a:xfrm>
          <a:prstGeom prst="rect">
            <a:avLst/>
          </a:prstGeom>
        </p:spPr>
      </p:pic>
    </p:spTree>
    <p:extLst>
      <p:ext uri="{BB962C8B-B14F-4D97-AF65-F5344CB8AC3E}">
        <p14:creationId xmlns="" xmlns:p14="http://schemas.microsoft.com/office/powerpoint/2010/main" val="394832827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14350" indent="-514350">
              <a:buAutoNum type="arabicPeriod" startAt="3"/>
            </a:pPr>
            <a:r>
              <a:rPr lang="en-US" sz="2000" dirty="0" smtClean="0"/>
              <a:t>CURSOR IS STORED IN DATA BASE LIKE DATABASE OBJECT?</a:t>
            </a:r>
          </a:p>
          <a:p>
            <a:pPr marL="514350" indent="-514350">
              <a:buAutoNum type="alphaUcParenR"/>
            </a:pPr>
            <a:r>
              <a:rPr lang="en-US" sz="2000" dirty="0" smtClean="0"/>
              <a:t>TRUE</a:t>
            </a:r>
          </a:p>
          <a:p>
            <a:pPr marL="514350" indent="-514350">
              <a:buAutoNum type="alphaUcParenR"/>
            </a:pPr>
            <a:r>
              <a:rPr lang="en-US" sz="2000" dirty="0" smtClean="0"/>
              <a:t>FALSE</a:t>
            </a:r>
          </a:p>
          <a:p>
            <a:pPr marL="0" indent="0">
              <a:buNone/>
            </a:pPr>
            <a:endParaRPr lang="en-US" sz="2000" dirty="0"/>
          </a:p>
          <a:p>
            <a:pPr marL="457200" indent="-457200">
              <a:buAutoNum type="arabicPeriod" startAt="4"/>
            </a:pPr>
            <a:r>
              <a:rPr lang="en-IN" sz="2000" dirty="0" smtClean="0">
                <a:solidFill>
                  <a:srgbClr val="000000"/>
                </a:solidFill>
                <a:latin typeface="Times New Roman" pitchFamily="18" charset="0"/>
                <a:cs typeface="Times New Roman" pitchFamily="18" charset="0"/>
              </a:rPr>
              <a:t>RECORD ISN’T A COMBINATION OF MULTIPLE SCALAR DATA TYPES?</a:t>
            </a:r>
          </a:p>
          <a:p>
            <a:pPr marL="457200" indent="-457200">
              <a:buAutoNum type="alphaUcParenR"/>
            </a:pPr>
            <a:r>
              <a:rPr lang="en-IN" sz="2000" dirty="0" smtClean="0">
                <a:solidFill>
                  <a:srgbClr val="000000"/>
                </a:solidFill>
                <a:latin typeface="Times New Roman" pitchFamily="18" charset="0"/>
                <a:cs typeface="Times New Roman" pitchFamily="18" charset="0"/>
              </a:rPr>
              <a:t>TRUE</a:t>
            </a:r>
          </a:p>
          <a:p>
            <a:pPr marL="457200" indent="-457200">
              <a:buAutoNum type="alphaUcParenR"/>
            </a:pPr>
            <a:r>
              <a:rPr lang="en-IN" sz="2000" dirty="0" smtClean="0">
                <a:solidFill>
                  <a:srgbClr val="000000"/>
                </a:solidFill>
                <a:latin typeface="Times New Roman" pitchFamily="18" charset="0"/>
                <a:cs typeface="Times New Roman" pitchFamily="18" charset="0"/>
              </a:rPr>
              <a:t>FALSE</a:t>
            </a:r>
          </a:p>
          <a:p>
            <a:pPr marL="0" indent="0">
              <a:buNone/>
            </a:pPr>
            <a:endParaRPr lang="en-IN" sz="2000" dirty="0" smtClean="0">
              <a:solidFill>
                <a:srgbClr val="000000"/>
              </a:solidFill>
              <a:latin typeface="Times New Roman" pitchFamily="18" charset="0"/>
              <a:cs typeface="Times New Roman" pitchFamily="18" charset="0"/>
            </a:endParaRPr>
          </a:p>
        </p:txBody>
      </p:sp>
    </p:spTree>
    <p:extLst>
      <p:ext uri="{BB962C8B-B14F-4D97-AF65-F5344CB8AC3E}">
        <p14:creationId xmlns="" xmlns:p14="http://schemas.microsoft.com/office/powerpoint/2010/main" val="62113661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91000" y="2209800"/>
            <a:ext cx="3505200" cy="1524000"/>
          </a:xfrm>
        </p:spPr>
        <p:txBody>
          <a:bodyPr/>
          <a:lstStyle/>
          <a:p>
            <a:r>
              <a:rPr lang="en-US" dirty="0" smtClean="0"/>
              <a:t>procedure</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WHAT IS PROCEDURE?</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Autofit/>
          </a:bodyPr>
          <a:lstStyle/>
          <a:p>
            <a:r>
              <a:rPr lang="en-IN" sz="2800" dirty="0" smtClean="0">
                <a:latin typeface="Times New Roman" pitchFamily="18" charset="0"/>
                <a:cs typeface="Times New Roman" pitchFamily="18" charset="0"/>
              </a:rPr>
              <a:t> Procedure is named plsql block</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It has declaration block ,execution block and exception block</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 Procedure can be compiled and stored as schema object</a:t>
            </a:r>
          </a:p>
          <a:p>
            <a:endParaRPr lang="en-IN" sz="28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images (2).jpg"/>
          <p:cNvPicPr>
            <a:picLocks noChangeAspect="1"/>
          </p:cNvPicPr>
          <p:nvPr/>
        </p:nvPicPr>
        <p:blipFill>
          <a:blip r:embed="rId3" cstate="print"/>
          <a:stretch>
            <a:fillRect/>
          </a:stretch>
        </p:blipFill>
        <p:spPr>
          <a:xfrm>
            <a:off x="5486400" y="4876800"/>
            <a:ext cx="1695450" cy="169545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800" dirty="0" smtClean="0">
                <a:latin typeface="Times New Roman" pitchFamily="18" charset="0"/>
                <a:cs typeface="Times New Roman" pitchFamily="18" charset="0"/>
              </a:rPr>
              <a:t> Procedure promote reuseability and maintability</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 Using CREATE OR REPLACE command we can replace the procedure that already exists in the database with the same name</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Procedure may or may not have return value</a:t>
            </a:r>
          </a:p>
          <a:p>
            <a:endParaRPr lang="en-IN" sz="28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latin typeface="Times New Roman" pitchFamily="18" charset="0"/>
                <a:cs typeface="Times New Roman" pitchFamily="18" charset="0"/>
              </a:rPr>
              <a:t>CREATING PROCEDURE:</a:t>
            </a:r>
            <a:endParaRPr lang="en-IN" dirty="0">
              <a:latin typeface="Times New Roman" pitchFamily="18" charset="0"/>
              <a:cs typeface="Times New Roman" pitchFamily="18" charset="0"/>
            </a:endParaRPr>
          </a:p>
        </p:txBody>
      </p:sp>
      <p:pic>
        <p:nvPicPr>
          <p:cNvPr id="4" name="Content Placeholder 3" descr="Procedure with cursor.PNG"/>
          <p:cNvPicPr>
            <a:picLocks noGrp="1" noChangeAspect="1"/>
          </p:cNvPicPr>
          <p:nvPr>
            <p:ph idx="1"/>
          </p:nvPr>
        </p:nvPicPr>
        <p:blipFill>
          <a:blip r:embed="rId3" cstate="print"/>
          <a:stretch>
            <a:fillRect/>
          </a:stretch>
        </p:blipFill>
        <p:spPr>
          <a:xfrm>
            <a:off x="762000" y="1981200"/>
            <a:ext cx="6553697" cy="3994622"/>
          </a:xfrm>
        </p:spPr>
      </p:pic>
      <p:pic>
        <p:nvPicPr>
          <p:cNvPr id="3"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EXECUTING PROCEDURE:</a:t>
            </a:r>
            <a:endParaRPr lang="en-IN" dirty="0">
              <a:latin typeface="Times New Roman" pitchFamily="18" charset="0"/>
              <a:cs typeface="Times New Roman" pitchFamily="18" charset="0"/>
            </a:endParaRPr>
          </a:p>
        </p:txBody>
      </p:sp>
      <p:pic>
        <p:nvPicPr>
          <p:cNvPr id="4" name="Content Placeholder 3" descr="Capture2.PNG"/>
          <p:cNvPicPr>
            <a:picLocks noGrp="1" noChangeAspect="1"/>
          </p:cNvPicPr>
          <p:nvPr>
            <p:ph idx="1"/>
          </p:nvPr>
        </p:nvPicPr>
        <p:blipFill>
          <a:blip r:embed="rId2" cstate="print"/>
          <a:stretch>
            <a:fillRect/>
          </a:stretch>
        </p:blipFill>
        <p:spPr>
          <a:xfrm>
            <a:off x="1143000" y="1806533"/>
            <a:ext cx="4477638" cy="4240295"/>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2" name="Picture 1"/>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205046" y="2895600"/>
            <a:ext cx="2338754" cy="2062162"/>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65065"/>
            <a:ext cx="8258204" cy="4149935"/>
          </a:xfrm>
        </p:spPr>
        <p:txBody>
          <a:bodyPr>
            <a:normAutofit/>
          </a:bodyPr>
          <a:lstStyle/>
          <a:p>
            <a:pPr>
              <a:buNone/>
            </a:pPr>
            <a:r>
              <a:rPr lang="en-IN" sz="2400" dirty="0" smtClean="0">
                <a:latin typeface="Times New Roman" pitchFamily="18" charset="0"/>
                <a:cs typeface="Times New Roman" pitchFamily="18" charset="0"/>
              </a:rPr>
              <a:t> SELECT text FROM user_source WHERE</a:t>
            </a:r>
          </a:p>
          <a:p>
            <a:pPr>
              <a:buNone/>
            </a:pPr>
            <a:r>
              <a:rPr lang="en-IN" sz="2400" dirty="0" smtClean="0">
                <a:latin typeface="Times New Roman" pitchFamily="18" charset="0"/>
                <a:cs typeface="Times New Roman" pitchFamily="18" charset="0"/>
              </a:rPr>
              <a:t> name =‘&lt;</a:t>
            </a:r>
            <a:r>
              <a:rPr lang="en-IN" sz="2400" dirty="0" err="1" smtClean="0">
                <a:latin typeface="Times New Roman" pitchFamily="18" charset="0"/>
                <a:cs typeface="Times New Roman" pitchFamily="18" charset="0"/>
              </a:rPr>
              <a:t>procedure_name</a:t>
            </a:r>
            <a:r>
              <a:rPr lang="en-IN" sz="2400" smtClean="0">
                <a:latin typeface="Times New Roman" pitchFamily="18" charset="0"/>
                <a:cs typeface="Times New Roman" pitchFamily="18" charset="0"/>
              </a:rPr>
              <a:t>&gt;’;</a:t>
            </a:r>
            <a:endParaRPr lang="en-IN"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ALTER PROCEDURE &lt;procedure_name&gt; COMPILE;</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DROP PROCEDURE &lt;procedure_name&gt;;</a:t>
            </a: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91000" y="2209800"/>
            <a:ext cx="3505200" cy="1524000"/>
          </a:xfrm>
        </p:spPr>
        <p:txBody>
          <a:bodyPr/>
          <a:lstStyle/>
          <a:p>
            <a:r>
              <a:rPr lang="en-US" dirty="0" smtClean="0"/>
              <a:t>function</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571472" y="214290"/>
            <a:ext cx="8229600" cy="1143000"/>
          </a:xfrm>
        </p:spPr>
        <p:txBody>
          <a:bodyPr/>
          <a:lstStyle/>
          <a:p>
            <a:r>
              <a:rPr lang="en-US" sz="3600" dirty="0" smtClean="0">
                <a:latin typeface="Times New Roman" pitchFamily="18" charset="0"/>
                <a:cs typeface="Times New Roman" pitchFamily="18" charset="0"/>
              </a:rPr>
              <a:t>WHAT IS FUNCTION?</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800" dirty="0" smtClean="0">
                <a:latin typeface="Times New Roman" pitchFamily="18" charset="0"/>
                <a:cs typeface="Times New Roman" pitchFamily="18" charset="0"/>
              </a:rPr>
              <a:t>Function is named plsql block </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Function must return a value to the calling environment</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Function can be stored in the database as a schema object for repeated execution</a:t>
            </a:r>
          </a:p>
          <a:p>
            <a:endParaRPr lang="en-IN" sz="2800" dirty="0" smtClean="0">
              <a:latin typeface="Times New Roman" pitchFamily="18" charset="0"/>
              <a:cs typeface="Times New Roman" pitchFamily="18" charset="0"/>
            </a:endParaRPr>
          </a:p>
          <a:p>
            <a:endParaRPr lang="en-IN" sz="2800" dirty="0">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800" dirty="0" smtClean="0">
                <a:latin typeface="Times New Roman" pitchFamily="18" charset="0"/>
                <a:cs typeface="Times New Roman" pitchFamily="18" charset="0"/>
              </a:rPr>
              <a:t>Function must have return clause in the header</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Functions promotes reuseability and maintainability</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Function can call through select statement</a:t>
            </a:r>
            <a:endParaRPr lang="en-IN" sz="28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unction1.PNG"/>
          <p:cNvPicPr>
            <a:picLocks noGrp="1" noChangeAspect="1"/>
          </p:cNvPicPr>
          <p:nvPr>
            <p:ph idx="1"/>
          </p:nvPr>
        </p:nvPicPr>
        <p:blipFill>
          <a:blip r:embed="rId2" cstate="print"/>
          <a:stretch>
            <a:fillRect/>
          </a:stretch>
        </p:blipFill>
        <p:spPr>
          <a:xfrm>
            <a:off x="533400" y="1295400"/>
            <a:ext cx="6248400" cy="3203883"/>
          </a:xfrm>
        </p:spPr>
      </p:pic>
      <p:pic>
        <p:nvPicPr>
          <p:cNvPr id="5" name="Picture 4" descr="function2.PNG"/>
          <p:cNvPicPr>
            <a:picLocks noChangeAspect="1"/>
          </p:cNvPicPr>
          <p:nvPr/>
        </p:nvPicPr>
        <p:blipFill>
          <a:blip r:embed="rId3" cstate="print"/>
          <a:stretch>
            <a:fillRect/>
          </a:stretch>
        </p:blipFill>
        <p:spPr>
          <a:xfrm>
            <a:off x="533400" y="4419600"/>
            <a:ext cx="2667000" cy="1206500"/>
          </a:xfrm>
          <a:prstGeom prst="rect">
            <a:avLst/>
          </a:prstGeom>
        </p:spPr>
      </p:pic>
      <p:pic>
        <p:nvPicPr>
          <p:cNvPr id="6"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91000" y="2209800"/>
            <a:ext cx="3505200" cy="1524000"/>
          </a:xfrm>
        </p:spPr>
        <p:txBody>
          <a:bodyPr/>
          <a:lstStyle/>
          <a:p>
            <a:r>
              <a:rPr lang="en-US" dirty="0" smtClean="0"/>
              <a:t>package</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normAutofit/>
          </a:bodyPr>
          <a:lstStyle/>
          <a:p>
            <a:r>
              <a:rPr lang="en-US" sz="3600" dirty="0" smtClean="0">
                <a:latin typeface="Times New Roman" pitchFamily="18" charset="0"/>
                <a:cs typeface="Times New Roman" pitchFamily="18" charset="0"/>
              </a:rPr>
              <a:t>WHAT IS PACKAGE?</a:t>
            </a:r>
            <a:endParaRPr lang="en-IN" sz="3600" dirty="0">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r>
              <a:rPr lang="en-IN" sz="2800" dirty="0" smtClean="0">
                <a:latin typeface="Times New Roman" pitchFamily="18" charset="0"/>
                <a:cs typeface="Times New Roman" pitchFamily="18" charset="0"/>
              </a:rPr>
              <a:t>A package is PL/SQL construct that allows related objects to be stored together .</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 A package is a container for related objects.</a:t>
            </a:r>
          </a:p>
          <a:p>
            <a:endParaRPr lang="en-IN" sz="2800" dirty="0" smtClean="0">
              <a:latin typeface="Times New Roman" pitchFamily="18" charset="0"/>
              <a:cs typeface="Times New Roman" pitchFamily="18" charset="0"/>
            </a:endParaRPr>
          </a:p>
          <a:p>
            <a:r>
              <a:rPr lang="en-IN" sz="2800" dirty="0" smtClean="0">
                <a:latin typeface="Times New Roman" pitchFamily="18" charset="0"/>
                <a:cs typeface="Times New Roman" pitchFamily="18" charset="0"/>
              </a:rPr>
              <a:t>Package is a method to handle all the required functions and procedures .</a:t>
            </a:r>
            <a:endParaRPr lang="en-IN" sz="2800" dirty="0">
              <a:latin typeface="Times New Roman" pitchFamily="18" charset="0"/>
              <a:cs typeface="Times New Roman" pitchFamily="18" charset="0"/>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download (1).jpg"/>
          <p:cNvPicPr>
            <a:picLocks noChangeAspect="1"/>
          </p:cNvPicPr>
          <p:nvPr/>
        </p:nvPicPr>
        <p:blipFill>
          <a:blip r:embed="rId3" cstate="print"/>
          <a:stretch>
            <a:fillRect/>
          </a:stretch>
        </p:blipFill>
        <p:spPr>
          <a:xfrm>
            <a:off x="4876800" y="4645447"/>
            <a:ext cx="2228850" cy="1800911"/>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latin typeface="Times New Roman" pitchFamily="18" charset="0"/>
                <a:cs typeface="Times New Roman" pitchFamily="18" charset="0"/>
              </a:rPr>
              <a:t>IMAGINARY DIAGRAM:</a:t>
            </a:r>
            <a:endParaRPr lang="en-IN" dirty="0">
              <a:latin typeface="Times New Roman" pitchFamily="18" charset="0"/>
              <a:cs typeface="Times New Roman" pitchFamily="18" charset="0"/>
            </a:endParaRPr>
          </a:p>
        </p:txBody>
      </p:sp>
      <p:pic>
        <p:nvPicPr>
          <p:cNvPr id="4" name="Content Placeholder 3" descr="package.PNG"/>
          <p:cNvPicPr>
            <a:picLocks noGrp="1" noChangeAspect="1"/>
          </p:cNvPicPr>
          <p:nvPr>
            <p:ph idx="1"/>
          </p:nvPr>
        </p:nvPicPr>
        <p:blipFill>
          <a:blip r:embed="rId2" cstate="print"/>
          <a:stretch>
            <a:fillRect/>
          </a:stretch>
        </p:blipFill>
        <p:spPr>
          <a:xfrm>
            <a:off x="457200" y="2639465"/>
            <a:ext cx="7239000" cy="2787158"/>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905000"/>
            <a:ext cx="7848600" cy="3643330"/>
          </a:xfrm>
        </p:spPr>
        <p:txBody>
          <a:bodyPr>
            <a:normAutofit/>
          </a:bodyPr>
          <a:lstStyle/>
          <a:p>
            <a:pPr>
              <a:buNone/>
            </a:pPr>
            <a:r>
              <a:rPr lang="en-IN" sz="2400" dirty="0" smtClean="0">
                <a:latin typeface="Times New Roman" pitchFamily="18" charset="0"/>
                <a:cs typeface="Times New Roman" pitchFamily="18" charset="0"/>
              </a:rPr>
              <a:t>A well designed package is a logical grouping of objects such as</a:t>
            </a:r>
          </a:p>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Functions</a:t>
            </a:r>
          </a:p>
          <a:p>
            <a:r>
              <a:rPr lang="en-IN" sz="2400" dirty="0" smtClean="0">
                <a:latin typeface="Times New Roman" pitchFamily="18" charset="0"/>
                <a:cs typeface="Times New Roman" pitchFamily="18" charset="0"/>
              </a:rPr>
              <a:t>Procedures</a:t>
            </a:r>
          </a:p>
          <a:p>
            <a:r>
              <a:rPr lang="en-IN" sz="2400" dirty="0" smtClean="0">
                <a:latin typeface="Times New Roman" pitchFamily="18" charset="0"/>
                <a:cs typeface="Times New Roman" pitchFamily="18" charset="0"/>
              </a:rPr>
              <a:t>Global Variables</a:t>
            </a:r>
          </a:p>
          <a:p>
            <a:r>
              <a:rPr lang="en-IN" sz="2400" dirty="0" smtClean="0">
                <a:latin typeface="Times New Roman" pitchFamily="18" charset="0"/>
                <a:cs typeface="Times New Roman" pitchFamily="18" charset="0"/>
              </a:rPr>
              <a:t>Cursors.</a:t>
            </a:r>
            <a:endParaRPr lang="en-IN" sz="2400" dirty="0">
              <a:latin typeface="Times New Roman" pitchFamily="18" charset="0"/>
              <a:cs typeface="Times New Roman" pitchFamily="18" charset="0"/>
            </a:endParaRPr>
          </a:p>
        </p:txBody>
      </p:sp>
      <p:pic>
        <p:nvPicPr>
          <p:cNvPr id="3"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ackage1.PNG"/>
          <p:cNvPicPr>
            <a:picLocks noGrp="1" noChangeAspect="1"/>
          </p:cNvPicPr>
          <p:nvPr>
            <p:ph idx="1"/>
          </p:nvPr>
        </p:nvPicPr>
        <p:blipFill>
          <a:blip r:embed="rId2" cstate="print"/>
          <a:stretch>
            <a:fillRect/>
          </a:stretch>
        </p:blipFill>
        <p:spPr>
          <a:xfrm>
            <a:off x="838200" y="1219200"/>
            <a:ext cx="6430273" cy="4677428"/>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latin typeface="Times New Roman" pitchFamily="18" charset="0"/>
                <a:cs typeface="Times New Roman" pitchFamily="18" charset="0"/>
              </a:rPr>
              <a:t>PACKAGE PARTS:</a:t>
            </a:r>
            <a:endParaRPr lang="en-IN" dirty="0">
              <a:latin typeface="Times New Roman" pitchFamily="18" charset="0"/>
              <a:cs typeface="Times New Roman" pitchFamily="18" charset="0"/>
            </a:endParaRPr>
          </a:p>
        </p:txBody>
      </p:sp>
      <p:pic>
        <p:nvPicPr>
          <p:cNvPr id="4" name="Content Placeholder 3" descr="pk specification1.PNG"/>
          <p:cNvPicPr>
            <a:picLocks noGrp="1" noChangeAspect="1"/>
          </p:cNvPicPr>
          <p:nvPr>
            <p:ph idx="1"/>
          </p:nvPr>
        </p:nvPicPr>
        <p:blipFill>
          <a:blip r:embed="rId2" cstate="print"/>
          <a:stretch>
            <a:fillRect/>
          </a:stretch>
        </p:blipFill>
        <p:spPr>
          <a:xfrm>
            <a:off x="628168" y="2199225"/>
            <a:ext cx="6897063" cy="3667637"/>
          </a:xfrm>
        </p:spPr>
      </p:pic>
      <p:pic>
        <p:nvPicPr>
          <p:cNvPr id="3"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
        <p:nvSpPr>
          <p:cNvPr id="7" name="Content Placeholder 2"/>
          <p:cNvSpPr txBox="1">
            <a:spLocks/>
          </p:cNvSpPr>
          <p:nvPr/>
        </p:nvSpPr>
        <p:spPr>
          <a:xfrm>
            <a:off x="457200" y="1609416"/>
            <a:ext cx="7239000" cy="4846320"/>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514350" indent="-514350">
              <a:buFont typeface="Wingdings 2"/>
              <a:buAutoNum type="arabicPeriod"/>
            </a:pPr>
            <a:endParaRPr lang="en-US" sz="2000" dirty="0" smtClean="0">
              <a:hlinkClick r:id="rId4" action="ppaction://hlinkfile"/>
            </a:endParaRPr>
          </a:p>
          <a:p>
            <a:pPr marL="514350" indent="-514350">
              <a:buFont typeface="Wingdings 2"/>
              <a:buAutoNum type="arabicPeriod"/>
            </a:pPr>
            <a:endParaRPr lang="en-US" sz="2000" dirty="0">
              <a:hlinkClick r:id="rId4" action="ppaction://hlinkfile"/>
            </a:endParaRPr>
          </a:p>
          <a:p>
            <a:pPr marL="514350" indent="-514350">
              <a:buFont typeface="Wingdings 2"/>
              <a:buAutoNum type="arabicPeriod"/>
            </a:pPr>
            <a:endParaRPr lang="en-US" sz="2000" dirty="0" smtClean="0">
              <a:hlinkClick r:id="rId4" action="ppaction://hlinkfile"/>
            </a:endParaRPr>
          </a:p>
          <a:p>
            <a:pPr marL="514350" indent="-514350">
              <a:buFont typeface="Wingdings 2"/>
              <a:buAutoNum type="arabicPeriod"/>
            </a:pPr>
            <a:endParaRPr lang="en-US" sz="2000" dirty="0">
              <a:hlinkClick r:id="rId4" action="ppaction://hlinkfile"/>
            </a:endParaRPr>
          </a:p>
          <a:p>
            <a:pPr marL="514350" indent="-514350">
              <a:buFont typeface="Wingdings 2"/>
              <a:buAutoNum type="arabicPeriod"/>
            </a:pPr>
            <a:endParaRPr lang="en-US" sz="2000" dirty="0" smtClean="0">
              <a:hlinkClick r:id="rId4" action="ppaction://hlinkfile"/>
            </a:endParaRPr>
          </a:p>
          <a:p>
            <a:pPr marL="514350" indent="-514350">
              <a:buFont typeface="Wingdings 2"/>
              <a:buAutoNum type="arabicPeriod"/>
            </a:pPr>
            <a:endParaRPr lang="en-US" sz="2000" dirty="0">
              <a:hlinkClick r:id="rId4" action="ppaction://hlinkfile"/>
            </a:endParaRPr>
          </a:p>
          <a:p>
            <a:pPr marL="514350" indent="-514350">
              <a:buFont typeface="Wingdings 2"/>
              <a:buAutoNum type="arabicPeriod"/>
            </a:pPr>
            <a:endParaRPr lang="en-US" sz="2000" dirty="0" smtClean="0">
              <a:hlinkClick r:id="rId4" action="ppaction://hlinkfile"/>
            </a:endParaRPr>
          </a:p>
          <a:p>
            <a:pPr marL="514350" indent="-514350">
              <a:buFont typeface="Wingdings 2"/>
              <a:buAutoNum type="arabicPeriod"/>
            </a:pPr>
            <a:endParaRPr lang="en-US" sz="2000" dirty="0">
              <a:hlinkClick r:id="rId4" action="ppaction://hlinkfile"/>
            </a:endParaRPr>
          </a:p>
          <a:p>
            <a:pPr marL="514350" indent="-514350">
              <a:buFont typeface="Wingdings 2"/>
              <a:buAutoNum type="arabicPeriod"/>
            </a:pPr>
            <a:endParaRPr lang="en-US" sz="2000" dirty="0" smtClean="0">
              <a:hlinkClick r:id="rId4" action="ppaction://hlinkfile"/>
            </a:endParaRPr>
          </a:p>
          <a:p>
            <a:pPr marL="514350" indent="-514350">
              <a:buFont typeface="Wingdings 2"/>
              <a:buAutoNum type="arabicPeriod"/>
            </a:pPr>
            <a:endParaRPr lang="en-US" sz="2000" dirty="0">
              <a:hlinkClick r:id="rId4" action="ppaction://hlinkfile"/>
            </a:endParaRPr>
          </a:p>
          <a:p>
            <a:pPr marL="514350" indent="-514350">
              <a:buFont typeface="Wingdings 2"/>
              <a:buAutoNum type="arabicPeriod"/>
            </a:pPr>
            <a:endParaRPr lang="en-US" sz="2000" dirty="0" smtClean="0">
              <a:hlinkClick r:id="rId4" action="ppaction://hlinkfile"/>
            </a:endParaRPr>
          </a:p>
          <a:p>
            <a:pPr marL="0" indent="0">
              <a:buNone/>
            </a:pPr>
            <a:r>
              <a:rPr lang="en-US" sz="2000" dirty="0" smtClean="0">
                <a:hlinkClick r:id="rId4" action="ppaction://hlinkfile"/>
              </a:rPr>
              <a:t>EXAMPLES\package body.txt</a:t>
            </a: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smtClean="0">
                <a:latin typeface="Times New Roman" pitchFamily="18" charset="0"/>
                <a:cs typeface="Times New Roman" pitchFamily="18" charset="0"/>
              </a:rPr>
              <a:t>PACKAGE BODY:</a:t>
            </a:r>
            <a:endParaRPr lang="en-IN" dirty="0">
              <a:latin typeface="Times New Roman" pitchFamily="18" charset="0"/>
              <a:cs typeface="Times New Roman" pitchFamily="18" charset="0"/>
            </a:endParaRPr>
          </a:p>
        </p:txBody>
      </p:sp>
      <p:pic>
        <p:nvPicPr>
          <p:cNvPr id="4" name="Content Placeholder 3" descr="pk body.PNG">
            <a:hlinkClick r:id="rId2" action="ppaction://hlinkfile"/>
          </p:cNvPr>
          <p:cNvPicPr>
            <a:picLocks noGrp="1" noChangeAspect="1"/>
          </p:cNvPicPr>
          <p:nvPr>
            <p:ph idx="1"/>
          </p:nvPr>
        </p:nvPicPr>
        <p:blipFill>
          <a:blip r:embed="rId3" cstate="print"/>
          <a:stretch>
            <a:fillRect/>
          </a:stretch>
        </p:blipFill>
        <p:spPr>
          <a:xfrm>
            <a:off x="1066800" y="1843384"/>
            <a:ext cx="5707731" cy="4169303"/>
          </a:xfrm>
        </p:spPr>
      </p:pic>
      <p:pic>
        <p:nvPicPr>
          <p:cNvPr id="3" name="Content Placeholder 10" descr="image001.png"/>
          <p:cNvPicPr>
            <a:picLocks noChangeAspect="1"/>
          </p:cNvPicPr>
          <p:nvPr/>
        </p:nvPicPr>
        <p:blipFill>
          <a:blip r:embed="rId4"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
        <p:nvSpPr>
          <p:cNvPr id="7" name="Content Placeholder 2"/>
          <p:cNvSpPr txBox="1">
            <a:spLocks/>
          </p:cNvSpPr>
          <p:nvPr/>
        </p:nvSpPr>
        <p:spPr>
          <a:xfrm>
            <a:off x="457200" y="1609416"/>
            <a:ext cx="7239000" cy="4846320"/>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514350" indent="-514350">
              <a:buFont typeface="Wingdings 2"/>
              <a:buAutoNum type="arabicPeriod"/>
            </a:pPr>
            <a:endParaRPr lang="en-US" sz="2000" dirty="0" smtClean="0"/>
          </a:p>
        </p:txBody>
      </p:sp>
      <p:sp>
        <p:nvSpPr>
          <p:cNvPr id="8" name="Content Placeholder 2"/>
          <p:cNvSpPr txBox="1">
            <a:spLocks/>
          </p:cNvSpPr>
          <p:nvPr/>
        </p:nvSpPr>
        <p:spPr>
          <a:xfrm>
            <a:off x="609600" y="1761816"/>
            <a:ext cx="7239000" cy="4846320"/>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514350" indent="-514350">
              <a:buFont typeface="Wingdings 2"/>
              <a:buAutoNum type="arabicPeriod"/>
            </a:pPr>
            <a:endParaRPr lang="en-US" sz="2000" dirty="0"/>
          </a:p>
          <a:p>
            <a:pPr marL="514350" indent="-514350">
              <a:buFont typeface="Wingdings 2"/>
              <a:buAutoNum type="arabicPeriod"/>
            </a:pPr>
            <a:endParaRPr lang="en-US" sz="2000" dirty="0" smtClean="0"/>
          </a:p>
          <a:p>
            <a:pPr marL="0" indent="0">
              <a:buNone/>
            </a:pPr>
            <a:r>
              <a:rPr lang="en-US" sz="2000" dirty="0" smtClean="0">
                <a:hlinkClick r:id="rId5" action="ppaction://hlinkfile"/>
              </a:rPr>
              <a:t>EXAMPLES\package specification.txt</a:t>
            </a:r>
            <a:endParaRPr lang="en-US" sz="2000" dirty="0" smtClean="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rgbClr val="FF0000"/>
                </a:solidFill>
              </a:rPr>
              <a:t>QUESTIONS:</a:t>
            </a:r>
            <a:endParaRPr lang="en-US" dirty="0">
              <a:solidFill>
                <a:srgbClr val="FF0000"/>
              </a:solidFill>
            </a:endParaRPr>
          </a:p>
        </p:txBody>
      </p:sp>
      <p:sp>
        <p:nvSpPr>
          <p:cNvPr id="3" name="Content Placeholder 2"/>
          <p:cNvSpPr>
            <a:spLocks noGrp="1"/>
          </p:cNvSpPr>
          <p:nvPr>
            <p:ph idx="1"/>
          </p:nvPr>
        </p:nvSpPr>
        <p:spPr/>
        <p:txBody>
          <a:bodyPr>
            <a:normAutofit/>
          </a:bodyPr>
          <a:lstStyle/>
          <a:p>
            <a:pPr marL="514350" indent="-514350">
              <a:buAutoNum type="arabicPeriod"/>
            </a:pPr>
            <a:r>
              <a:rPr lang="en-US" sz="2000" dirty="0" smtClean="0"/>
              <a:t>IN WHICH OF THE FOLLOWING WE CAN USE RETURN ?</a:t>
            </a:r>
          </a:p>
          <a:p>
            <a:pPr marL="514350" indent="-514350">
              <a:buAutoNum type="alphaUcParenR"/>
            </a:pPr>
            <a:r>
              <a:rPr lang="en-US" sz="2000" dirty="0" smtClean="0"/>
              <a:t>PROCEDURE</a:t>
            </a:r>
          </a:p>
          <a:p>
            <a:pPr marL="514350" indent="-514350">
              <a:buAutoNum type="alphaUcParenR"/>
            </a:pPr>
            <a:r>
              <a:rPr lang="en-US" sz="2000" dirty="0" smtClean="0"/>
              <a:t>FUNCTION</a:t>
            </a:r>
          </a:p>
          <a:p>
            <a:pPr marL="514350" indent="-514350">
              <a:buAutoNum type="alphaUcParenR"/>
            </a:pPr>
            <a:r>
              <a:rPr lang="en-US" sz="2000" dirty="0" smtClean="0"/>
              <a:t>BOTH A &amp; B</a:t>
            </a:r>
          </a:p>
          <a:p>
            <a:pPr marL="514350" indent="-514350">
              <a:buAutoNum type="alphaUcParenR"/>
            </a:pPr>
            <a:endParaRPr lang="en-US" sz="2000" dirty="0"/>
          </a:p>
          <a:p>
            <a:pPr marL="514350" indent="-514350">
              <a:buAutoNum type="arabicPeriod" startAt="2"/>
            </a:pPr>
            <a:r>
              <a:rPr lang="en-US" sz="2000" dirty="0" smtClean="0"/>
              <a:t>WHICH ACTION WILL PERFORMED BY FUNCTION?</a:t>
            </a:r>
          </a:p>
          <a:p>
            <a:pPr marL="514350" indent="-514350">
              <a:buAutoNum type="alphaUcParenR"/>
            </a:pPr>
            <a:r>
              <a:rPr lang="en-US" sz="2000" dirty="0" smtClean="0"/>
              <a:t>SPECIFIC ACTION</a:t>
            </a:r>
          </a:p>
          <a:p>
            <a:pPr marL="514350" indent="-514350">
              <a:buAutoNum type="alphaUcParenR"/>
            </a:pPr>
            <a:r>
              <a:rPr lang="en-US" sz="2000" dirty="0" smtClean="0"/>
              <a:t>MULTIPLE ACTIONS</a:t>
            </a:r>
            <a:endParaRPr lang="en-US" sz="20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321348" y="4572000"/>
            <a:ext cx="1780492" cy="2097024"/>
          </a:xfrm>
          <a:prstGeom prst="rect">
            <a:avLst/>
          </a:prstGeom>
        </p:spPr>
      </p:pic>
    </p:spTree>
    <p:extLst>
      <p:ext uri="{BB962C8B-B14F-4D97-AF65-F5344CB8AC3E}">
        <p14:creationId xmlns="" xmlns:p14="http://schemas.microsoft.com/office/powerpoint/2010/main" val="74726781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AutoNum type="arabicPeriod" startAt="3"/>
            </a:pPr>
            <a:r>
              <a:rPr lang="en-US" dirty="0" smtClean="0"/>
              <a:t>PROCEDURE CAN CALL BY SELECT STATEMENT?</a:t>
            </a:r>
          </a:p>
          <a:p>
            <a:pPr marL="514350" indent="-514350">
              <a:buAutoNum type="alphaUcParenR"/>
            </a:pPr>
            <a:r>
              <a:rPr lang="en-US" dirty="0" smtClean="0"/>
              <a:t>TRUE</a:t>
            </a:r>
          </a:p>
          <a:p>
            <a:pPr marL="514350" indent="-514350">
              <a:buAutoNum type="alphaUcParenR"/>
            </a:pPr>
            <a:r>
              <a:rPr lang="en-US" dirty="0" smtClean="0"/>
              <a:t>FALSE</a:t>
            </a:r>
          </a:p>
          <a:p>
            <a:pPr marL="514350" indent="-514350">
              <a:buAutoNum type="alphaUcParenR"/>
            </a:pPr>
            <a:endParaRPr lang="en-US" dirty="0"/>
          </a:p>
          <a:p>
            <a:pPr marL="514350" indent="-514350">
              <a:buAutoNum type="arabicPeriod" startAt="4"/>
            </a:pPr>
            <a:r>
              <a:rPr lang="en-US" dirty="0" smtClean="0"/>
              <a:t>FUNCTION CANNOT STORED IN DATA BASE?</a:t>
            </a:r>
          </a:p>
          <a:p>
            <a:pPr marL="514350" indent="-514350">
              <a:buAutoNum type="alphaUcParenR"/>
            </a:pPr>
            <a:r>
              <a:rPr lang="en-US" dirty="0" smtClean="0"/>
              <a:t>TRUE</a:t>
            </a:r>
          </a:p>
          <a:p>
            <a:pPr marL="514350" indent="-514350">
              <a:buAutoNum type="alphaUcParenR"/>
            </a:pPr>
            <a:r>
              <a:rPr lang="en-US" dirty="0" smtClean="0"/>
              <a:t>FALSE</a:t>
            </a:r>
          </a:p>
          <a:p>
            <a:pPr marL="0" indent="0">
              <a:buNone/>
            </a:pPr>
            <a:endParaRPr lang="en-US"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79449192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algn="l" eaLnBrk="1" hangingPunct="1"/>
            <a:r>
              <a:rPr lang="en-US" b="1" smtClean="0"/>
              <a:t>What is a collection?</a:t>
            </a:r>
            <a:endParaRPr lang="en-US" smtClean="0"/>
          </a:p>
        </p:txBody>
      </p:sp>
      <p:sp>
        <p:nvSpPr>
          <p:cNvPr id="3075" name="Rectangle 3"/>
          <p:cNvSpPr>
            <a:spLocks noGrp="1" noChangeArrowheads="1"/>
          </p:cNvSpPr>
          <p:nvPr>
            <p:ph idx="1"/>
          </p:nvPr>
        </p:nvSpPr>
        <p:spPr>
          <a:xfrm>
            <a:off x="457200" y="1706880"/>
            <a:ext cx="7239000" cy="4846320"/>
          </a:xfrm>
        </p:spPr>
        <p:txBody>
          <a:bodyPr>
            <a:normAutofit/>
          </a:bodyPr>
          <a:lstStyle/>
          <a:p>
            <a:pPr eaLnBrk="1" hangingPunct="1"/>
            <a:r>
              <a:rPr lang="en-US" sz="2400" dirty="0" smtClean="0">
                <a:latin typeface="Times New Roman" pitchFamily="18" charset="0"/>
                <a:cs typeface="Times New Roman" pitchFamily="18" charset="0"/>
              </a:rPr>
              <a:t>A collection is a composite type used to store  </a:t>
            </a:r>
          </a:p>
          <a:p>
            <a:pPr eaLnBrk="1" hangingPunct="1">
              <a:buNone/>
            </a:pPr>
            <a:r>
              <a:rPr lang="en-US" sz="2400" dirty="0" smtClean="0">
                <a:latin typeface="Times New Roman" pitchFamily="18" charset="0"/>
                <a:cs typeface="Times New Roman" pitchFamily="18" charset="0"/>
              </a:rPr>
              <a:t>  group/array of values of same data type.</a:t>
            </a:r>
          </a:p>
          <a:p>
            <a:pPr eaLnBrk="1" hangingPunct="1"/>
            <a:r>
              <a:rPr lang="en-US" sz="2400" dirty="0" smtClean="0">
                <a:latin typeface="Times New Roman" pitchFamily="18" charset="0"/>
                <a:cs typeface="Times New Roman" pitchFamily="18" charset="0"/>
              </a:rPr>
              <a:t>Collections are mainly used to simplify the code.</a:t>
            </a:r>
          </a:p>
          <a:p>
            <a:pPr marL="0" indent="0" eaLnBrk="1" hangingPunct="1">
              <a:buNone/>
            </a:pPr>
            <a:r>
              <a:rPr lang="en-US" sz="2400" dirty="0" smtClean="0">
                <a:latin typeface="Times New Roman" pitchFamily="18" charset="0"/>
                <a:cs typeface="Times New Roman" pitchFamily="18" charset="0"/>
              </a:rPr>
              <a:t>    There are three types of Collections that you can use </a:t>
            </a:r>
          </a:p>
          <a:p>
            <a:pPr marL="0" indent="0" eaLnBrk="1" hangingPunct="1">
              <a:buNone/>
            </a:pPr>
            <a:r>
              <a:rPr lang="en-US" sz="2400" dirty="0" smtClean="0">
                <a:latin typeface="Times New Roman" pitchFamily="18" charset="0"/>
                <a:cs typeface="Times New Roman" pitchFamily="18" charset="0"/>
              </a:rPr>
              <a:t>    in PL/SQL.   </a:t>
            </a:r>
          </a:p>
          <a:p>
            <a:pPr marL="0" indent="0" eaLnBrk="1" hangingPunct="1">
              <a:buNone/>
            </a:pPr>
            <a:endParaRPr lang="en-US" sz="2400" dirty="0" smtClean="0">
              <a:latin typeface="Times New Roman" pitchFamily="18" charset="0"/>
              <a:cs typeface="Times New Roman" pitchFamily="18" charset="0"/>
            </a:endParaRPr>
          </a:p>
          <a:p>
            <a:pPr lvl="1" eaLnBrk="1" hangingPunct="1"/>
            <a:r>
              <a:rPr lang="en-US" sz="2400" dirty="0" smtClean="0">
                <a:latin typeface="Times New Roman" pitchFamily="18" charset="0"/>
                <a:cs typeface="Times New Roman" pitchFamily="18" charset="0"/>
              </a:rPr>
              <a:t>PL/SQL Tables </a:t>
            </a:r>
          </a:p>
          <a:p>
            <a:pPr lvl="1" eaLnBrk="1" hangingPunct="1"/>
            <a:r>
              <a:rPr lang="en-US" sz="2400" dirty="0" smtClean="0">
                <a:latin typeface="Times New Roman" pitchFamily="18" charset="0"/>
                <a:cs typeface="Times New Roman" pitchFamily="18" charset="0"/>
              </a:rPr>
              <a:t>Nested Tables</a:t>
            </a:r>
          </a:p>
          <a:p>
            <a:pPr lvl="1" eaLnBrk="1" hangingPunct="1"/>
            <a:r>
              <a:rPr lang="en-US" sz="2400" dirty="0" smtClean="0">
                <a:latin typeface="Times New Roman" pitchFamily="18" charset="0"/>
                <a:cs typeface="Times New Roman" pitchFamily="18" charset="0"/>
              </a:rPr>
              <a:t>Variable Arrays.</a:t>
            </a:r>
          </a:p>
          <a:p>
            <a:pPr eaLnBrk="1" hangingPunct="1">
              <a:buFontTx/>
              <a:buNone/>
            </a:pPr>
            <a:endParaRPr lang="en-US" sz="2400" dirty="0" smtClean="0">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95020722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mtClean="0"/>
              <a:t>PL/SQL table</a:t>
            </a:r>
          </a:p>
        </p:txBody>
      </p:sp>
      <p:sp>
        <p:nvSpPr>
          <p:cNvPr id="4099" name="Rectangle 3"/>
          <p:cNvSpPr>
            <a:spLocks noGrp="1" noChangeArrowheads="1"/>
          </p:cNvSpPr>
          <p:nvPr>
            <p:ph idx="1"/>
          </p:nvPr>
        </p:nvSpPr>
        <p:spPr/>
        <p:txBody>
          <a:bodyPr>
            <a:normAutofit/>
          </a:bodyPr>
          <a:lstStyle/>
          <a:p>
            <a:pPr eaLnBrk="1" hangingPunct="1"/>
            <a:r>
              <a:rPr lang="en-US" sz="2400" dirty="0" smtClean="0">
                <a:latin typeface="Times New Roman" pitchFamily="18" charset="0"/>
                <a:cs typeface="Times New Roman" pitchFamily="18" charset="0"/>
              </a:rPr>
              <a:t>Collection of elements with the same name and same data type.</a:t>
            </a:r>
          </a:p>
          <a:p>
            <a:pPr eaLnBrk="1" hangingPunct="1"/>
            <a:r>
              <a:rPr lang="en-US" sz="2400" dirty="0" smtClean="0">
                <a:latin typeface="Times New Roman" pitchFamily="18" charset="0"/>
                <a:cs typeface="Times New Roman" pitchFamily="18" charset="0"/>
              </a:rPr>
              <a:t>A PL/SQL table has two columns, one is a PRIMARY KEY called the index, and the other holds the elements</a:t>
            </a:r>
          </a:p>
          <a:p>
            <a:pPr eaLnBrk="1" hangingPunct="1"/>
            <a:r>
              <a:rPr lang="en-US" sz="2400" dirty="0" smtClean="0">
                <a:latin typeface="Times New Roman" pitchFamily="18" charset="0"/>
                <a:cs typeface="Times New Roman" pitchFamily="18" charset="0"/>
              </a:rPr>
              <a:t>The value column may have any data type</a:t>
            </a:r>
          </a:p>
          <a:p>
            <a:pPr eaLnBrk="1" hangingPunct="1"/>
            <a:r>
              <a:rPr lang="en-US" sz="2400" dirty="0" smtClean="0">
                <a:latin typeface="Times New Roman" pitchFamily="18" charset="0"/>
                <a:cs typeface="Times New Roman" pitchFamily="18" charset="0"/>
              </a:rPr>
              <a:t>The key column must be binary_integer</a:t>
            </a:r>
          </a:p>
          <a:p>
            <a:pPr eaLnBrk="1" hangingPunct="1"/>
            <a:endParaRPr lang="en-US" sz="2400" dirty="0" smtClean="0">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28257092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Nested Tables</a:t>
            </a:r>
          </a:p>
        </p:txBody>
      </p:sp>
      <p:sp>
        <p:nvSpPr>
          <p:cNvPr id="5123" name="Rectangle 3"/>
          <p:cNvSpPr>
            <a:spLocks noGrp="1" noChangeArrowheads="1"/>
          </p:cNvSpPr>
          <p:nvPr>
            <p:ph idx="1"/>
          </p:nvPr>
        </p:nvSpPr>
        <p:spPr/>
        <p:txBody>
          <a:bodyPr>
            <a:normAutofit/>
          </a:bodyPr>
          <a:lstStyle/>
          <a:p>
            <a:pPr eaLnBrk="1" hangingPunct="1"/>
            <a:r>
              <a:rPr lang="en-US" sz="2400" dirty="0" smtClean="0">
                <a:latin typeface="Times New Roman" pitchFamily="18" charset="0"/>
                <a:cs typeface="Times New Roman" pitchFamily="18" charset="0"/>
              </a:rPr>
              <a:t>Nested Tables act as one-column database tables, which can store multiple rows of data from a database table. </a:t>
            </a:r>
          </a:p>
          <a:p>
            <a:pPr eaLnBrk="1" hangingPunct="1"/>
            <a:r>
              <a:rPr lang="en-US" sz="2400" dirty="0" smtClean="0">
                <a:latin typeface="Times New Roman" pitchFamily="18" charset="0"/>
                <a:cs typeface="Times New Roman" pitchFamily="18" charset="0"/>
              </a:rPr>
              <a:t>Oracle does not store rows in a nested table in any particular order, but if you retrieve a table into a PL/SQL Collection, the rows are indexed consecutively starting at 1.</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3961614209"/>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dirty="0" smtClean="0"/>
              <a:t>PL/SQL tables Vs Nested tables</a:t>
            </a:r>
          </a:p>
        </p:txBody>
      </p:sp>
      <p:sp>
        <p:nvSpPr>
          <p:cNvPr id="6147" name="Rectangle 4"/>
          <p:cNvSpPr>
            <a:spLocks noGrp="1" noChangeArrowheads="1"/>
          </p:cNvSpPr>
          <p:nvPr>
            <p:ph sz="half" idx="1"/>
          </p:nvPr>
        </p:nvSpPr>
        <p:spPr>
          <a:xfrm>
            <a:off x="381000" y="1981200"/>
            <a:ext cx="3520440" cy="4190999"/>
          </a:xfrm>
        </p:spPr>
        <p:txBody>
          <a:bodyPr>
            <a:normAutofit/>
          </a:bodyPr>
          <a:lstStyle/>
          <a:p>
            <a:pPr eaLnBrk="1" hangingPunct="1">
              <a:lnSpc>
                <a:spcPct val="80000"/>
              </a:lnSpc>
            </a:pPr>
            <a:r>
              <a:rPr lang="en-US" sz="2000" dirty="0" smtClean="0">
                <a:latin typeface="Times New Roman" pitchFamily="18" charset="0"/>
                <a:cs typeface="Times New Roman" pitchFamily="18" charset="0"/>
              </a:rPr>
              <a:t>Cannot be used to define the type of a database column</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You cannot SELECT, </a:t>
            </a:r>
          </a:p>
          <a:p>
            <a:pPr eaLnBrk="1" hangingPunct="1">
              <a:lnSpc>
                <a:spcPct val="80000"/>
              </a:lnSpc>
              <a:buNone/>
            </a:pPr>
            <a:r>
              <a:rPr lang="en-US" sz="2000" dirty="0" smtClean="0">
                <a:latin typeface="Times New Roman" pitchFamily="18" charset="0"/>
                <a:cs typeface="Times New Roman" pitchFamily="18" charset="0"/>
              </a:rPr>
              <a:t>    INSERT,UPDATE, or DELETE elements in a PL/SQL Table.</a:t>
            </a:r>
          </a:p>
          <a:p>
            <a:pPr eaLnBrk="1" hangingPunct="1">
              <a:lnSpc>
                <a:spcPct val="80000"/>
              </a:lnSpc>
              <a:buNone/>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Elements can have negative indices</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Increasing the number of elements is easy you just have to assign a new element.</a:t>
            </a:r>
          </a:p>
          <a:p>
            <a:pPr eaLnBrk="1" hangingPunct="1">
              <a:lnSpc>
                <a:spcPct val="80000"/>
              </a:lnSpc>
            </a:pPr>
            <a:endParaRPr lang="en-US" sz="2000" dirty="0" smtClean="0">
              <a:latin typeface="Times New Roman" pitchFamily="18" charset="0"/>
              <a:cs typeface="Times New Roman" pitchFamily="18" charset="0"/>
            </a:endParaRPr>
          </a:p>
        </p:txBody>
      </p:sp>
      <p:sp>
        <p:nvSpPr>
          <p:cNvPr id="6148" name="Rectangle 5"/>
          <p:cNvSpPr>
            <a:spLocks noGrp="1" noChangeArrowheads="1"/>
          </p:cNvSpPr>
          <p:nvPr>
            <p:ph sz="half" idx="2"/>
          </p:nvPr>
        </p:nvSpPr>
        <p:spPr>
          <a:xfrm>
            <a:off x="4191000" y="1981200"/>
            <a:ext cx="3520440" cy="4190999"/>
          </a:xfrm>
        </p:spPr>
        <p:txBody>
          <a:bodyPr>
            <a:normAutofit/>
          </a:bodyPr>
          <a:lstStyle/>
          <a:p>
            <a:pPr eaLnBrk="1" hangingPunct="1">
              <a:lnSpc>
                <a:spcPct val="80000"/>
              </a:lnSpc>
            </a:pPr>
            <a:r>
              <a:rPr lang="en-US" sz="2000" dirty="0" smtClean="0">
                <a:latin typeface="Times New Roman" pitchFamily="18" charset="0"/>
                <a:cs typeface="Times New Roman" pitchFamily="18" charset="0"/>
              </a:rPr>
              <a:t>Can be used to define the type of a database column</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You can SELECT, INSERT, UPDATE, or DELETE elements in a Nested Table</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Elements cannot have negative indices</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To increase the number of elements, you must use the EXTEND method to increase the size of the Collection</a:t>
            </a:r>
          </a:p>
        </p:txBody>
      </p:sp>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7"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77132026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Variable Arrays</a:t>
            </a:r>
          </a:p>
        </p:txBody>
      </p:sp>
      <p:sp>
        <p:nvSpPr>
          <p:cNvPr id="7171" name="Rectangle 3"/>
          <p:cNvSpPr>
            <a:spLocks noGrp="1" noChangeArrowheads="1"/>
          </p:cNvSpPr>
          <p:nvPr>
            <p:ph idx="1"/>
          </p:nvPr>
        </p:nvSpPr>
        <p:spPr/>
        <p:txBody>
          <a:bodyPr>
            <a:normAutofit/>
          </a:bodyPr>
          <a:lstStyle/>
          <a:p>
            <a:pPr eaLnBrk="1" hangingPunct="1"/>
            <a:r>
              <a:rPr lang="en-US" sz="2400" dirty="0" smtClean="0">
                <a:latin typeface="Times New Roman" pitchFamily="18" charset="0"/>
                <a:cs typeface="Times New Roman" pitchFamily="18" charset="0"/>
              </a:rPr>
              <a:t>VARRAY, allow you to connect a single identifier with an entire Collection of data.</a:t>
            </a:r>
          </a:p>
          <a:p>
            <a:pPr eaLnBrk="1" hangingPunct="1"/>
            <a:r>
              <a:rPr lang="en-US" sz="2400" dirty="0" smtClean="0">
                <a:latin typeface="Times New Roman" pitchFamily="18" charset="0"/>
                <a:cs typeface="Times New Roman" pitchFamily="18" charset="0"/>
              </a:rPr>
              <a:t>They are different from Nested tables in that you must specify an upper limit</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for the number of elements</a:t>
            </a:r>
          </a:p>
          <a:p>
            <a:pPr eaLnBrk="1" hangingPunct="1"/>
            <a:r>
              <a:rPr lang="en-US" sz="2400" dirty="0" smtClean="0">
                <a:latin typeface="Times New Roman" pitchFamily="18" charset="0"/>
                <a:cs typeface="Times New Roman" pitchFamily="18" charset="0"/>
              </a:rPr>
              <a:t>A VARRAY is generally used when you must retrieve an entire Collection that is not very large.</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pic>
        <p:nvPicPr>
          <p:cNvPr id="7" name="Picture 6" descr="arrays_v1_202x220.gif"/>
          <p:cNvPicPr>
            <a:picLocks noChangeAspect="1"/>
          </p:cNvPicPr>
          <p:nvPr/>
        </p:nvPicPr>
        <p:blipFill>
          <a:blip r:embed="rId3" cstate="print"/>
          <a:stretch>
            <a:fillRect/>
          </a:stretch>
        </p:blipFill>
        <p:spPr>
          <a:xfrm>
            <a:off x="4648200" y="4191000"/>
            <a:ext cx="1924050" cy="2095500"/>
          </a:xfrm>
          <a:prstGeom prst="rect">
            <a:avLst/>
          </a:prstGeom>
        </p:spPr>
      </p:pic>
    </p:spTree>
    <p:extLst>
      <p:ext uri="{BB962C8B-B14F-4D97-AF65-F5344CB8AC3E}">
        <p14:creationId xmlns="" xmlns:p14="http://schemas.microsoft.com/office/powerpoint/2010/main" val="193323004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dirty="0" smtClean="0"/>
              <a:t>PL/SQL Table Example</a:t>
            </a:r>
          </a:p>
        </p:txBody>
      </p:sp>
      <p:sp>
        <p:nvSpPr>
          <p:cNvPr id="8195" name="Rectangle 3"/>
          <p:cNvSpPr>
            <a:spLocks noGrp="1" noChangeArrowheads="1"/>
          </p:cNvSpPr>
          <p:nvPr>
            <p:ph idx="1"/>
          </p:nvPr>
        </p:nvSpPr>
        <p:spPr/>
        <p:txBody>
          <a:bodyPr>
            <a:normAutofit/>
          </a:bodyPr>
          <a:lstStyle/>
          <a:p>
            <a:pPr eaLnBrk="1" hangingPunct="1">
              <a:lnSpc>
                <a:spcPct val="90000"/>
              </a:lnSpc>
              <a:buFontTx/>
              <a:buNone/>
            </a:pPr>
            <a:r>
              <a:rPr lang="en-US" sz="2400" dirty="0" smtClean="0">
                <a:latin typeface="Times New Roman" pitchFamily="18" charset="0"/>
                <a:cs typeface="Times New Roman" pitchFamily="18" charset="0"/>
              </a:rPr>
              <a:t>DECLARE</a:t>
            </a:r>
          </a:p>
          <a:p>
            <a:pPr eaLnBrk="1" hangingPunct="1">
              <a:lnSpc>
                <a:spcPct val="90000"/>
              </a:lnSpc>
              <a:buFontTx/>
              <a:buNone/>
            </a:pPr>
            <a:r>
              <a:rPr lang="en-US" sz="2400" dirty="0" smtClean="0">
                <a:latin typeface="Times New Roman" pitchFamily="18" charset="0"/>
                <a:cs typeface="Times New Roman" pitchFamily="18" charset="0"/>
              </a:rPr>
              <a:t>	TYPE num_table IS TABLE OF NUMBER</a:t>
            </a:r>
          </a:p>
          <a:p>
            <a:pPr eaLnBrk="1" hangingPunct="1">
              <a:lnSpc>
                <a:spcPct val="90000"/>
              </a:lnSpc>
              <a:buFontTx/>
              <a:buNone/>
            </a:pPr>
            <a:r>
              <a:rPr lang="en-US" sz="2400" dirty="0" smtClean="0">
                <a:latin typeface="Times New Roman" pitchFamily="18" charset="0"/>
                <a:cs typeface="Times New Roman" pitchFamily="18" charset="0"/>
              </a:rPr>
              <a:t>		INDEX BY binary_integer;</a:t>
            </a:r>
          </a:p>
          <a:p>
            <a:pPr eaLnBrk="1" hangingPunct="1">
              <a:lnSpc>
                <a:spcPct val="90000"/>
              </a:lnSpc>
              <a:buFontTx/>
              <a:buNone/>
            </a:pPr>
            <a:r>
              <a:rPr lang="en-US" sz="2400" dirty="0" smtClean="0">
                <a:latin typeface="Times New Roman" pitchFamily="18" charset="0"/>
                <a:cs typeface="Times New Roman" pitchFamily="18" charset="0"/>
              </a:rPr>
              <a:t>	num_rec num_table;</a:t>
            </a:r>
          </a:p>
          <a:p>
            <a:pPr eaLnBrk="1" hangingPunct="1">
              <a:lnSpc>
                <a:spcPct val="90000"/>
              </a:lnSpc>
              <a:buFontTx/>
              <a:buNone/>
            </a:pPr>
            <a:r>
              <a:rPr lang="en-US" sz="2400" dirty="0" smtClean="0">
                <a:latin typeface="Times New Roman" pitchFamily="18" charset="0"/>
                <a:cs typeface="Times New Roman" pitchFamily="18" charset="0"/>
              </a:rPr>
              <a:t>BEGIN</a:t>
            </a:r>
          </a:p>
          <a:p>
            <a:pPr eaLnBrk="1" hangingPunct="1">
              <a:lnSpc>
                <a:spcPct val="90000"/>
              </a:lnSpc>
              <a:buFontTx/>
              <a:buNone/>
            </a:pPr>
            <a:r>
              <a:rPr lang="en-US" sz="2400" dirty="0" smtClean="0">
                <a:latin typeface="Times New Roman" pitchFamily="18" charset="0"/>
                <a:cs typeface="Times New Roman" pitchFamily="18" charset="0"/>
              </a:rPr>
              <a:t>	SELECT salary</a:t>
            </a:r>
          </a:p>
          <a:p>
            <a:pPr eaLnBrk="1" hangingPunct="1">
              <a:lnSpc>
                <a:spcPct val="90000"/>
              </a:lnSpc>
              <a:buFontTx/>
              <a:buNone/>
            </a:pPr>
            <a:r>
              <a:rPr lang="en-US" sz="2400" dirty="0" smtClean="0">
                <a:latin typeface="Times New Roman" pitchFamily="18" charset="0"/>
                <a:cs typeface="Times New Roman" pitchFamily="18" charset="0"/>
              </a:rPr>
              <a:t>	INTO num_rec(1)</a:t>
            </a:r>
          </a:p>
          <a:p>
            <a:pPr eaLnBrk="1" hangingPunct="1">
              <a:lnSpc>
                <a:spcPct val="90000"/>
              </a:lnSpc>
              <a:buFontTx/>
              <a:buNone/>
            </a:pPr>
            <a:r>
              <a:rPr lang="en-US" sz="2400" dirty="0" smtClean="0">
                <a:latin typeface="Times New Roman" pitchFamily="18" charset="0"/>
                <a:cs typeface="Times New Roman" pitchFamily="18" charset="0"/>
              </a:rPr>
              <a:t>	FROM sales_person</a:t>
            </a:r>
          </a:p>
          <a:p>
            <a:pPr eaLnBrk="1" hangingPunct="1">
              <a:lnSpc>
                <a:spcPct val="90000"/>
              </a:lnSpc>
              <a:buFontTx/>
              <a:buNone/>
            </a:pPr>
            <a:r>
              <a:rPr lang="en-US" sz="2400" dirty="0" smtClean="0">
                <a:latin typeface="Times New Roman" pitchFamily="18" charset="0"/>
                <a:cs typeface="Times New Roman" pitchFamily="18" charset="0"/>
              </a:rPr>
              <a:t>	WHERE sales_person_id = 800;</a:t>
            </a:r>
          </a:p>
          <a:p>
            <a:pPr eaLnBrk="1" hangingPunct="1">
              <a:lnSpc>
                <a:spcPct val="90000"/>
              </a:lnSpc>
              <a:buFontTx/>
              <a:buNone/>
            </a:pPr>
            <a:r>
              <a:rPr lang="en-US" sz="2400" dirty="0" smtClean="0">
                <a:latin typeface="Times New Roman" pitchFamily="18" charset="0"/>
                <a:cs typeface="Times New Roman" pitchFamily="18" charset="0"/>
              </a:rPr>
              <a:t>	Dbms_output.Put_line (num_rec(1));</a:t>
            </a:r>
          </a:p>
          <a:p>
            <a:pPr eaLnBrk="1" hangingPunct="1">
              <a:lnSpc>
                <a:spcPct val="90000"/>
              </a:lnSpc>
              <a:buFontTx/>
              <a:buNone/>
            </a:pPr>
            <a:r>
              <a:rPr lang="en-US" sz="2400" dirty="0" smtClean="0">
                <a:latin typeface="Times New Roman" pitchFamily="18" charset="0"/>
                <a:cs typeface="Times New Roman" pitchFamily="18" charset="0"/>
              </a:rPr>
              <a:t>END;</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29381828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533400"/>
            <a:ext cx="7239000" cy="747794"/>
          </a:xfrm>
        </p:spPr>
        <p:txBody>
          <a:bodyPr/>
          <a:lstStyle/>
          <a:p>
            <a:pPr eaLnBrk="1" hangingPunct="1"/>
            <a:r>
              <a:rPr lang="en-US" dirty="0" smtClean="0"/>
              <a:t>Nested Table</a:t>
            </a:r>
          </a:p>
        </p:txBody>
      </p:sp>
      <p:sp>
        <p:nvSpPr>
          <p:cNvPr id="11267" name="Rectangle 3"/>
          <p:cNvSpPr>
            <a:spLocks noGrp="1" noChangeArrowheads="1"/>
          </p:cNvSpPr>
          <p:nvPr>
            <p:ph idx="1"/>
          </p:nvPr>
        </p:nvSpPr>
        <p:spPr>
          <a:xfrm>
            <a:off x="457200" y="1609416"/>
            <a:ext cx="7239000" cy="3953184"/>
          </a:xfrm>
        </p:spPr>
        <p:txBody>
          <a:bodyPr>
            <a:normAutofit/>
          </a:bodyPr>
          <a:lstStyle/>
          <a:p>
            <a:pPr marL="533400" indent="-533400" eaLnBrk="1" hangingPunct="1">
              <a:lnSpc>
                <a:spcPct val="80000"/>
              </a:lnSpc>
              <a:buFontTx/>
              <a:buNone/>
            </a:pPr>
            <a:r>
              <a:rPr lang="en-US" sz="2400" dirty="0" smtClean="0">
                <a:latin typeface="Times New Roman" pitchFamily="18" charset="0"/>
                <a:cs typeface="Times New Roman" pitchFamily="18" charset="0"/>
              </a:rPr>
              <a:t>DECLARE</a:t>
            </a:r>
          </a:p>
          <a:p>
            <a:pPr marL="533400" indent="-533400" eaLnBrk="1" hangingPunct="1">
              <a:lnSpc>
                <a:spcPct val="80000"/>
              </a:lnSpc>
              <a:buFontTx/>
              <a:buNone/>
            </a:pPr>
            <a:r>
              <a:rPr lang="en-US" sz="2400" dirty="0" smtClean="0">
                <a:latin typeface="Times New Roman" pitchFamily="18" charset="0"/>
                <a:cs typeface="Times New Roman" pitchFamily="18" charset="0"/>
              </a:rPr>
              <a:t>	TYPE color IS TABLE OF VARCHAR2 (20);</a:t>
            </a:r>
          </a:p>
          <a:p>
            <a:pPr marL="533400" indent="-533400" eaLnBrk="1" hangingPunct="1">
              <a:lnSpc>
                <a:spcPct val="80000"/>
              </a:lnSpc>
              <a:buFontTx/>
              <a:buNone/>
            </a:pPr>
            <a:r>
              <a:rPr lang="en-US" sz="2400" dirty="0" smtClean="0">
                <a:latin typeface="Times New Roman" pitchFamily="18" charset="0"/>
                <a:cs typeface="Times New Roman" pitchFamily="18" charset="0"/>
              </a:rPr>
              <a:t>	rainbow color;</a:t>
            </a:r>
          </a:p>
          <a:p>
            <a:pPr marL="533400" indent="-533400" eaLnBrk="1" hangingPunct="1">
              <a:lnSpc>
                <a:spcPct val="80000"/>
              </a:lnSpc>
              <a:buFontTx/>
              <a:buNone/>
            </a:pPr>
            <a:r>
              <a:rPr lang="en-US" sz="2400" dirty="0" smtClean="0">
                <a:latin typeface="Times New Roman" pitchFamily="18" charset="0"/>
                <a:cs typeface="Times New Roman" pitchFamily="18" charset="0"/>
              </a:rPr>
              <a:t>BEGIN</a:t>
            </a:r>
          </a:p>
          <a:p>
            <a:pPr marL="533400" indent="-533400" eaLnBrk="1" hangingPunct="1">
              <a:lnSpc>
                <a:spcPct val="80000"/>
              </a:lnSpc>
              <a:buFontTx/>
              <a:buNone/>
            </a:pPr>
            <a:r>
              <a:rPr lang="en-US" sz="2400" dirty="0" smtClean="0">
                <a:latin typeface="Times New Roman" pitchFamily="18" charset="0"/>
                <a:cs typeface="Times New Roman" pitchFamily="18" charset="0"/>
              </a:rPr>
              <a:t>	rainbow := color ('RED', 'ORANGE', 'YELLOW',</a:t>
            </a:r>
          </a:p>
          <a:p>
            <a:pPr marL="533400" indent="-533400" eaLnBrk="1" hangingPunct="1">
              <a:lnSpc>
                <a:spcPct val="80000"/>
              </a:lnSpc>
              <a:buFontTx/>
              <a:buNone/>
            </a:pPr>
            <a:r>
              <a:rPr lang="en-US" sz="2400" dirty="0" smtClean="0">
                <a:latin typeface="Times New Roman" pitchFamily="18" charset="0"/>
                <a:cs typeface="Times New Roman" pitchFamily="18" charset="0"/>
              </a:rPr>
              <a:t>		'GREEN', 'BLUE', 'INDIGO', 'VIOLET');</a:t>
            </a:r>
          </a:p>
          <a:p>
            <a:pPr marL="533400" indent="-533400" eaLnBrk="1" hangingPunct="1">
              <a:lnSpc>
                <a:spcPct val="80000"/>
              </a:lnSpc>
              <a:buFontTx/>
              <a:buNone/>
            </a:pPr>
            <a:r>
              <a:rPr lang="en-US" sz="2400" dirty="0" smtClean="0">
                <a:latin typeface="Times New Roman" pitchFamily="18" charset="0"/>
                <a:cs typeface="Times New Roman" pitchFamily="18" charset="0"/>
              </a:rPr>
              <a:t>	FOR ctr IN 1..7 LOOP</a:t>
            </a:r>
          </a:p>
          <a:p>
            <a:pPr marL="533400" indent="-533400" eaLnBrk="1" hangingPunct="1">
              <a:lnSpc>
                <a:spcPct val="80000"/>
              </a:lnSpc>
              <a:buFontTx/>
              <a:buNone/>
            </a:pPr>
            <a:r>
              <a:rPr lang="en-US" sz="2400" dirty="0" smtClean="0">
                <a:latin typeface="Times New Roman" pitchFamily="18" charset="0"/>
                <a:cs typeface="Times New Roman" pitchFamily="18" charset="0"/>
              </a:rPr>
              <a:t>		Dbms_output.Put_line (rainbow (ctr));</a:t>
            </a:r>
          </a:p>
          <a:p>
            <a:pPr marL="533400" indent="-533400" eaLnBrk="1" hangingPunct="1">
              <a:lnSpc>
                <a:spcPct val="80000"/>
              </a:lnSpc>
              <a:buFontTx/>
              <a:buNone/>
            </a:pPr>
            <a:r>
              <a:rPr lang="en-US" sz="2400" dirty="0" smtClean="0">
                <a:latin typeface="Times New Roman" pitchFamily="18" charset="0"/>
                <a:cs typeface="Times New Roman" pitchFamily="18" charset="0"/>
              </a:rPr>
              <a:t>	END LOOP;</a:t>
            </a:r>
          </a:p>
          <a:p>
            <a:pPr marL="533400" indent="-533400" eaLnBrk="1" hangingPunct="1">
              <a:lnSpc>
                <a:spcPct val="80000"/>
              </a:lnSpc>
              <a:buFontTx/>
              <a:buNone/>
            </a:pPr>
            <a:r>
              <a:rPr lang="en-US" sz="2400" dirty="0" smtClean="0">
                <a:latin typeface="Times New Roman" pitchFamily="18" charset="0"/>
                <a:cs typeface="Times New Roman" pitchFamily="18" charset="0"/>
              </a:rPr>
              <a:t>END;</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36652241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smtClean="0"/>
              <a:t>Collection Methods</a:t>
            </a:r>
            <a:endParaRPr lang="en-US" smtClean="0"/>
          </a:p>
        </p:txBody>
      </p:sp>
      <p:sp>
        <p:nvSpPr>
          <p:cNvPr id="12291" name="Rectangle 3"/>
          <p:cNvSpPr>
            <a:spLocks noGrp="1" noChangeArrowheads="1"/>
          </p:cNvSpPr>
          <p:nvPr>
            <p:ph idx="1"/>
          </p:nvPr>
        </p:nvSpPr>
        <p:spPr>
          <a:xfrm>
            <a:off x="457200" y="1609416"/>
            <a:ext cx="7239000" cy="3191184"/>
          </a:xfrm>
        </p:spPr>
        <p:txBody>
          <a:bodyPr>
            <a:normAutofit/>
          </a:bodyPr>
          <a:lstStyle/>
          <a:p>
            <a:pPr eaLnBrk="1" hangingPunct="1"/>
            <a:r>
              <a:rPr lang="en-US" sz="2400" dirty="0" smtClean="0">
                <a:latin typeface="Times New Roman" pitchFamily="18" charset="0"/>
                <a:cs typeface="Times New Roman" pitchFamily="18" charset="0"/>
              </a:rPr>
              <a:t>COUNT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returns the number of elements that are currently available in a Collection.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COUNT ignores the NULL elements.</a:t>
            </a:r>
          </a:p>
          <a:p>
            <a:pPr eaLnBrk="1" hangingPunct="1"/>
            <a:r>
              <a:rPr lang="en-US" sz="2400" dirty="0" smtClean="0">
                <a:latin typeface="Times New Roman" pitchFamily="18" charset="0"/>
                <a:cs typeface="Times New Roman" pitchFamily="18" charset="0"/>
              </a:rPr>
              <a:t>EXISTS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returns TRUE or FALSE depending on whether or not the Collection has reached the last element it contains.</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427929554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1"/>
          </p:nvPr>
        </p:nvSpPr>
        <p:spPr>
          <a:xfrm>
            <a:off x="381000" y="838200"/>
            <a:ext cx="8229600" cy="4953000"/>
          </a:xfrm>
        </p:spPr>
        <p:txBody>
          <a:bodyPr>
            <a:normAutofit/>
          </a:bodyPr>
          <a:lstStyle/>
          <a:p>
            <a:pPr eaLnBrk="1" hangingPunct="1"/>
            <a:r>
              <a:rPr lang="en-US" sz="2400" dirty="0" smtClean="0">
                <a:latin typeface="Times New Roman" pitchFamily="18" charset="0"/>
                <a:cs typeface="Times New Roman" pitchFamily="18" charset="0"/>
              </a:rPr>
              <a:t>LIMIT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returns TRUE if the maximum number of elements in a Collection is used, applies to VARRAY only</a:t>
            </a:r>
          </a:p>
          <a:p>
            <a:pPr eaLnBrk="1" hangingPunct="1"/>
            <a:r>
              <a:rPr lang="en-US" sz="2400" dirty="0" smtClean="0">
                <a:latin typeface="Times New Roman" pitchFamily="18" charset="0"/>
                <a:cs typeface="Times New Roman" pitchFamily="18" charset="0"/>
              </a:rPr>
              <a:t>FIRST and LAST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determine the highest and lowest index numbers in a Collection.</a:t>
            </a:r>
          </a:p>
          <a:p>
            <a:pPr eaLnBrk="1" hangingPunct="1"/>
            <a:r>
              <a:rPr lang="en-US" sz="2400" dirty="0" smtClean="0">
                <a:latin typeface="Times New Roman" pitchFamily="18" charset="0"/>
                <a:cs typeface="Times New Roman" pitchFamily="18" charset="0"/>
              </a:rPr>
              <a:t>PRIOR(n)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will return the value of the index prior to ’n’. If there is no element before n, the function returns null. Likewise, you can use NEXT(n) to get the value of the subsequent index.</a:t>
            </a:r>
          </a:p>
        </p:txBody>
      </p:sp>
      <p:sp>
        <p:nvSpPr>
          <p:cNvPr id="4"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427821864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idx="1"/>
          </p:nvPr>
        </p:nvSpPr>
        <p:spPr>
          <a:xfrm>
            <a:off x="381000" y="1143000"/>
            <a:ext cx="7772400" cy="4572000"/>
          </a:xfrm>
        </p:spPr>
        <p:txBody>
          <a:bodyPr>
            <a:normAutofit/>
          </a:bodyPr>
          <a:lstStyle/>
          <a:p>
            <a:pPr eaLnBrk="1" hangingPunct="1">
              <a:lnSpc>
                <a:spcPct val="80000"/>
              </a:lnSpc>
            </a:pPr>
            <a:r>
              <a:rPr lang="en-US" sz="2000" dirty="0" smtClean="0">
                <a:latin typeface="Times New Roman" pitchFamily="18" charset="0"/>
                <a:cs typeface="Times New Roman" pitchFamily="18" charset="0"/>
              </a:rPr>
              <a:t>EXTEND adds one null element to the Collection</a:t>
            </a:r>
          </a:p>
          <a:p>
            <a:pPr eaLnBrk="1" hangingPunct="1">
              <a:lnSpc>
                <a:spcPct val="80000"/>
              </a:lnSpc>
            </a:pPr>
            <a:endParaRPr lang="en-US" sz="2000" dirty="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EXTEND(n) appends ’n’ null elements to a Collection</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EXTEND(n,m) adds ’n’ copies of the mth element to the Collection.</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TRIM removes the last element from the Collection. </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TRIM(n) removes the last ’n’ elements from the Collection.</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DELETE nullifies all the elements from a Collection. This can be used for both VARRAY and nested tables. </a:t>
            </a:r>
          </a:p>
          <a:p>
            <a:pPr eaLnBrk="1" hangingPunct="1">
              <a:lnSpc>
                <a:spcPct val="80000"/>
              </a:lnSpc>
            </a:pPr>
            <a:endParaRPr lang="en-US" sz="2000" dirty="0" smtClean="0">
              <a:latin typeface="Times New Roman" pitchFamily="18" charset="0"/>
              <a:cs typeface="Times New Roman" pitchFamily="18" charset="0"/>
            </a:endParaRPr>
          </a:p>
          <a:p>
            <a:pPr eaLnBrk="1" hangingPunct="1">
              <a:lnSpc>
                <a:spcPct val="80000"/>
              </a:lnSpc>
            </a:pPr>
            <a:r>
              <a:rPr lang="en-US" sz="2000" dirty="0" smtClean="0">
                <a:latin typeface="Times New Roman" pitchFamily="18" charset="0"/>
                <a:cs typeface="Times New Roman" pitchFamily="18" charset="0"/>
              </a:rPr>
              <a:t>DELETE(n) nullifies the nth element from a Collection.</a:t>
            </a:r>
          </a:p>
        </p:txBody>
      </p:sp>
      <p:sp>
        <p:nvSpPr>
          <p:cNvPr id="4"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199016304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Example</a:t>
            </a:r>
          </a:p>
        </p:txBody>
      </p:sp>
      <p:sp>
        <p:nvSpPr>
          <p:cNvPr id="15363" name="Rectangle 3"/>
          <p:cNvSpPr>
            <a:spLocks noGrp="1" noChangeArrowheads="1"/>
          </p:cNvSpPr>
          <p:nvPr>
            <p:ph idx="1"/>
          </p:nvPr>
        </p:nvSpPr>
        <p:spPr/>
        <p:txBody>
          <a:bodyPr/>
          <a:lstStyle/>
          <a:p>
            <a:pPr eaLnBrk="1" hangingPunct="1">
              <a:lnSpc>
                <a:spcPct val="90000"/>
              </a:lnSpc>
              <a:buFontTx/>
              <a:buNone/>
            </a:pPr>
            <a:r>
              <a:rPr lang="en-US" sz="2400" dirty="0" smtClean="0">
                <a:latin typeface="Times New Roman" pitchFamily="18" charset="0"/>
                <a:cs typeface="Times New Roman" pitchFamily="18" charset="0"/>
              </a:rPr>
              <a:t>DECLARE</a:t>
            </a:r>
          </a:p>
          <a:p>
            <a:pPr eaLnBrk="1" hangingPunct="1">
              <a:lnSpc>
                <a:spcPct val="90000"/>
              </a:lnSpc>
              <a:buFontTx/>
              <a:buNone/>
            </a:pPr>
            <a:r>
              <a:rPr lang="en-US" sz="2400" dirty="0" smtClean="0">
                <a:latin typeface="Times New Roman" pitchFamily="18" charset="0"/>
                <a:cs typeface="Times New Roman" pitchFamily="18" charset="0"/>
              </a:rPr>
              <a:t>	TYPE color IS TABLE OF VARCHAR2 (20);</a:t>
            </a:r>
          </a:p>
          <a:p>
            <a:pPr eaLnBrk="1" hangingPunct="1">
              <a:lnSpc>
                <a:spcPct val="90000"/>
              </a:lnSpc>
              <a:buFontTx/>
              <a:buNone/>
            </a:pPr>
            <a:r>
              <a:rPr lang="en-US" sz="2400" dirty="0" smtClean="0">
                <a:latin typeface="Times New Roman" pitchFamily="18" charset="0"/>
                <a:cs typeface="Times New Roman" pitchFamily="18" charset="0"/>
              </a:rPr>
              <a:t>	rainbow color;</a:t>
            </a:r>
          </a:p>
          <a:p>
            <a:pPr eaLnBrk="1" hangingPunct="1">
              <a:lnSpc>
                <a:spcPct val="90000"/>
              </a:lnSpc>
              <a:buFontTx/>
              <a:buNone/>
            </a:pPr>
            <a:r>
              <a:rPr lang="en-US" sz="2400" dirty="0" smtClean="0">
                <a:latin typeface="Times New Roman" pitchFamily="18" charset="0"/>
                <a:cs typeface="Times New Roman" pitchFamily="18" charset="0"/>
              </a:rPr>
              <a:t>BEGIN</a:t>
            </a:r>
          </a:p>
          <a:p>
            <a:pPr eaLnBrk="1" hangingPunct="1">
              <a:lnSpc>
                <a:spcPct val="90000"/>
              </a:lnSpc>
              <a:buFontTx/>
              <a:buNone/>
            </a:pPr>
            <a:r>
              <a:rPr lang="en-US" sz="2400" dirty="0" smtClean="0">
                <a:latin typeface="Times New Roman" pitchFamily="18" charset="0"/>
                <a:cs typeface="Times New Roman" pitchFamily="18" charset="0"/>
              </a:rPr>
              <a:t>	rainbow := color ('RED', 'ORANGE', 'YELLOW', </a:t>
            </a:r>
          </a:p>
          <a:p>
            <a:pPr eaLnBrk="1" hangingPunct="1">
              <a:lnSpc>
                <a:spcPct val="90000"/>
              </a:lnSpc>
              <a:buFontTx/>
              <a:buNone/>
            </a:pPr>
            <a:r>
              <a:rPr lang="en-US" sz="2400" dirty="0" smtClean="0">
                <a:latin typeface="Times New Roman" pitchFamily="18" charset="0"/>
                <a:cs typeface="Times New Roman" pitchFamily="18" charset="0"/>
              </a:rPr>
              <a:t>				'GREEN', 'BLUE', 'INDIGO', 'VIOLET');</a:t>
            </a:r>
          </a:p>
          <a:p>
            <a:pPr eaLnBrk="1" hangingPunct="1">
              <a:lnSpc>
                <a:spcPct val="90000"/>
              </a:lnSpc>
              <a:buFontTx/>
              <a:buNone/>
            </a:pPr>
            <a:r>
              <a:rPr lang="en-US" sz="2400" dirty="0" smtClean="0">
                <a:latin typeface="Times New Roman" pitchFamily="18" charset="0"/>
                <a:cs typeface="Times New Roman" pitchFamily="18" charset="0"/>
              </a:rPr>
              <a:t>	FOR ctr IN rainbow.FIRST..rainbow.LAST LOOP</a:t>
            </a:r>
          </a:p>
          <a:p>
            <a:pPr eaLnBrk="1" hangingPunct="1">
              <a:lnSpc>
                <a:spcPct val="90000"/>
              </a:lnSpc>
              <a:buFontTx/>
              <a:buNone/>
            </a:pPr>
            <a:r>
              <a:rPr lang="en-US" sz="2400" dirty="0" smtClean="0">
                <a:latin typeface="Times New Roman" pitchFamily="18" charset="0"/>
                <a:cs typeface="Times New Roman" pitchFamily="18" charset="0"/>
              </a:rPr>
              <a:t>		Dbms_output.Put_line (rainbow (ctr));</a:t>
            </a:r>
          </a:p>
          <a:p>
            <a:pPr eaLnBrk="1" hangingPunct="1">
              <a:lnSpc>
                <a:spcPct val="90000"/>
              </a:lnSpc>
              <a:buFontTx/>
              <a:buNone/>
            </a:pPr>
            <a:r>
              <a:rPr lang="en-US" sz="2400" dirty="0" smtClean="0">
                <a:latin typeface="Times New Roman" pitchFamily="18" charset="0"/>
                <a:cs typeface="Times New Roman" pitchFamily="18" charset="0"/>
              </a:rPr>
              <a:t>	END LOOP;</a:t>
            </a:r>
          </a:p>
          <a:p>
            <a:pPr eaLnBrk="1" hangingPunct="1">
              <a:lnSpc>
                <a:spcPct val="90000"/>
              </a:lnSpc>
              <a:buFontTx/>
              <a:buNone/>
            </a:pPr>
            <a:r>
              <a:rPr lang="en-US" sz="2400" dirty="0" smtClean="0">
                <a:latin typeface="Times New Roman" pitchFamily="18" charset="0"/>
                <a:cs typeface="Times New Roman" pitchFamily="18" charset="0"/>
              </a:rPr>
              <a:t>END;</a:t>
            </a:r>
          </a:p>
          <a:p>
            <a:pPr eaLnBrk="1" hangingPunct="1">
              <a:lnSpc>
                <a:spcPct val="90000"/>
              </a:lnSpc>
              <a:buFontTx/>
              <a:buNone/>
            </a:pPr>
            <a:endParaRPr lang="en-US" sz="2400" dirty="0" smtClean="0">
              <a:latin typeface="Times New Roman" pitchFamily="18" charset="0"/>
              <a:cs typeface="Times New Roman" pitchFamily="18" charset="0"/>
            </a:endParaRP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213473714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81000" y="152400"/>
            <a:ext cx="7239000" cy="1143000"/>
          </a:xfrm>
        </p:spPr>
        <p:txBody>
          <a:bodyPr/>
          <a:lstStyle/>
          <a:p>
            <a:pPr eaLnBrk="1" hangingPunct="1"/>
            <a:r>
              <a:rPr lang="en-US" dirty="0" smtClean="0"/>
              <a:t>VARRAY</a:t>
            </a:r>
          </a:p>
        </p:txBody>
      </p:sp>
      <p:sp>
        <p:nvSpPr>
          <p:cNvPr id="16387" name="Rectangle 3"/>
          <p:cNvSpPr>
            <a:spLocks noGrp="1" noChangeArrowheads="1"/>
          </p:cNvSpPr>
          <p:nvPr>
            <p:ph idx="1"/>
          </p:nvPr>
        </p:nvSpPr>
        <p:spPr>
          <a:xfrm>
            <a:off x="381000" y="1447800"/>
            <a:ext cx="8305800" cy="4648200"/>
          </a:xfrm>
        </p:spPr>
        <p:txBody>
          <a:bodyPr>
            <a:noAutofit/>
          </a:bodyPr>
          <a:lstStyle/>
          <a:p>
            <a:pPr eaLnBrk="1" hangingPunct="1">
              <a:lnSpc>
                <a:spcPct val="80000"/>
              </a:lnSpc>
              <a:buFontTx/>
              <a:buNone/>
            </a:pPr>
            <a:r>
              <a:rPr lang="en-US" sz="1800" dirty="0" smtClean="0">
                <a:latin typeface="Times New Roman" pitchFamily="18" charset="0"/>
                <a:cs typeface="Times New Roman" pitchFamily="18" charset="0"/>
              </a:rPr>
              <a:t>DECLARE</a:t>
            </a:r>
          </a:p>
          <a:p>
            <a:pPr eaLnBrk="1" hangingPunct="1">
              <a:lnSpc>
                <a:spcPct val="80000"/>
              </a:lnSpc>
              <a:buFontTx/>
              <a:buNone/>
            </a:pPr>
            <a:r>
              <a:rPr lang="en-US" sz="1800" dirty="0" smtClean="0">
                <a:latin typeface="Times New Roman" pitchFamily="18" charset="0"/>
                <a:cs typeface="Times New Roman" pitchFamily="18" charset="0"/>
              </a:rPr>
              <a:t>	TYPE temperature IS VARRAY(52) OF NUMBER;</a:t>
            </a:r>
          </a:p>
          <a:p>
            <a:pPr eaLnBrk="1" hangingPunct="1">
              <a:lnSpc>
                <a:spcPct val="80000"/>
              </a:lnSpc>
              <a:buFontTx/>
              <a:buNone/>
            </a:pPr>
            <a:r>
              <a:rPr lang="en-US" sz="1800" dirty="0" smtClean="0">
                <a:latin typeface="Times New Roman" pitchFamily="18" charset="0"/>
                <a:cs typeface="Times New Roman" pitchFamily="18" charset="0"/>
              </a:rPr>
              <a:t>	weekly_temp temperature := temperature(60, 65, 70, 65, 59, 60, 74);</a:t>
            </a:r>
          </a:p>
          <a:p>
            <a:pPr eaLnBrk="1" hangingPunct="1">
              <a:lnSpc>
                <a:spcPct val="80000"/>
              </a:lnSpc>
              <a:buFontTx/>
              <a:buNone/>
            </a:pPr>
            <a:r>
              <a:rPr lang="en-US" sz="1800" dirty="0" smtClean="0">
                <a:latin typeface="Times New Roman" pitchFamily="18" charset="0"/>
                <a:cs typeface="Times New Roman" pitchFamily="18" charset="0"/>
              </a:rPr>
              <a:t>	temp_count binary_integer;</a:t>
            </a:r>
          </a:p>
          <a:p>
            <a:pPr eaLnBrk="1" hangingPunct="1">
              <a:lnSpc>
                <a:spcPct val="80000"/>
              </a:lnSpc>
              <a:buFontTx/>
              <a:buNone/>
            </a:pPr>
            <a:r>
              <a:rPr lang="en-US" sz="1800" dirty="0" smtClean="0">
                <a:latin typeface="Times New Roman" pitchFamily="18" charset="0"/>
                <a:cs typeface="Times New Roman" pitchFamily="18" charset="0"/>
              </a:rPr>
              <a:t>BEGIN</a:t>
            </a:r>
          </a:p>
          <a:p>
            <a:pPr eaLnBrk="1" hangingPunct="1">
              <a:lnSpc>
                <a:spcPct val="80000"/>
              </a:lnSpc>
              <a:buFontTx/>
              <a:buNone/>
            </a:pPr>
            <a:r>
              <a:rPr lang="en-US" sz="1800" dirty="0" smtClean="0">
                <a:latin typeface="Times New Roman" pitchFamily="18" charset="0"/>
                <a:cs typeface="Times New Roman" pitchFamily="18" charset="0"/>
              </a:rPr>
              <a:t>	temp_count := weekly_temp.count;</a:t>
            </a:r>
          </a:p>
          <a:p>
            <a:pPr eaLnBrk="1" hangingPunct="1">
              <a:lnSpc>
                <a:spcPct val="80000"/>
              </a:lnSpc>
              <a:buFontTx/>
              <a:buNone/>
            </a:pPr>
            <a:r>
              <a:rPr lang="en-US" sz="1800" dirty="0" smtClean="0">
                <a:latin typeface="Times New Roman" pitchFamily="18" charset="0"/>
                <a:cs typeface="Times New Roman" pitchFamily="18" charset="0"/>
              </a:rPr>
              <a:t>	IF weekly_temp.LIMIT - temp_count &gt; 0 THEN</a:t>
            </a:r>
          </a:p>
          <a:p>
            <a:pPr eaLnBrk="1" hangingPunct="1">
              <a:lnSpc>
                <a:spcPct val="80000"/>
              </a:lnSpc>
              <a:buFontTx/>
              <a:buNone/>
            </a:pPr>
            <a:r>
              <a:rPr lang="en-US" sz="1800" dirty="0" smtClean="0">
                <a:latin typeface="Times New Roman" pitchFamily="18" charset="0"/>
                <a:cs typeface="Times New Roman" pitchFamily="18" charset="0"/>
              </a:rPr>
              <a:t>		weekly_temp.EXTEND;</a:t>
            </a:r>
          </a:p>
          <a:p>
            <a:pPr eaLnBrk="1" hangingPunct="1">
              <a:lnSpc>
                <a:spcPct val="80000"/>
              </a:lnSpc>
              <a:buFontTx/>
              <a:buNone/>
            </a:pPr>
            <a:r>
              <a:rPr lang="en-US" sz="1800" dirty="0" smtClean="0">
                <a:latin typeface="Times New Roman" pitchFamily="18" charset="0"/>
                <a:cs typeface="Times New Roman" pitchFamily="18" charset="0"/>
              </a:rPr>
              <a:t>		weekly_temp (temp_count +1) := 73;</a:t>
            </a:r>
          </a:p>
          <a:p>
            <a:pPr eaLnBrk="1" hangingPunct="1">
              <a:lnSpc>
                <a:spcPct val="80000"/>
              </a:lnSpc>
              <a:buFontTx/>
              <a:buNone/>
            </a:pPr>
            <a:r>
              <a:rPr lang="en-US" sz="1800" dirty="0" smtClean="0">
                <a:latin typeface="Times New Roman" pitchFamily="18" charset="0"/>
                <a:cs typeface="Times New Roman" pitchFamily="18" charset="0"/>
              </a:rPr>
              <a:t>	END IF;</a:t>
            </a:r>
          </a:p>
          <a:p>
            <a:pPr eaLnBrk="1" hangingPunct="1">
              <a:lnSpc>
                <a:spcPct val="80000"/>
              </a:lnSpc>
              <a:buFontTx/>
              <a:buNone/>
            </a:pPr>
            <a:r>
              <a:rPr lang="en-US" sz="1800" dirty="0" smtClean="0">
                <a:latin typeface="Times New Roman" pitchFamily="18" charset="0"/>
                <a:cs typeface="Times New Roman" pitchFamily="18" charset="0"/>
              </a:rPr>
              <a:t>	FOR i IN 1..weekly_temp.COUNT LOOP</a:t>
            </a:r>
          </a:p>
          <a:p>
            <a:pPr eaLnBrk="1" hangingPunct="1">
              <a:lnSpc>
                <a:spcPct val="80000"/>
              </a:lnSpc>
              <a:buFontTx/>
              <a:buNone/>
            </a:pPr>
            <a:r>
              <a:rPr lang="en-US" sz="1800" dirty="0" smtClean="0">
                <a:latin typeface="Times New Roman" pitchFamily="18" charset="0"/>
                <a:cs typeface="Times New Roman" pitchFamily="18" charset="0"/>
              </a:rPr>
              <a:t>		Dbms_output.Put_line (i || </a:t>
            </a:r>
            <a:r>
              <a:rPr lang="en-US" sz="1800" dirty="0" err="1" smtClean="0">
                <a:latin typeface="Times New Roman" pitchFamily="18" charset="0"/>
                <a:cs typeface="Times New Roman" pitchFamily="18" charset="0"/>
              </a:rPr>
              <a:t>chr</a:t>
            </a:r>
            <a:r>
              <a:rPr lang="en-US" sz="1800" dirty="0" smtClean="0">
                <a:latin typeface="Times New Roman" pitchFamily="18" charset="0"/>
                <a:cs typeface="Times New Roman" pitchFamily="18" charset="0"/>
              </a:rPr>
              <a:t>(9) || weekly_temp(i));</a:t>
            </a:r>
          </a:p>
          <a:p>
            <a:pPr eaLnBrk="1" hangingPunct="1">
              <a:lnSpc>
                <a:spcPct val="80000"/>
              </a:lnSpc>
              <a:buFontTx/>
              <a:buNone/>
            </a:pPr>
            <a:r>
              <a:rPr lang="en-US" sz="1800" dirty="0" smtClean="0">
                <a:latin typeface="Times New Roman" pitchFamily="18" charset="0"/>
                <a:cs typeface="Times New Roman" pitchFamily="18" charset="0"/>
              </a:rPr>
              <a:t>	END LOOP;</a:t>
            </a:r>
          </a:p>
          <a:p>
            <a:pPr eaLnBrk="1" hangingPunct="1">
              <a:lnSpc>
                <a:spcPct val="80000"/>
              </a:lnSpc>
              <a:buFontTx/>
              <a:buNone/>
            </a:pPr>
            <a:r>
              <a:rPr lang="en-US" sz="1800" dirty="0" smtClean="0">
                <a:latin typeface="Times New Roman" pitchFamily="18" charset="0"/>
                <a:cs typeface="Times New Roman" pitchFamily="18" charset="0"/>
              </a:rPr>
              <a:t>END;</a:t>
            </a:r>
          </a:p>
        </p:txBody>
      </p:sp>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6"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Tree>
    <p:extLst>
      <p:ext uri="{BB962C8B-B14F-4D97-AF65-F5344CB8AC3E}">
        <p14:creationId xmlns="" xmlns:p14="http://schemas.microsoft.com/office/powerpoint/2010/main" val="423007644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91000" y="2209800"/>
            <a:ext cx="3505200" cy="1524000"/>
          </a:xfrm>
        </p:spPr>
        <p:txBody>
          <a:bodyPr/>
          <a:lstStyle/>
          <a:p>
            <a:r>
              <a:rPr lang="en-US" dirty="0" smtClean="0"/>
              <a:t>TRIGGERS</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a:bodyPr>
          <a:lstStyle/>
          <a:p>
            <a:r>
              <a:rPr lang="en-IN" sz="2400" dirty="0" smtClean="0"/>
              <a:t>A set of PL/SQL statements stored permanently in database and automatically activated whenever an event raising statement (DML) is executed.</a:t>
            </a:r>
          </a:p>
          <a:p>
            <a:r>
              <a:rPr lang="en-IN" sz="2400" dirty="0" smtClean="0"/>
              <a:t>They are stored in USER_TRIGGERS system table</a:t>
            </a:r>
          </a:p>
          <a:p>
            <a:r>
              <a:rPr lang="en-IN" sz="2400" dirty="0" smtClean="0"/>
              <a:t>They are used to impose business rules or user defined restrictions on table columns. </a:t>
            </a:r>
            <a:endParaRPr lang="en-IN" sz="2400" dirty="0"/>
          </a:p>
        </p:txBody>
      </p:sp>
      <p:pic>
        <p:nvPicPr>
          <p:cNvPr id="5"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7" name="Picture 6" descr="trigger.jpg"/>
          <p:cNvPicPr>
            <a:picLocks noChangeAspect="1"/>
          </p:cNvPicPr>
          <p:nvPr/>
        </p:nvPicPr>
        <p:blipFill>
          <a:blip r:embed="rId3" cstate="print"/>
          <a:stretch>
            <a:fillRect/>
          </a:stretch>
        </p:blipFill>
        <p:spPr>
          <a:xfrm>
            <a:off x="5486400" y="4572000"/>
            <a:ext cx="1233487" cy="1402612"/>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smtClean="0"/>
              <a:t>They are also activated when tables are manipulated by other application software tools.</a:t>
            </a:r>
          </a:p>
          <a:p>
            <a:r>
              <a:rPr lang="en-IN" sz="2400" dirty="0" smtClean="0"/>
              <a:t>They provide high security.</a:t>
            </a:r>
          </a:p>
          <a:p>
            <a:r>
              <a:rPr lang="en-IN" sz="2400" dirty="0" smtClean="0"/>
              <a:t>It will execute implicitly whenever the triggering event happens and trigger does not accept arguments.</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Triggering event</a:t>
            </a:r>
            <a:endParaRPr lang="en-IN" dirty="0"/>
          </a:p>
        </p:txBody>
      </p:sp>
      <p:sp>
        <p:nvSpPr>
          <p:cNvPr id="3" name="Content Placeholder 2"/>
          <p:cNvSpPr>
            <a:spLocks noGrp="1"/>
          </p:cNvSpPr>
          <p:nvPr>
            <p:ph idx="1"/>
          </p:nvPr>
        </p:nvSpPr>
        <p:spPr/>
        <p:txBody>
          <a:bodyPr/>
          <a:lstStyle/>
          <a:p>
            <a:pPr>
              <a:buNone/>
            </a:pPr>
            <a:r>
              <a:rPr lang="en-IN" b="1" dirty="0" smtClean="0"/>
              <a:t>Indicates when to activate the trigger</a:t>
            </a:r>
          </a:p>
          <a:p>
            <a:pPr>
              <a:buNone/>
            </a:pPr>
            <a:endParaRPr lang="en-IN" b="1" dirty="0" smtClean="0"/>
          </a:p>
          <a:p>
            <a:r>
              <a:rPr lang="en-IN" dirty="0" smtClean="0"/>
              <a:t>BEFORE –INSERT/UPDATE/DELETE.</a:t>
            </a:r>
          </a:p>
          <a:p>
            <a:r>
              <a:rPr lang="en-IN" dirty="0" smtClean="0"/>
              <a:t>AFTER –INSERT/UPDATE/DELETE.</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Trigger Restriction: –</a:t>
            </a:r>
            <a:endParaRPr lang="en-IN" dirty="0"/>
          </a:p>
        </p:txBody>
      </p:sp>
      <p:sp>
        <p:nvSpPr>
          <p:cNvPr id="3" name="Content Placeholder 2"/>
          <p:cNvSpPr>
            <a:spLocks noGrp="1"/>
          </p:cNvSpPr>
          <p:nvPr>
            <p:ph idx="1"/>
          </p:nvPr>
        </p:nvSpPr>
        <p:spPr/>
        <p:txBody>
          <a:bodyPr/>
          <a:lstStyle/>
          <a:p>
            <a:endParaRPr lang="en-IN" sz="2400" dirty="0" smtClean="0"/>
          </a:p>
          <a:p>
            <a:r>
              <a:rPr lang="en-IN" sz="2400" dirty="0" smtClean="0"/>
              <a:t>Used to stop the activation of trigger based on condition. If condition is TRUE trigger is active</a:t>
            </a:r>
            <a:r>
              <a:rPr lang="en-IN" dirty="0" smtClean="0"/>
              <a:t>.</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9" name="Picture 8" descr="TRIG.jpg"/>
          <p:cNvPicPr>
            <a:picLocks noChangeAspect="1"/>
          </p:cNvPicPr>
          <p:nvPr/>
        </p:nvPicPr>
        <p:blipFill>
          <a:blip r:embed="rId3" cstate="print"/>
          <a:stretch>
            <a:fillRect/>
          </a:stretch>
        </p:blipFill>
        <p:spPr>
          <a:xfrm>
            <a:off x="4495800" y="3962400"/>
            <a:ext cx="2486025" cy="1838325"/>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Trigger types:-</a:t>
            </a:r>
            <a:endParaRPr lang="en-IN" dirty="0"/>
          </a:p>
        </p:txBody>
      </p:sp>
      <p:sp>
        <p:nvSpPr>
          <p:cNvPr id="3" name="Content Placeholder 2"/>
          <p:cNvSpPr>
            <a:spLocks noGrp="1"/>
          </p:cNvSpPr>
          <p:nvPr>
            <p:ph idx="1"/>
          </p:nvPr>
        </p:nvSpPr>
        <p:spPr/>
        <p:txBody>
          <a:bodyPr/>
          <a:lstStyle/>
          <a:p>
            <a:pPr>
              <a:buNone/>
            </a:pPr>
            <a:r>
              <a:rPr lang="en-IN" b="1" dirty="0" smtClean="0"/>
              <a:t>Two types of Triggers are there</a:t>
            </a:r>
          </a:p>
          <a:p>
            <a:pPr>
              <a:buNone/>
            </a:pPr>
            <a:endParaRPr lang="en-IN" b="1" dirty="0" smtClean="0"/>
          </a:p>
          <a:p>
            <a:pPr marL="0" indent="0">
              <a:buNone/>
            </a:pPr>
            <a:r>
              <a:rPr lang="en-IN" dirty="0" smtClean="0"/>
              <a:t>1. Row level trigger- Activates the trigger for every row manipulated by DML statement</a:t>
            </a:r>
          </a:p>
          <a:p>
            <a:pPr marL="0" indent="0">
              <a:buNone/>
            </a:pPr>
            <a:r>
              <a:rPr lang="en-IN" dirty="0" smtClean="0"/>
              <a:t>2. Statement level trigger- Activates the trigger only one’s for one DML statement(default type).</a:t>
            </a:r>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r>
              <a:rPr lang="en-IN" b="1" dirty="0" smtClean="0"/>
              <a:t>Trigger body: –</a:t>
            </a:r>
            <a:br>
              <a:rPr lang="en-IN" b="1" dirty="0" smtClean="0"/>
            </a:br>
            <a:r>
              <a:rPr lang="en-IN" b="1" dirty="0" smtClean="0"/>
              <a:t> A set of PL/SQL statements.</a:t>
            </a:r>
            <a:endParaRPr lang="en-IN"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905000" y="2590800"/>
            <a:ext cx="4199625" cy="2971799"/>
          </a:xfrm>
          <a:prstGeom prst="rect">
            <a:avLst/>
          </a:prstGeom>
          <a:noFill/>
          <a:ln w="9525">
            <a:noFill/>
            <a:miter lim="800000"/>
            <a:headEnd/>
            <a:tailEnd/>
          </a:ln>
          <a:effectLst/>
        </p:spPr>
      </p:pic>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NEW and OLD </a:t>
            </a:r>
            <a:br>
              <a:rPr lang="en-IN" dirty="0" smtClean="0"/>
            </a:br>
            <a:r>
              <a:rPr lang="en-IN" dirty="0" smtClean="0"/>
              <a:t>(pseudo columns) :</a:t>
            </a:r>
            <a:endParaRPr lang="en-IN" dirty="0"/>
          </a:p>
        </p:txBody>
      </p:sp>
      <p:sp>
        <p:nvSpPr>
          <p:cNvPr id="3" name="Content Placeholder 2"/>
          <p:cNvSpPr>
            <a:spLocks noGrp="1"/>
          </p:cNvSpPr>
          <p:nvPr>
            <p:ph idx="1"/>
          </p:nvPr>
        </p:nvSpPr>
        <p:spPr>
          <a:xfrm>
            <a:off x="457200" y="1905000"/>
            <a:ext cx="7239000" cy="2886384"/>
          </a:xfrm>
        </p:spPr>
        <p:txBody>
          <a:bodyPr>
            <a:normAutofit/>
          </a:bodyPr>
          <a:lstStyle/>
          <a:p>
            <a:r>
              <a:rPr lang="en-IN" dirty="0" smtClean="0"/>
              <a:t>Used to retrieve data from DML statement temporary buffer to trigger body</a:t>
            </a:r>
          </a:p>
          <a:p>
            <a:r>
              <a:rPr lang="en-IN" dirty="0" smtClean="0"/>
              <a:t>Valid with ROW level trigger only</a:t>
            </a:r>
          </a:p>
          <a:p>
            <a:r>
              <a:rPr lang="en-IN" dirty="0" smtClean="0"/>
              <a:t>This clause is used to reference the old and new values of the data being changed. </a:t>
            </a:r>
          </a:p>
          <a:p>
            <a:endParaRPr lang="en-IN" dirty="0" smtClean="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None/>
            </a:pPr>
            <a:r>
              <a:rPr lang="en-IN" sz="2400" dirty="0" smtClean="0"/>
              <a:t>By default, you reference the values as: </a:t>
            </a:r>
            <a:r>
              <a:rPr lang="en-IN" sz="2400" dirty="0" smtClean="0"/>
              <a:t>:</a:t>
            </a:r>
            <a:r>
              <a:rPr lang="en-IN" sz="2400" dirty="0" err="1" smtClean="0"/>
              <a:t>old.column_name</a:t>
            </a:r>
            <a:r>
              <a:rPr lang="en-IN" sz="2400" dirty="0" smtClean="0"/>
              <a:t> </a:t>
            </a:r>
            <a:endParaRPr lang="en-IN" sz="2400" dirty="0" smtClean="0"/>
          </a:p>
          <a:p>
            <a:pPr>
              <a:buNone/>
            </a:pPr>
            <a:r>
              <a:rPr lang="en-IN" sz="2400" dirty="0" smtClean="0"/>
              <a:t>      or</a:t>
            </a:r>
          </a:p>
          <a:p>
            <a:pPr>
              <a:buNone/>
            </a:pPr>
            <a:r>
              <a:rPr lang="en-IN" sz="2400" dirty="0" smtClean="0"/>
              <a:t>    : </a:t>
            </a:r>
            <a:r>
              <a:rPr lang="en-IN" sz="2400" dirty="0" smtClean="0"/>
              <a:t>new.column_name. </a:t>
            </a:r>
          </a:p>
          <a:p>
            <a:pPr>
              <a:buNone/>
            </a:pPr>
            <a:endParaRPr lang="en-IN" sz="2400" dirty="0" smtClean="0"/>
          </a:p>
          <a:p>
            <a:r>
              <a:rPr lang="en-IN" sz="2400" dirty="0" smtClean="0"/>
              <a:t>The reference names can also be changed from old (or new) to any other user-defined name. You cannot</a:t>
            </a:r>
          </a:p>
          <a:p>
            <a:pPr>
              <a:buNone/>
            </a:pPr>
            <a:r>
              <a:rPr lang="en-IN" sz="2400" dirty="0" smtClean="0"/>
              <a:t>    reference old values when inserting a record, or new values when deleting a record,because they do not exist.</a:t>
            </a:r>
          </a:p>
          <a:p>
            <a:endParaRPr lang="en-IN" sz="2400"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ROW LEVEL TRIGGER</a:t>
            </a:r>
            <a:endParaRPr lang="en-IN" dirty="0"/>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The trigger body executes once for each row affected by the triggering event.</a:t>
            </a:r>
          </a:p>
          <a:p>
            <a:r>
              <a:rPr lang="en-IN" sz="2400" dirty="0" smtClean="0">
                <a:latin typeface="Times New Roman" pitchFamily="18" charset="0"/>
                <a:cs typeface="Times New Roman" pitchFamily="18" charset="0"/>
              </a:rPr>
              <a:t> A row level trigger is not executed if the triggering event affects no rows.</a:t>
            </a:r>
          </a:p>
          <a:p>
            <a:r>
              <a:rPr lang="en-IN" sz="2400" dirty="0" smtClean="0">
                <a:latin typeface="Times New Roman" pitchFamily="18" charset="0"/>
                <a:cs typeface="Times New Roman" pitchFamily="18" charset="0"/>
              </a:rPr>
              <a:t> Row level triggers are useful if the trigger action depends on data of rows that are affected or on data provided by the triggering event itself.</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8"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a:bodyPr>
          <a:lstStyle/>
          <a:p>
            <a:pPr>
              <a:buNone/>
            </a:pPr>
            <a:endParaRPr lang="en-IN" sz="2400" b="1" dirty="0" smtClean="0">
              <a:latin typeface="Times New Roman" pitchFamily="18" charset="0"/>
              <a:cs typeface="Times New Roman" pitchFamily="18" charset="0"/>
            </a:endParaRPr>
          </a:p>
          <a:p>
            <a:pPr>
              <a:buFont typeface="Wingdings" pitchFamily="2" charset="2"/>
              <a:buChar char="Ø"/>
            </a:pPr>
            <a:r>
              <a:rPr lang="en-IN" sz="2400" dirty="0" smtClean="0">
                <a:latin typeface="Times New Roman" pitchFamily="18" charset="0"/>
                <a:cs typeface="Times New Roman" pitchFamily="18" charset="0"/>
              </a:rPr>
              <a:t>CREATE OR REPLACE TRIGGER up_ename</a:t>
            </a:r>
          </a:p>
          <a:p>
            <a:pPr>
              <a:buNone/>
            </a:pPr>
            <a:r>
              <a:rPr lang="en-IN" sz="2400" dirty="0" smtClean="0">
                <a:latin typeface="Times New Roman" pitchFamily="18" charset="0"/>
                <a:cs typeface="Times New Roman" pitchFamily="18" charset="0"/>
              </a:rPr>
              <a:t>    BEFORE INSERT</a:t>
            </a:r>
          </a:p>
          <a:p>
            <a:pPr>
              <a:buNone/>
            </a:pPr>
            <a:r>
              <a:rPr lang="en-IN" sz="2400" dirty="0" smtClean="0">
                <a:latin typeface="Times New Roman" pitchFamily="18" charset="0"/>
                <a:cs typeface="Times New Roman" pitchFamily="18" charset="0"/>
              </a:rPr>
              <a:t>    ON emp</a:t>
            </a:r>
          </a:p>
          <a:p>
            <a:pPr>
              <a:buNone/>
            </a:pPr>
            <a:r>
              <a:rPr lang="en-IN" sz="2400" dirty="0" smtClean="0">
                <a:latin typeface="Times New Roman" pitchFamily="18" charset="0"/>
                <a:cs typeface="Times New Roman" pitchFamily="18" charset="0"/>
              </a:rPr>
              <a:t>    FOR EACH ROW</a:t>
            </a:r>
          </a:p>
          <a:p>
            <a:pPr>
              <a:buNone/>
            </a:pPr>
            <a:r>
              <a:rPr lang="en-IN" sz="2400" dirty="0" smtClean="0">
                <a:latin typeface="Times New Roman" pitchFamily="18" charset="0"/>
                <a:cs typeface="Times New Roman" pitchFamily="18" charset="0"/>
              </a:rPr>
              <a:t>    BEGIN</a:t>
            </a:r>
          </a:p>
          <a:p>
            <a:pPr>
              <a:buNone/>
            </a:pPr>
            <a:r>
              <a:rPr lang="en-IN" sz="2400" dirty="0" smtClean="0">
                <a:latin typeface="Times New Roman" pitchFamily="18" charset="0"/>
                <a:cs typeface="Times New Roman" pitchFamily="18" charset="0"/>
              </a:rPr>
              <a:t>    :NEW.ename := UPPER (:NEW.ename);</a:t>
            </a:r>
          </a:p>
          <a:p>
            <a:pPr>
              <a:buNone/>
            </a:pPr>
            <a:r>
              <a:rPr lang="en-IN" sz="2400" dirty="0" smtClean="0">
                <a:latin typeface="Times New Roman" pitchFamily="18" charset="0"/>
                <a:cs typeface="Times New Roman" pitchFamily="18" charset="0"/>
              </a:rPr>
              <a:t>     END;</a:t>
            </a:r>
          </a:p>
          <a:p>
            <a:pPr>
              <a:buNone/>
            </a:pPr>
            <a:r>
              <a:rPr lang="en-IN" sz="2400" dirty="0" smtClean="0">
                <a:latin typeface="Times New Roman" pitchFamily="18" charset="0"/>
                <a:cs typeface="Times New Roman" pitchFamily="18" charset="0"/>
              </a:rPr>
              <a:t>– Trigger created.</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IN" sz="2400" dirty="0" smtClean="0">
                <a:latin typeface="Times New Roman" pitchFamily="18" charset="0"/>
                <a:cs typeface="Times New Roman" pitchFamily="18" charset="0"/>
              </a:rPr>
              <a:t>Now we are going to insert record into ‘emp’ table</a:t>
            </a:r>
          </a:p>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 INSERT INTO emp (empno, ename, sal, comm, deptno)</a:t>
            </a:r>
          </a:p>
          <a:p>
            <a:pPr>
              <a:buNone/>
            </a:pPr>
            <a:r>
              <a:rPr lang="en-IN" sz="2400" dirty="0" smtClean="0">
                <a:latin typeface="Times New Roman" pitchFamily="18" charset="0"/>
                <a:cs typeface="Times New Roman" pitchFamily="18" charset="0"/>
              </a:rPr>
              <a:t>VALUES (7711, 'andrew',3500, 500, 10);</a:t>
            </a:r>
          </a:p>
          <a:p>
            <a:pPr>
              <a:buNone/>
            </a:pPr>
            <a:r>
              <a:rPr lang="en-US" sz="2400" dirty="0" smtClean="0">
                <a:latin typeface="Times New Roman" pitchFamily="18" charset="0"/>
                <a:cs typeface="Times New Roman" pitchFamily="18" charset="0"/>
              </a:rPr>
              <a:t>--inserted</a:t>
            </a:r>
          </a:p>
          <a:p>
            <a:r>
              <a:rPr lang="en-IN" sz="2400" dirty="0" smtClean="0">
                <a:latin typeface="Times New Roman" pitchFamily="18" charset="0"/>
                <a:cs typeface="Times New Roman" pitchFamily="18" charset="0"/>
              </a:rPr>
              <a:t>SELECT * FROM emp WHERE empno=7711;</a:t>
            </a:r>
          </a:p>
          <a:p>
            <a:pPr>
              <a:buNone/>
            </a:pPr>
            <a:r>
              <a:rPr lang="en-IN" sz="2400" dirty="0" smtClean="0">
                <a:latin typeface="Times New Roman" pitchFamily="18" charset="0"/>
                <a:cs typeface="Times New Roman" pitchFamily="18" charset="0"/>
              </a:rPr>
              <a:t>Output:-</a:t>
            </a:r>
          </a:p>
          <a:p>
            <a:pPr>
              <a:buFont typeface="Wingdings" pitchFamily="2" charset="2"/>
              <a:buChar char="§"/>
            </a:pPr>
            <a:r>
              <a:rPr lang="en-IN" sz="2400" dirty="0" smtClean="0">
                <a:latin typeface="Times New Roman" pitchFamily="18" charset="0"/>
                <a:cs typeface="Times New Roman" pitchFamily="18" charset="0"/>
              </a:rPr>
              <a:t>7711 ANDREW 3500 500 10</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7239000" cy="853440"/>
          </a:xfrm>
        </p:spPr>
        <p:txBody>
          <a:bodyPr>
            <a:normAutofit/>
          </a:bodyPr>
          <a:lstStyle/>
          <a:p>
            <a:r>
              <a:rPr lang="en-IN" b="1" dirty="0" smtClean="0"/>
              <a:t>STATEMENT LEVEL TRIGGER</a:t>
            </a:r>
            <a:endParaRPr lang="en-IN" dirty="0"/>
          </a:p>
        </p:txBody>
      </p:sp>
      <p:sp>
        <p:nvSpPr>
          <p:cNvPr id="3" name="Content Placeholder 2"/>
          <p:cNvSpPr>
            <a:spLocks noGrp="1"/>
          </p:cNvSpPr>
          <p:nvPr>
            <p:ph idx="1"/>
          </p:nvPr>
        </p:nvSpPr>
        <p:spPr/>
        <p:txBody>
          <a:bodyPr>
            <a:normAutofit/>
          </a:bodyPr>
          <a:lstStyle/>
          <a:p>
            <a:r>
              <a:rPr lang="en-IN" sz="2800" dirty="0" smtClean="0">
                <a:latin typeface="Times New Roman" pitchFamily="18" charset="0"/>
                <a:cs typeface="Times New Roman" pitchFamily="18" charset="0"/>
              </a:rPr>
              <a:t>Activates the trigger for only once for one DML statement.</a:t>
            </a:r>
          </a:p>
          <a:p>
            <a:r>
              <a:rPr lang="en-IN" sz="2800" dirty="0" smtClean="0">
                <a:latin typeface="Times New Roman" pitchFamily="18" charset="0"/>
                <a:cs typeface="Times New Roman" pitchFamily="18" charset="0"/>
              </a:rPr>
              <a:t>A statement trigger is fired once on behalf of the triggering event, even if no rows are affected at all.</a:t>
            </a:r>
          </a:p>
        </p:txBody>
      </p:sp>
      <p:pic>
        <p:nvPicPr>
          <p:cNvPr id="4" name="Content Placeholder 10" descr="image001.png"/>
          <p:cNvPicPr>
            <a:picLocks noChangeAspect="1"/>
          </p:cNvPicPr>
          <p:nvPr/>
        </p:nvPicPr>
        <p:blipFill>
          <a:blip r:embed="rId3"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a:t>
            </a:r>
            <a:br>
              <a:rPr lang="en-IN" dirty="0" smtClean="0"/>
            </a:br>
            <a:endParaRPr lang="en-IN" dirty="0"/>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 CREATE OR REPLACE TRIGGER sec_emp</a:t>
            </a:r>
          </a:p>
          <a:p>
            <a:pPr>
              <a:buNone/>
            </a:pPr>
            <a:r>
              <a:rPr lang="en-IN" sz="2400" dirty="0" smtClean="0">
                <a:latin typeface="Times New Roman" pitchFamily="18" charset="0"/>
                <a:cs typeface="Times New Roman" pitchFamily="18" charset="0"/>
              </a:rPr>
              <a:t>    BEFORE INSERT ON emp</a:t>
            </a:r>
          </a:p>
          <a:p>
            <a:pPr>
              <a:buNone/>
            </a:pPr>
            <a:r>
              <a:rPr lang="en-IN" sz="2400" dirty="0" smtClean="0">
                <a:latin typeface="Times New Roman" pitchFamily="18" charset="0"/>
                <a:cs typeface="Times New Roman" pitchFamily="18" charset="0"/>
              </a:rPr>
              <a:t>    BEGIN</a:t>
            </a:r>
          </a:p>
          <a:p>
            <a:pPr>
              <a:buNone/>
            </a:pPr>
            <a:r>
              <a:rPr lang="en-IN" sz="2400" dirty="0" smtClean="0">
                <a:latin typeface="Times New Roman" pitchFamily="18" charset="0"/>
                <a:cs typeface="Times New Roman" pitchFamily="18" charset="0"/>
              </a:rPr>
              <a:t>    IF TO_CHAR (SYSDATE,'DY') in ('SAT','SUN') THEN</a:t>
            </a:r>
          </a:p>
          <a:p>
            <a:pPr>
              <a:buNone/>
            </a:pPr>
            <a:r>
              <a:rPr lang="en-IN" sz="2400" dirty="0" smtClean="0">
                <a:latin typeface="Times New Roman" pitchFamily="18" charset="0"/>
                <a:cs typeface="Times New Roman" pitchFamily="18" charset="0"/>
              </a:rPr>
              <a:t>    RAISE_APPLICATION_ERROR (-20101,'in week ends we can not insert record');</a:t>
            </a:r>
          </a:p>
          <a:p>
            <a:pPr>
              <a:buNone/>
            </a:pPr>
            <a:r>
              <a:rPr lang="en-IN" sz="2400" dirty="0" smtClean="0">
                <a:latin typeface="Times New Roman" pitchFamily="18" charset="0"/>
                <a:cs typeface="Times New Roman" pitchFamily="18" charset="0"/>
              </a:rPr>
              <a:t>    END IF;</a:t>
            </a:r>
          </a:p>
          <a:p>
            <a:pPr>
              <a:buNone/>
            </a:pPr>
            <a:r>
              <a:rPr lang="en-IN" sz="2400" dirty="0" smtClean="0">
                <a:latin typeface="Times New Roman" pitchFamily="18" charset="0"/>
                <a:cs typeface="Times New Roman" pitchFamily="18" charset="0"/>
              </a:rPr>
              <a:t>    END;</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7239000" cy="4846320"/>
          </a:xfrm>
        </p:spPr>
        <p:txBody>
          <a:bodyPr>
            <a:normAutofit/>
          </a:bodyPr>
          <a:lstStyle/>
          <a:p>
            <a:r>
              <a:rPr lang="en-IN" sz="2400" dirty="0" smtClean="0">
                <a:latin typeface="Times New Roman" pitchFamily="18" charset="0"/>
                <a:cs typeface="Times New Roman" pitchFamily="18" charset="0"/>
              </a:rPr>
              <a:t>INSERT INTO</a:t>
            </a:r>
          </a:p>
          <a:p>
            <a:pPr>
              <a:buNone/>
            </a:pPr>
            <a:r>
              <a:rPr lang="en-IN" sz="2400" dirty="0" smtClean="0">
                <a:latin typeface="Times New Roman" pitchFamily="18" charset="0"/>
                <a:cs typeface="Times New Roman" pitchFamily="18" charset="0"/>
              </a:rPr>
              <a:t>   EMP(EMPNO, ENAME, DEPTNO) VALUES</a:t>
            </a:r>
          </a:p>
          <a:p>
            <a:pPr>
              <a:buNone/>
            </a:pPr>
            <a:r>
              <a:rPr lang="en-IN" sz="2400" dirty="0" smtClean="0">
                <a:latin typeface="Times New Roman" pitchFamily="18" charset="0"/>
                <a:cs typeface="Times New Roman" pitchFamily="18" charset="0"/>
              </a:rPr>
              <a:t>   (7913, ’mike’, 10);</a:t>
            </a:r>
          </a:p>
          <a:p>
            <a:pPr>
              <a:buNone/>
            </a:pP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Output:-</a:t>
            </a:r>
          </a:p>
          <a:p>
            <a:pPr>
              <a:buNone/>
            </a:pPr>
            <a:r>
              <a:rPr lang="en-IN" sz="2400" dirty="0" smtClean="0">
                <a:latin typeface="Times New Roman" pitchFamily="18" charset="0"/>
                <a:cs typeface="Times New Roman" pitchFamily="18" charset="0"/>
              </a:rPr>
              <a:t>    Error report: SQL Error: ORA-20101: in week ends we cannot insert record ORA-06512: at “APPS.SEC_EMP” ORA-04088: error during execution of trigger‘APPS.SEC_EMP’</a:t>
            </a:r>
          </a:p>
          <a:p>
            <a:pPr>
              <a:buNone/>
            </a:pPr>
            <a:endParaRPr lang="en-IN"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Trigger Execution Hierarchy</a:t>
            </a:r>
            <a:endParaRPr lang="en-IN" dirty="0"/>
          </a:p>
        </p:txBody>
      </p:sp>
      <p:sp>
        <p:nvSpPr>
          <p:cNvPr id="3" name="Content Placeholder 2"/>
          <p:cNvSpPr>
            <a:spLocks noGrp="1"/>
          </p:cNvSpPr>
          <p:nvPr>
            <p:ph idx="1"/>
          </p:nvPr>
        </p:nvSpPr>
        <p:spPr/>
        <p:txBody>
          <a:bodyPr>
            <a:normAutofit/>
          </a:bodyPr>
          <a:lstStyle/>
          <a:p>
            <a:r>
              <a:rPr lang="en-IN" b="1" dirty="0" smtClean="0">
                <a:latin typeface="Times New Roman" pitchFamily="18" charset="0"/>
                <a:cs typeface="Times New Roman" pitchFamily="18" charset="0"/>
              </a:rPr>
              <a:t>PL/SQL Trigger Execution Hierarchy</a:t>
            </a:r>
          </a:p>
          <a:p>
            <a:pPr>
              <a:buNone/>
            </a:pPr>
            <a:r>
              <a:rPr lang="en-IN" dirty="0" smtClean="0">
                <a:latin typeface="Times New Roman" pitchFamily="18" charset="0"/>
                <a:cs typeface="Times New Roman" pitchFamily="18" charset="0"/>
              </a:rPr>
              <a:t>    The following is the sequence in which different triggers are fired.</a:t>
            </a:r>
          </a:p>
          <a:p>
            <a:pPr>
              <a:buFont typeface="Wingdings" pitchFamily="2" charset="2"/>
              <a:buChar char="q"/>
            </a:pP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Before statement level</a:t>
            </a:r>
          </a:p>
          <a:p>
            <a:pPr>
              <a:buFont typeface="Wingdings" pitchFamily="2" charset="2"/>
              <a:buChar char="q"/>
            </a:pP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Before row level</a:t>
            </a:r>
          </a:p>
          <a:p>
            <a:pPr>
              <a:buFont typeface="Wingdings" pitchFamily="2" charset="2"/>
              <a:buChar char="q"/>
            </a:pP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After row level</a:t>
            </a:r>
          </a:p>
          <a:p>
            <a:pPr>
              <a:buFont typeface="Wingdings" pitchFamily="2" charset="2"/>
              <a:buChar char="q"/>
            </a:pPr>
            <a:r>
              <a:rPr lang="en-IN" dirty="0" smtClean="0">
                <a:latin typeface="Times New Roman" pitchFamily="18" charset="0"/>
                <a:cs typeface="Times New Roman" pitchFamily="18" charset="0"/>
              </a:rPr>
              <a:t> </a:t>
            </a:r>
            <a:r>
              <a:rPr lang="en-IN" b="1" dirty="0" smtClean="0">
                <a:latin typeface="Times New Roman" pitchFamily="18" charset="0"/>
                <a:cs typeface="Times New Roman" pitchFamily="18" charset="0"/>
              </a:rPr>
              <a:t>After statement level</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381000"/>
            <a:ext cx="7239000" cy="853440"/>
          </a:xfrm>
        </p:spPr>
        <p:txBody>
          <a:bodyPr>
            <a:normAutofit/>
          </a:bodyPr>
          <a:lstStyle/>
          <a:p>
            <a:r>
              <a:rPr lang="en-IN" dirty="0" smtClean="0"/>
              <a:t>Before statement level</a:t>
            </a:r>
            <a:endParaRPr lang="en-IN" dirty="0"/>
          </a:p>
        </p:txBody>
      </p:sp>
      <p:sp>
        <p:nvSpPr>
          <p:cNvPr id="3" name="Content Placeholder 2"/>
          <p:cNvSpPr>
            <a:spLocks noGrp="1"/>
          </p:cNvSpPr>
          <p:nvPr>
            <p:ph idx="1"/>
          </p:nvPr>
        </p:nvSpPr>
        <p:spPr>
          <a:xfrm>
            <a:off x="457200" y="1524000"/>
            <a:ext cx="7239000" cy="5105400"/>
          </a:xfrm>
        </p:spPr>
        <p:txBody>
          <a:bodyPr>
            <a:noAutofit/>
          </a:bodyPr>
          <a:lstStyle/>
          <a:p>
            <a:pPr marL="514350" indent="-514350">
              <a:buFont typeface="Wingdings" pitchFamily="2" charset="2"/>
              <a:buChar char="Ø"/>
            </a:pPr>
            <a:r>
              <a:rPr lang="en-IN" sz="2400" b="1" dirty="0" smtClean="0">
                <a:latin typeface="Times New Roman" pitchFamily="18" charset="0"/>
                <a:cs typeface="Times New Roman" pitchFamily="18" charset="0"/>
              </a:rPr>
              <a:t>BEFORE </a:t>
            </a:r>
            <a:r>
              <a:rPr lang="en-IN" sz="2400" b="1" dirty="0" smtClean="0">
                <a:solidFill>
                  <a:srgbClr val="C00000"/>
                </a:solidFill>
                <a:latin typeface="Times New Roman" pitchFamily="18" charset="0"/>
                <a:cs typeface="Times New Roman" pitchFamily="18" charset="0"/>
              </a:rPr>
              <a:t>UPDATE</a:t>
            </a:r>
            <a:r>
              <a:rPr lang="en-IN" sz="2400" b="1" dirty="0" smtClean="0">
                <a:latin typeface="Times New Roman" pitchFamily="18" charset="0"/>
                <a:cs typeface="Times New Roman" pitchFamily="18" charset="0"/>
              </a:rPr>
              <a:t> STATEMENT LEVEL: </a:t>
            </a:r>
          </a:p>
          <a:p>
            <a:pPr marL="514350" indent="-514350">
              <a:buNone/>
            </a:pPr>
            <a:r>
              <a:rPr lang="en-IN" sz="2400" b="1" dirty="0" smtClean="0">
                <a:latin typeface="Times New Roman" pitchFamily="18" charset="0"/>
                <a:cs typeface="Times New Roman" pitchFamily="18" charset="0"/>
              </a:rPr>
              <a:t>       This trigger will insert a record into the table ‘test’ before a sql update</a:t>
            </a:r>
          </a:p>
          <a:p>
            <a:pPr>
              <a:buNone/>
            </a:pPr>
            <a:endParaRPr lang="en-IN" sz="2400"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CREATE OR REPLACE TRIGGER emp_sal_upd_stmt_level_trig</a:t>
            </a:r>
          </a:p>
          <a:p>
            <a:pPr>
              <a:buNone/>
            </a:pPr>
            <a:r>
              <a:rPr lang="en-IN" sz="2400" dirty="0" smtClean="0">
                <a:latin typeface="Times New Roman" pitchFamily="18" charset="0"/>
                <a:cs typeface="Times New Roman" pitchFamily="18" charset="0"/>
              </a:rPr>
              <a:t>    BEFORE UPDATE ON emp</a:t>
            </a:r>
          </a:p>
          <a:p>
            <a:pPr>
              <a:buNone/>
            </a:pPr>
            <a:r>
              <a:rPr lang="en-IN" sz="2400" dirty="0" smtClean="0">
                <a:latin typeface="Times New Roman" pitchFamily="18" charset="0"/>
                <a:cs typeface="Times New Roman" pitchFamily="18" charset="0"/>
              </a:rPr>
              <a:t>    BEGIN</a:t>
            </a:r>
          </a:p>
          <a:p>
            <a:pPr>
              <a:buNone/>
            </a:pPr>
            <a:r>
              <a:rPr lang="en-IN" sz="2400" dirty="0" smtClean="0">
                <a:latin typeface="Times New Roman" pitchFamily="18" charset="0"/>
                <a:cs typeface="Times New Roman" pitchFamily="18" charset="0"/>
              </a:rPr>
              <a:t>    DBMS_OUTPUT.PUT_LINE('Updating employees ');</a:t>
            </a:r>
          </a:p>
          <a:p>
            <a:pPr>
              <a:buNone/>
            </a:pPr>
            <a:r>
              <a:rPr lang="en-IN" sz="2400" dirty="0" smtClean="0">
                <a:latin typeface="Times New Roman" pitchFamily="18" charset="0"/>
                <a:cs typeface="Times New Roman" pitchFamily="18" charset="0"/>
              </a:rPr>
              <a:t>    INSERT INTO test values('Stmt level Before update - Updating employees ');</a:t>
            </a:r>
          </a:p>
          <a:p>
            <a:pPr>
              <a:buNone/>
            </a:pPr>
            <a:r>
              <a:rPr lang="en-IN" sz="2400" dirty="0" smtClean="0">
                <a:latin typeface="Times New Roman" pitchFamily="18" charset="0"/>
                <a:cs typeface="Times New Roman" pitchFamily="18" charset="0"/>
              </a:rPr>
              <a:t>    END;</a:t>
            </a: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7"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BEFORE UPDATE, ROW LEVEL:</a:t>
            </a:r>
            <a:endParaRPr lang="en-IN" dirty="0"/>
          </a:p>
        </p:txBody>
      </p:sp>
      <p:sp>
        <p:nvSpPr>
          <p:cNvPr id="3" name="Content Placeholder 2"/>
          <p:cNvSpPr>
            <a:spLocks noGrp="1"/>
          </p:cNvSpPr>
          <p:nvPr>
            <p:ph idx="1"/>
          </p:nvPr>
        </p:nvSpPr>
        <p:spPr/>
        <p:txBody>
          <a:bodyPr>
            <a:normAutofit/>
          </a:bodyPr>
          <a:lstStyle/>
          <a:p>
            <a:pPr>
              <a:buNone/>
            </a:pPr>
            <a:r>
              <a:rPr lang="en-IN" sz="2400" b="1" dirty="0" smtClean="0">
                <a:latin typeface="Times New Roman" pitchFamily="18" charset="0"/>
                <a:cs typeface="Times New Roman" pitchFamily="18" charset="0"/>
              </a:rPr>
              <a:t>2This trigger will insert a record into the table ‘test’ before each row is updated.</a:t>
            </a:r>
          </a:p>
          <a:p>
            <a:r>
              <a:rPr lang="en-IN" sz="2400" dirty="0" smtClean="0">
                <a:latin typeface="Times New Roman" pitchFamily="18" charset="0"/>
                <a:cs typeface="Times New Roman" pitchFamily="18" charset="0"/>
              </a:rPr>
              <a:t>CREATE OR REPLACE TRIGGER emp_sal_upd_stmt_level_trig</a:t>
            </a:r>
          </a:p>
          <a:p>
            <a:pPr>
              <a:buNone/>
            </a:pPr>
            <a:r>
              <a:rPr lang="en-IN" sz="2400" dirty="0" smtClean="0">
                <a:latin typeface="Times New Roman" pitchFamily="18" charset="0"/>
                <a:cs typeface="Times New Roman" pitchFamily="18" charset="0"/>
              </a:rPr>
              <a:t>    BEFORE UPDATE ON emp</a:t>
            </a:r>
          </a:p>
          <a:p>
            <a:pPr>
              <a:buNone/>
            </a:pPr>
            <a:r>
              <a:rPr lang="en-IN" sz="2400" dirty="0" smtClean="0">
                <a:latin typeface="Times New Roman" pitchFamily="18" charset="0"/>
                <a:cs typeface="Times New Roman" pitchFamily="18" charset="0"/>
              </a:rPr>
              <a:t>    FOR EACH ROW</a:t>
            </a:r>
          </a:p>
          <a:p>
            <a:pPr>
              <a:buNone/>
            </a:pPr>
            <a:r>
              <a:rPr lang="en-IN" sz="2400" dirty="0" smtClean="0">
                <a:latin typeface="Times New Roman" pitchFamily="18" charset="0"/>
                <a:cs typeface="Times New Roman" pitchFamily="18" charset="0"/>
              </a:rPr>
              <a:t>    DECLARE</a:t>
            </a:r>
          </a:p>
          <a:p>
            <a:pPr>
              <a:buNone/>
            </a:pPr>
            <a:r>
              <a:rPr lang="en-IN" sz="2400" dirty="0" smtClean="0">
                <a:latin typeface="Times New Roman" pitchFamily="18" charset="0"/>
                <a:cs typeface="Times New Roman" pitchFamily="18" charset="0"/>
              </a:rPr>
              <a:t>    sal_diff NUMBER;</a:t>
            </a: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7239000" cy="5410200"/>
          </a:xfrm>
        </p:spPr>
        <p:txBody>
          <a:bodyPr>
            <a:noAutofit/>
          </a:bodyPr>
          <a:lstStyle/>
          <a:p>
            <a:pPr>
              <a:buNone/>
            </a:pPr>
            <a:r>
              <a:rPr lang="en-IN" sz="2400" dirty="0" smtClean="0">
                <a:latin typeface="Times New Roman" pitchFamily="18" charset="0"/>
                <a:cs typeface="Times New Roman" pitchFamily="18" charset="0"/>
              </a:rPr>
              <a:t>BEGIN</a:t>
            </a:r>
          </a:p>
          <a:p>
            <a:pPr>
              <a:buNone/>
            </a:pPr>
            <a:r>
              <a:rPr lang="en-IN" sz="2400" dirty="0" smtClean="0">
                <a:latin typeface="Times New Roman" pitchFamily="18" charset="0"/>
                <a:cs typeface="Times New Roman" pitchFamily="18" charset="0"/>
              </a:rPr>
              <a:t>sal_diff := :NEW.sal - :OLD.sal;</a:t>
            </a:r>
          </a:p>
          <a:p>
            <a:pPr>
              <a:buNone/>
            </a:pPr>
            <a:r>
              <a:rPr lang="en-IN" sz="2400" dirty="0" smtClean="0">
                <a:latin typeface="Times New Roman" pitchFamily="18" charset="0"/>
                <a:cs typeface="Times New Roman" pitchFamily="18" charset="0"/>
              </a:rPr>
              <a:t>DBMS_OUTPUT.PUT_LINE('Updating employee ' || :OLD.empno);</a:t>
            </a:r>
          </a:p>
          <a:p>
            <a:pPr>
              <a:buNone/>
            </a:pPr>
            <a:r>
              <a:rPr lang="en-IN" sz="2400" dirty="0" smtClean="0">
                <a:latin typeface="Times New Roman" pitchFamily="18" charset="0"/>
                <a:cs typeface="Times New Roman" pitchFamily="18" charset="0"/>
              </a:rPr>
              <a:t>DBMS_OUTPUT.PUT_LINE('..Old salary: ' || :OLD.sal);</a:t>
            </a:r>
          </a:p>
          <a:p>
            <a:pPr>
              <a:buNone/>
            </a:pPr>
            <a:r>
              <a:rPr lang="en-IN" sz="2400" dirty="0" smtClean="0">
                <a:latin typeface="Times New Roman" pitchFamily="18" charset="0"/>
                <a:cs typeface="Times New Roman" pitchFamily="18" charset="0"/>
              </a:rPr>
              <a:t>DBMS_OUTPUT.PUT_LINE('..New salary: ' || :NEW.sal);</a:t>
            </a:r>
          </a:p>
          <a:p>
            <a:pPr>
              <a:buNone/>
            </a:pPr>
            <a:r>
              <a:rPr lang="en-IN" sz="2400" dirty="0" smtClean="0">
                <a:latin typeface="Times New Roman" pitchFamily="18" charset="0"/>
                <a:cs typeface="Times New Roman" pitchFamily="18" charset="0"/>
              </a:rPr>
              <a:t>DBMS_OUTPUT.PUT_LINE('..Raise : ' || sal_diff);</a:t>
            </a:r>
          </a:p>
          <a:p>
            <a:pPr>
              <a:buNone/>
            </a:pPr>
            <a:r>
              <a:rPr lang="en-IN" sz="2400" dirty="0" smtClean="0">
                <a:latin typeface="Times New Roman" pitchFamily="18" charset="0"/>
                <a:cs typeface="Times New Roman" pitchFamily="18" charset="0"/>
              </a:rPr>
              <a:t>Insert into test values('Row level Before update - Updating employee ' || :OLD.empno);</a:t>
            </a:r>
          </a:p>
          <a:p>
            <a:pPr>
              <a:buNone/>
            </a:pPr>
            <a:r>
              <a:rPr lang="en-IN" sz="2400" dirty="0" smtClean="0">
                <a:latin typeface="Times New Roman" pitchFamily="18" charset="0"/>
                <a:cs typeface="Times New Roman" pitchFamily="18" charset="0"/>
              </a:rPr>
              <a:t>END;</a:t>
            </a:r>
          </a:p>
          <a:p>
            <a:pPr>
              <a:buNone/>
            </a:pPr>
            <a:r>
              <a:rPr lang="en-IN" sz="2400" dirty="0" smtClean="0">
                <a:latin typeface="Times New Roman" pitchFamily="18" charset="0"/>
                <a:cs typeface="Times New Roman" pitchFamily="18" charset="0"/>
              </a:rPr>
              <a:t>/</a:t>
            </a:r>
          </a:p>
          <a:p>
            <a:pPr>
              <a:buNone/>
            </a:pPr>
            <a:endParaRPr lang="en-IN" sz="24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AFTER UPDATE, STATEMENT LEVEL:</a:t>
            </a:r>
            <a:endParaRPr lang="en-IN" dirty="0"/>
          </a:p>
        </p:txBody>
      </p:sp>
      <p:sp>
        <p:nvSpPr>
          <p:cNvPr id="3" name="Content Placeholder 2"/>
          <p:cNvSpPr>
            <a:spLocks noGrp="1"/>
          </p:cNvSpPr>
          <p:nvPr>
            <p:ph idx="1"/>
          </p:nvPr>
        </p:nvSpPr>
        <p:spPr>
          <a:xfrm>
            <a:off x="457200" y="1848648"/>
            <a:ext cx="7239000" cy="4846320"/>
          </a:xfrm>
        </p:spPr>
        <p:txBody>
          <a:bodyPr>
            <a:normAutofit/>
          </a:bodyPr>
          <a:lstStyle/>
          <a:p>
            <a:r>
              <a:rPr lang="en-IN" sz="2000" dirty="0" smtClean="0">
                <a:latin typeface="Times New Roman" pitchFamily="18" charset="0"/>
                <a:cs typeface="Times New Roman" pitchFamily="18" charset="0"/>
              </a:rPr>
              <a:t>CREATE or REPLACE TRIGGER emp_sal_aftr_upd_stmt_level_trig</a:t>
            </a:r>
          </a:p>
          <a:p>
            <a:pPr>
              <a:buNone/>
            </a:pPr>
            <a:r>
              <a:rPr lang="en-IN" sz="2000" dirty="0" smtClean="0">
                <a:latin typeface="Times New Roman" pitchFamily="18" charset="0"/>
                <a:cs typeface="Times New Roman" pitchFamily="18" charset="0"/>
              </a:rPr>
              <a:t>    AFTER UPDATE ON emp</a:t>
            </a:r>
          </a:p>
          <a:p>
            <a:pPr>
              <a:buNone/>
            </a:pPr>
            <a:r>
              <a:rPr lang="en-IN" sz="2000" dirty="0" smtClean="0">
                <a:latin typeface="Times New Roman" pitchFamily="18" charset="0"/>
                <a:cs typeface="Times New Roman" pitchFamily="18" charset="0"/>
              </a:rPr>
              <a:t>    BEGIN</a:t>
            </a:r>
          </a:p>
          <a:p>
            <a:pPr>
              <a:buNone/>
            </a:pPr>
            <a:r>
              <a:rPr lang="en-IN" sz="2000" dirty="0" smtClean="0">
                <a:latin typeface="Times New Roman" pitchFamily="18" charset="0"/>
                <a:cs typeface="Times New Roman" pitchFamily="18" charset="0"/>
              </a:rPr>
              <a:t>    DBMS_OUTPUT.PUT_LINE('Updating employees ');</a:t>
            </a:r>
          </a:p>
          <a:p>
            <a:pPr>
              <a:buNone/>
            </a:pPr>
            <a:r>
              <a:rPr lang="en-IN" sz="2000" dirty="0" smtClean="0">
                <a:latin typeface="Times New Roman" pitchFamily="18" charset="0"/>
                <a:cs typeface="Times New Roman" pitchFamily="18" charset="0"/>
              </a:rPr>
              <a:t>    INSERT INTO test values('Stmt level After update - Updating employees ');</a:t>
            </a:r>
          </a:p>
          <a:p>
            <a:pPr>
              <a:buNone/>
            </a:pPr>
            <a:r>
              <a:rPr lang="en-IN" sz="2000" dirty="0" smtClean="0">
                <a:latin typeface="Times New Roman" pitchFamily="18" charset="0"/>
                <a:cs typeface="Times New Roman" pitchFamily="18" charset="0"/>
              </a:rPr>
              <a:t>    END;</a:t>
            </a:r>
          </a:p>
          <a:p>
            <a:pPr>
              <a:buNone/>
            </a:pPr>
            <a:r>
              <a:rPr lang="en-IN" sz="2000" dirty="0" smtClean="0">
                <a:latin typeface="Times New Roman" pitchFamily="18" charset="0"/>
                <a:cs typeface="Times New Roman" pitchFamily="18" charset="0"/>
              </a:rPr>
              <a:t>     /</a:t>
            </a:r>
          </a:p>
          <a:p>
            <a:pPr>
              <a:buNone/>
            </a:pPr>
            <a:r>
              <a:rPr lang="en-IN" sz="2000" dirty="0">
                <a:latin typeface="Times New Roman" pitchFamily="18" charset="0"/>
                <a:cs typeface="Times New Roman" pitchFamily="18" charset="0"/>
              </a:rPr>
              <a:t>update statement is executed, at the statement level.</a:t>
            </a:r>
          </a:p>
          <a:p>
            <a:pPr>
              <a:buNone/>
            </a:pPr>
            <a:endParaRPr lang="en-IN" sz="2000"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AFTER UPDATE, ROW LEVEL:</a:t>
            </a:r>
            <a:endParaRPr lang="en-IN" dirty="0"/>
          </a:p>
        </p:txBody>
      </p:sp>
      <p:sp>
        <p:nvSpPr>
          <p:cNvPr id="3" name="Content Placeholder 2"/>
          <p:cNvSpPr>
            <a:spLocks noGrp="1"/>
          </p:cNvSpPr>
          <p:nvPr>
            <p:ph idx="1"/>
          </p:nvPr>
        </p:nvSpPr>
        <p:spPr/>
        <p:txBody>
          <a:bodyPr>
            <a:normAutofit/>
          </a:bodyPr>
          <a:lstStyle/>
          <a:p>
            <a:r>
              <a:rPr lang="en-IN" sz="2400" b="1" dirty="0" smtClean="0">
                <a:latin typeface="Times New Roman" pitchFamily="18" charset="0"/>
                <a:cs typeface="Times New Roman" pitchFamily="18" charset="0"/>
              </a:rPr>
              <a:t>This trigger will insert a record into the table ‘product_check’ after each row is updated.</a:t>
            </a:r>
          </a:p>
          <a:p>
            <a:endParaRPr lang="en-IN" sz="2400" b="1" dirty="0" smtClean="0">
              <a:latin typeface="Times New Roman" pitchFamily="18" charset="0"/>
              <a:cs typeface="Times New Roman" pitchFamily="18" charset="0"/>
            </a:endParaRPr>
          </a:p>
          <a:p>
            <a:r>
              <a:rPr lang="en-IN" sz="2400" dirty="0" smtClean="0">
                <a:latin typeface="Times New Roman" pitchFamily="18" charset="0"/>
                <a:cs typeface="Times New Roman" pitchFamily="18" charset="0"/>
              </a:rPr>
              <a:t>CREATE OR REPLACE TRIGGER emp_sal_aftr_upd_row_level_trig</a:t>
            </a:r>
          </a:p>
          <a:p>
            <a:pPr>
              <a:buNone/>
            </a:pPr>
            <a:r>
              <a:rPr lang="en-IN" sz="2400" dirty="0" smtClean="0">
                <a:latin typeface="Times New Roman" pitchFamily="18" charset="0"/>
                <a:cs typeface="Times New Roman" pitchFamily="18" charset="0"/>
              </a:rPr>
              <a:t>    AFTER UPDATE ON emp</a:t>
            </a:r>
          </a:p>
          <a:p>
            <a:pPr>
              <a:buNone/>
            </a:pPr>
            <a:r>
              <a:rPr lang="en-IN" sz="2400" dirty="0" smtClean="0">
                <a:latin typeface="Times New Roman" pitchFamily="18" charset="0"/>
                <a:cs typeface="Times New Roman" pitchFamily="18" charset="0"/>
              </a:rPr>
              <a:t>    FOR EACH ROW</a:t>
            </a:r>
          </a:p>
          <a:p>
            <a:pPr>
              <a:buNone/>
            </a:pPr>
            <a:r>
              <a:rPr lang="en-IN" sz="2400" dirty="0" smtClean="0">
                <a:latin typeface="Times New Roman" pitchFamily="18" charset="0"/>
                <a:cs typeface="Times New Roman" pitchFamily="18" charset="0"/>
              </a:rPr>
              <a:t>    DECLARE</a:t>
            </a:r>
          </a:p>
          <a:p>
            <a:pPr>
              <a:buNone/>
            </a:pPr>
            <a:r>
              <a:rPr lang="en-IN" sz="2400" dirty="0" smtClean="0">
                <a:latin typeface="Times New Roman" pitchFamily="18" charset="0"/>
                <a:cs typeface="Times New Roman" pitchFamily="18" charset="0"/>
              </a:rPr>
              <a:t>    sal_diff NUMBER;</a:t>
            </a:r>
          </a:p>
          <a:p>
            <a:endParaRPr lang="en-IN" sz="2400" dirty="0" smtClean="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r>
              <a:rPr lang="en-IN" dirty="0" smtClean="0">
                <a:latin typeface="Times New Roman" pitchFamily="18" charset="0"/>
                <a:cs typeface="Times New Roman" pitchFamily="18" charset="0"/>
              </a:rPr>
              <a:t>BEGIN</a:t>
            </a:r>
          </a:p>
          <a:p>
            <a:pPr>
              <a:buNone/>
            </a:pPr>
            <a:r>
              <a:rPr lang="en-IN" dirty="0" smtClean="0">
                <a:latin typeface="Times New Roman" pitchFamily="18" charset="0"/>
                <a:cs typeface="Times New Roman" pitchFamily="18" charset="0"/>
              </a:rPr>
              <a:t>sal_diff := :NEW.sal - :OLD.sal;</a:t>
            </a:r>
          </a:p>
          <a:p>
            <a:pPr>
              <a:buNone/>
            </a:pPr>
            <a:r>
              <a:rPr lang="en-IN" dirty="0" smtClean="0">
                <a:latin typeface="Times New Roman" pitchFamily="18" charset="0"/>
                <a:cs typeface="Times New Roman" pitchFamily="18" charset="0"/>
              </a:rPr>
              <a:t>DBMS_OUTPUT.PUT_LINE('Updating employee ' || :OLD.empno);</a:t>
            </a:r>
          </a:p>
          <a:p>
            <a:pPr>
              <a:buNone/>
            </a:pPr>
            <a:r>
              <a:rPr lang="en-IN" dirty="0" smtClean="0">
                <a:latin typeface="Times New Roman" pitchFamily="18" charset="0"/>
                <a:cs typeface="Times New Roman" pitchFamily="18" charset="0"/>
              </a:rPr>
              <a:t>DBMS_OUTPUT.PUT_LINE('..Old salary: ' || :OLD.sal);</a:t>
            </a:r>
          </a:p>
          <a:p>
            <a:pPr>
              <a:buNone/>
            </a:pPr>
            <a:r>
              <a:rPr lang="en-IN" dirty="0" smtClean="0">
                <a:latin typeface="Times New Roman" pitchFamily="18" charset="0"/>
                <a:cs typeface="Times New Roman" pitchFamily="18" charset="0"/>
              </a:rPr>
              <a:t>DBMS_OUTPUT.PUT_LINE('..New salary: ' || :NEW.sal);</a:t>
            </a:r>
          </a:p>
          <a:p>
            <a:pPr>
              <a:buNone/>
            </a:pPr>
            <a:r>
              <a:rPr lang="en-IN" dirty="0" smtClean="0">
                <a:latin typeface="Times New Roman" pitchFamily="18" charset="0"/>
                <a:cs typeface="Times New Roman" pitchFamily="18" charset="0"/>
              </a:rPr>
              <a:t>DBMS_OUTPUT.PUT_LINE('..Raise : ' || sal_diff);</a:t>
            </a:r>
          </a:p>
          <a:p>
            <a:pPr>
              <a:buNone/>
            </a:pPr>
            <a:r>
              <a:rPr lang="en-IN" dirty="0" smtClean="0">
                <a:latin typeface="Times New Roman" pitchFamily="18" charset="0"/>
                <a:cs typeface="Times New Roman" pitchFamily="18" charset="0"/>
              </a:rPr>
              <a:t>INSERT INTO test values('Row level after update - Updating employee ' || :OLD.empno);</a:t>
            </a:r>
          </a:p>
          <a:p>
            <a:pPr>
              <a:buNone/>
            </a:pPr>
            <a:r>
              <a:rPr lang="en-IN" dirty="0" smtClean="0">
                <a:latin typeface="Times New Roman" pitchFamily="18" charset="0"/>
                <a:cs typeface="Times New Roman" pitchFamily="18" charset="0"/>
              </a:rPr>
              <a:t>END;</a:t>
            </a:r>
          </a:p>
          <a:p>
            <a:pPr>
              <a:buNone/>
            </a:pPr>
            <a:r>
              <a:rPr lang="en-IN" dirty="0" smtClean="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63880"/>
            <a:ext cx="7239000" cy="3322320"/>
          </a:xfrm>
        </p:spPr>
        <p:txBody>
          <a:bodyPr/>
          <a:lstStyle/>
          <a:p>
            <a:pPr>
              <a:buNone/>
            </a:pPr>
            <a:r>
              <a:rPr lang="en-IN" dirty="0" smtClean="0"/>
              <a:t>Now lets execute a update statement on table emp.</a:t>
            </a:r>
          </a:p>
          <a:p>
            <a:r>
              <a:rPr lang="en-IN" dirty="0" smtClean="0"/>
              <a:t>UPDATE emp SET sal = 2000 </a:t>
            </a:r>
          </a:p>
          <a:p>
            <a:pPr>
              <a:buNone/>
            </a:pPr>
            <a:r>
              <a:rPr lang="en-IN" dirty="0" smtClean="0"/>
              <a:t>    WHERE deptno = 10;</a:t>
            </a:r>
          </a:p>
          <a:p>
            <a:endParaRPr lang="en-IN" dirty="0" smtClean="0"/>
          </a:p>
          <a:p>
            <a:pPr>
              <a:buNone/>
            </a:pPr>
            <a:r>
              <a:rPr lang="en-IN" dirty="0" smtClean="0"/>
              <a:t>Let’s check the data in test table to see the order in which the trigger is fired.</a:t>
            </a:r>
          </a:p>
          <a:p>
            <a:r>
              <a:rPr lang="en-IN" dirty="0" smtClean="0"/>
              <a:t>SELECT * FROM test;</a:t>
            </a:r>
          </a:p>
          <a:p>
            <a:endParaRPr lang="en-IN" dirty="0"/>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5"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pic>
        <p:nvPicPr>
          <p:cNvPr id="1027" name="Picture 3" descr="D:\ORACLE\PLSQL TRAINING\snaps\images (3).jpg"/>
          <p:cNvPicPr>
            <a:picLocks noChangeAspect="1" noChangeArrowheads="1"/>
          </p:cNvPicPr>
          <p:nvPr/>
        </p:nvPicPr>
        <p:blipFill>
          <a:blip r:embed="rId3"/>
          <a:srcRect/>
          <a:stretch>
            <a:fillRect/>
          </a:stretch>
        </p:blipFill>
        <p:spPr bwMode="auto">
          <a:xfrm>
            <a:off x="4191000" y="4343400"/>
            <a:ext cx="2533650" cy="1800225"/>
          </a:xfrm>
          <a:prstGeom prst="rect">
            <a:avLst/>
          </a:prstGeom>
          <a:noFill/>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 xmlns:a14="http://schemas.microsoft.com/office/drawing/2010/main" val="0"/>
              </a:ext>
            </a:extLst>
          </a:blip>
          <a:stretch>
            <a:fillRect/>
          </a:stretch>
        </p:blipFill>
        <p:spPr>
          <a:xfrm>
            <a:off x="0" y="0"/>
            <a:ext cx="9144000" cy="6858000"/>
          </a:xfrm>
        </p:spPr>
      </p:pic>
    </p:spTree>
    <p:extLst>
      <p:ext uri="{BB962C8B-B14F-4D97-AF65-F5344CB8AC3E}">
        <p14:creationId xmlns="" xmlns:p14="http://schemas.microsoft.com/office/powerpoint/2010/main" val="15048634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33400"/>
            <a:ext cx="6629400" cy="884238"/>
          </a:xfrm>
        </p:spPr>
        <p:txBody>
          <a:bodyPr/>
          <a:lstStyle/>
          <a:p>
            <a:r>
              <a:rPr lang="en-IN" sz="800" dirty="0" smtClean="0"/>
              <a:t>.</a:t>
            </a:r>
            <a:endParaRPr lang="en-IN" sz="800" dirty="0"/>
          </a:p>
        </p:txBody>
      </p:sp>
      <p:sp>
        <p:nvSpPr>
          <p:cNvPr id="3" name="Content Placeholder 2"/>
          <p:cNvSpPr>
            <a:spLocks noGrp="1"/>
          </p:cNvSpPr>
          <p:nvPr>
            <p:ph idx="1"/>
          </p:nvPr>
        </p:nvSpPr>
        <p:spPr/>
        <p: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                        THANKS &amp; REGARDS</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                       </a:t>
            </a:r>
            <a:r>
              <a:rPr lang="en-IN" dirty="0" smtClean="0">
                <a:solidFill>
                  <a:schemeClr val="bg2">
                    <a:lumMod val="50000"/>
                  </a:schemeClr>
                </a:solidFill>
                <a:latin typeface="Times New Roman" pitchFamily="18" charset="0"/>
                <a:cs typeface="Times New Roman" pitchFamily="18" charset="0"/>
              </a:rPr>
              <a:t>SRIKANTH KESHAVENA</a:t>
            </a:r>
            <a:endParaRPr lang="en-IN" dirty="0">
              <a:solidFill>
                <a:schemeClr val="bg2">
                  <a:lumMod val="50000"/>
                </a:schemeClr>
              </a:solidFill>
              <a:latin typeface="Times New Roman" pitchFamily="18" charset="0"/>
              <a:cs typeface="Times New Roman" pitchFamily="18" charset="0"/>
            </a:endParaRPr>
          </a:p>
        </p:txBody>
      </p:sp>
      <p:pic>
        <p:nvPicPr>
          <p:cNvPr id="4" name="Content Placeholder 10" descr="image001.png"/>
          <p:cNvPicPr>
            <a:picLocks noChangeAspect="1"/>
          </p:cNvPicPr>
          <p:nvPr/>
        </p:nvPicPr>
        <p:blipFill>
          <a:blip r:embed="rId2" cstate="print"/>
          <a:srcRect/>
          <a:stretch>
            <a:fillRect/>
          </a:stretch>
        </p:blipFill>
        <p:spPr bwMode="auto">
          <a:xfrm>
            <a:off x="7381875" y="61994"/>
            <a:ext cx="1762125" cy="647700"/>
          </a:xfrm>
          <a:prstGeom prst="rect">
            <a:avLst/>
          </a:prstGeom>
          <a:noFill/>
          <a:ln w="9525">
            <a:noFill/>
            <a:miter lim="800000"/>
            <a:headEnd/>
            <a:tailEnd/>
          </a:ln>
        </p:spPr>
      </p:pic>
      <p:sp>
        <p:nvSpPr>
          <p:cNvPr id="6" name="Content Placeholder 2"/>
          <p:cNvSpPr txBox="1">
            <a:spLocks/>
          </p:cNvSpPr>
          <p:nvPr/>
        </p:nvSpPr>
        <p:spPr>
          <a:xfrm>
            <a:off x="4343400" y="6446358"/>
            <a:ext cx="4343400" cy="447984"/>
          </a:xfrm>
          <a:prstGeom prst="rect">
            <a:avLst/>
          </a:prstGeom>
        </p:spPr>
        <p:txBody>
          <a:bodyPr vert="horz">
            <a:normAutofit/>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buFont typeface="Wingdings 2"/>
              <a:buNone/>
            </a:pPr>
            <a:r>
              <a:rPr lang="en-US" sz="1800" dirty="0" smtClean="0">
                <a:solidFill>
                  <a:schemeClr val="bg1">
                    <a:lumMod val="85000"/>
                  </a:schemeClr>
                </a:solidFill>
              </a:rPr>
              <a:t>www.provendwconsultant.com</a:t>
            </a:r>
            <a:endParaRPr lang="en-US" sz="1800" dirty="0">
              <a:solidFill>
                <a:schemeClr val="bg1">
                  <a:lumMod val="8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1669</TotalTime>
  <Words>4797</Words>
  <Application>Microsoft Office PowerPoint</Application>
  <PresentationFormat>On-screen Show (4:3)</PresentationFormat>
  <Paragraphs>1112</Paragraphs>
  <Slides>136</Slides>
  <Notes>7</Notes>
  <HiddenSlides>0</HiddenSlides>
  <MMClips>0</MMClips>
  <ScaleCrop>false</ScaleCrop>
  <HeadingPairs>
    <vt:vector size="4" baseType="variant">
      <vt:variant>
        <vt:lpstr>Theme</vt:lpstr>
      </vt:variant>
      <vt:variant>
        <vt:i4>1</vt:i4>
      </vt:variant>
      <vt:variant>
        <vt:lpstr>Slide Titles</vt:lpstr>
      </vt:variant>
      <vt:variant>
        <vt:i4>136</vt:i4>
      </vt:variant>
    </vt:vector>
  </HeadingPairs>
  <TitlesOfParts>
    <vt:vector size="137" baseType="lpstr">
      <vt:lpstr>Opulent</vt:lpstr>
      <vt:lpstr>Slide 1</vt:lpstr>
      <vt:lpstr>Slide 2</vt:lpstr>
      <vt:lpstr>AGENDA</vt:lpstr>
      <vt:lpstr>AGENDA</vt:lpstr>
      <vt:lpstr>INTRODUNTION OF PL/SQL</vt:lpstr>
      <vt:lpstr>Slide 6</vt:lpstr>
      <vt:lpstr>ANONYMOUS BLOCKS:</vt:lpstr>
      <vt:lpstr>BASIC PROGRAM</vt:lpstr>
      <vt:lpstr>ADVANTAGES OF PL/SQL</vt:lpstr>
      <vt:lpstr>Tight Integration with SQL:</vt:lpstr>
      <vt:lpstr>Better Performance:</vt:lpstr>
      <vt:lpstr>Full Portability:</vt:lpstr>
      <vt:lpstr>Tight Security:</vt:lpstr>
      <vt:lpstr>Slide 14</vt:lpstr>
      <vt:lpstr>PL/SQL  DATA TYPES</vt:lpstr>
      <vt:lpstr>Slide 16</vt:lpstr>
      <vt:lpstr>REFERENCE DATA TYPE</vt:lpstr>
      <vt:lpstr>Slide 18</vt:lpstr>
      <vt:lpstr>EXAMPLE:</vt:lpstr>
      <vt:lpstr>Slide 20</vt:lpstr>
      <vt:lpstr>Slide 21</vt:lpstr>
      <vt:lpstr>CONSTANT VARIABLE</vt:lpstr>
      <vt:lpstr>EXAMPLE:</vt:lpstr>
      <vt:lpstr>CONDITIONAL STATEMENTS</vt:lpstr>
      <vt:lpstr>IF STATEMENT:</vt:lpstr>
      <vt:lpstr>Slide 26</vt:lpstr>
      <vt:lpstr>IF-ELSE:</vt:lpstr>
      <vt:lpstr>Slide 28</vt:lpstr>
      <vt:lpstr>NESTED IF:</vt:lpstr>
      <vt:lpstr>Example:</vt:lpstr>
      <vt:lpstr>Slide 31</vt:lpstr>
      <vt:lpstr>ELSIF:</vt:lpstr>
      <vt:lpstr>Slide 33</vt:lpstr>
      <vt:lpstr>Slide 34</vt:lpstr>
      <vt:lpstr>CASE Statement:</vt:lpstr>
      <vt:lpstr>Slide 36</vt:lpstr>
      <vt:lpstr>Slide 37</vt:lpstr>
      <vt:lpstr>Slide 38</vt:lpstr>
      <vt:lpstr>Simple loop:</vt:lpstr>
      <vt:lpstr>Standard steps to be followed while using simple loop:  1) Initialize a variable before the loop begins. 2) Increment the variable in the loop. 3) EXIT WHEN statement is used to exit from the Loop.</vt:lpstr>
      <vt:lpstr>Example:</vt:lpstr>
      <vt:lpstr>While loop statement:</vt:lpstr>
      <vt:lpstr>Example:</vt:lpstr>
      <vt:lpstr> For loop:</vt:lpstr>
      <vt:lpstr>Example: </vt:lpstr>
      <vt:lpstr>GOTO and LABELS:</vt:lpstr>
      <vt:lpstr>Example:   </vt:lpstr>
      <vt:lpstr>Restrictions for using GOTO:</vt:lpstr>
      <vt:lpstr>Restrictions for using GOTO:</vt:lpstr>
      <vt:lpstr>Example:</vt:lpstr>
      <vt:lpstr>QUESTIONS:</vt:lpstr>
      <vt:lpstr>Slide 52</vt:lpstr>
      <vt:lpstr>CURSOR</vt:lpstr>
      <vt:lpstr>IMPLICIT CURSOR</vt:lpstr>
      <vt:lpstr>IMPLICIT CURSOR</vt:lpstr>
      <vt:lpstr>EXAMPLE:</vt:lpstr>
      <vt:lpstr>Slide 57</vt:lpstr>
      <vt:lpstr>EXPLICIT CURSOR</vt:lpstr>
      <vt:lpstr>EXPLICIT CURSOR</vt:lpstr>
      <vt:lpstr>EXAMPLE:</vt:lpstr>
      <vt:lpstr>Slide 61</vt:lpstr>
      <vt:lpstr>Slide 62</vt:lpstr>
      <vt:lpstr>Record type:</vt:lpstr>
      <vt:lpstr>Slide 64</vt:lpstr>
      <vt:lpstr>Slide 65</vt:lpstr>
      <vt:lpstr>USING GENERAL SYNTAX:</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QUESTIONS:</vt:lpstr>
      <vt:lpstr>Slide 80</vt:lpstr>
      <vt:lpstr>procedure</vt:lpstr>
      <vt:lpstr>WHAT IS PROCEDURE?</vt:lpstr>
      <vt:lpstr>Slide 83</vt:lpstr>
      <vt:lpstr>CREATING PROCEDURE:</vt:lpstr>
      <vt:lpstr>EXECUTING PROCEDURE:</vt:lpstr>
      <vt:lpstr>Slide 86</vt:lpstr>
      <vt:lpstr>function</vt:lpstr>
      <vt:lpstr>WHAT IS FUNCTION?</vt:lpstr>
      <vt:lpstr>Slide 89</vt:lpstr>
      <vt:lpstr>Slide 90</vt:lpstr>
      <vt:lpstr>package</vt:lpstr>
      <vt:lpstr>WHAT IS PACKAGE?</vt:lpstr>
      <vt:lpstr>IMAGINARY DIAGRAM:</vt:lpstr>
      <vt:lpstr>Slide 94</vt:lpstr>
      <vt:lpstr>Slide 95</vt:lpstr>
      <vt:lpstr>PACKAGE PARTS:</vt:lpstr>
      <vt:lpstr>PACKAGE BODY:</vt:lpstr>
      <vt:lpstr>QUESTIONS:</vt:lpstr>
      <vt:lpstr>Slide 99</vt:lpstr>
      <vt:lpstr>What is a collection?</vt:lpstr>
      <vt:lpstr>PL/SQL table</vt:lpstr>
      <vt:lpstr>Nested Tables</vt:lpstr>
      <vt:lpstr>PL/SQL tables Vs Nested tables</vt:lpstr>
      <vt:lpstr>Variable Arrays</vt:lpstr>
      <vt:lpstr>PL/SQL Table Example</vt:lpstr>
      <vt:lpstr>Nested Table</vt:lpstr>
      <vt:lpstr>Collection Methods</vt:lpstr>
      <vt:lpstr>Slide 108</vt:lpstr>
      <vt:lpstr>Slide 109</vt:lpstr>
      <vt:lpstr>Example</vt:lpstr>
      <vt:lpstr>VARRAY</vt:lpstr>
      <vt:lpstr>TRIGGERS</vt:lpstr>
      <vt:lpstr>Introduction</vt:lpstr>
      <vt:lpstr>Slide 114</vt:lpstr>
      <vt:lpstr> Triggering event</vt:lpstr>
      <vt:lpstr>Trigger Restriction: –</vt:lpstr>
      <vt:lpstr>Trigger types:-</vt:lpstr>
      <vt:lpstr>Trigger body: –  A set of PL/SQL statements.</vt:lpstr>
      <vt:lpstr>NEW and OLD  (pseudo columns) :</vt:lpstr>
      <vt:lpstr>Slide 120</vt:lpstr>
      <vt:lpstr>ROW LEVEL TRIGGER</vt:lpstr>
      <vt:lpstr>Example:-</vt:lpstr>
      <vt:lpstr>Slide 123</vt:lpstr>
      <vt:lpstr>STATEMENT LEVEL TRIGGER</vt:lpstr>
      <vt:lpstr>Example:- </vt:lpstr>
      <vt:lpstr>Slide 126</vt:lpstr>
      <vt:lpstr>Trigger Execution Hierarchy</vt:lpstr>
      <vt:lpstr>Before statement level</vt:lpstr>
      <vt:lpstr> BEFORE UPDATE, ROW LEVEL:</vt:lpstr>
      <vt:lpstr>Slide 130</vt:lpstr>
      <vt:lpstr>AFTER UPDATE, STATEMENT LEVEL:</vt:lpstr>
      <vt:lpstr>AFTER UPDATE, ROW LEVEL:</vt:lpstr>
      <vt:lpstr>Slide 133</vt:lpstr>
      <vt:lpstr>Slide 134</vt:lpstr>
      <vt:lpstr>Slide 135</vt:lpstr>
      <vt:lpst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PL/SQL</dc:title>
  <dc:creator>srikanth</dc:creator>
  <cp:lastModifiedBy>SYSTEM1</cp:lastModifiedBy>
  <cp:revision>130</cp:revision>
  <dcterms:created xsi:type="dcterms:W3CDTF">2006-08-16T00:00:00Z</dcterms:created>
  <dcterms:modified xsi:type="dcterms:W3CDTF">2017-06-05T17:21:02Z</dcterms:modified>
</cp:coreProperties>
</file>